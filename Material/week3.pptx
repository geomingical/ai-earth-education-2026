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開場：如果你開始覺得每個字都認識、合起來看不懂，那通常代表你真的進入一個新領域了。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分鐘：鷹架 15 分、Function Calling 20 分、格式 15 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章節頁。學習初期最麻煩的不是概念難，而是專有名詞會彼此牽連。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原本只是想知道 Agent 是什麼，最後像誤闖一場縮寫聯誼會，每個人都只肯用英文名字自我介紹。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每個字都是中文，讀完卻只剩下「好，這是一種協議」。問題不是定義錯，是腦中沒有地圖。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鷹架不是房子本身，但工人可以站在上面工作；建築穩固後就能拆掉。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掃把不會突然發現窗戶很髒然後自己去找玻璃清潔劑。Chat Mode 的主導權還在你身上。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這不是考試答案，是一張暫時的配置圖。重點是名詞不再各自漂浮在空中。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這一半是「拿什麼做、記什麼、誰把關」。Guardrails 與 Human-in-the-loop 是後面章節的重點。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第一次看很像工程師在施放組合技。放回大掃除的框架就通了。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每張名詞卡的順序是刻意的：一句話說明 → 類比 → 正式定義 → 相關名詞。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一直忘記才是正常的。同一個名詞在不同階段看起來會不一樣——那是解析度在增加，不是原本沒學會。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好的類比幫我們進門；壞的類比在門口蓋一間假房子，讓我們以為已經理解整棟建築。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 1 分鐘。專家看到那些縮寫，腦中浮現的是一張系統圖；初學者看到的是五個要單獨背的英文縮寫。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章節頁。先說結論：一般使用者不需要自己寫 Function，但要知道 AI 究竟做了什麼。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模型可以生成一句「信件已寄出」，但句子寫得再像物流通知，也不代表信真的離開寄件匣。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少了「應用程式執行」，Function Calling 只是一張字跡工整、但始終沒有人處理的工單。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OpenAI 叫 Function Calling／Tool Calling，Anthropic 叫 Tool Use，格式不同但概念接近。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產品沒有連天氣工具，你再怎麼說「請務必呼叫行事曆 Function」，模型也不會憑空長出一個帳號。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這些句子不是在寫 Function，是在告訴 AI：資料從哪來、做到哪一步、哪裡要停下來等人決定。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「畫面沒有 JSON」不代表沒有工具；模型說「我已經處理好了」也不能單獨證明工具真的執行成功。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補充頁：學生最常把 Function Calling 與 MCP 混在一起。一個是模型怎麼提出請求，一個是工具怎麼被接上來。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看到「刪掉」兩個字就立刻展現超乎預期的工作熱情——「你確定是這 347 個檔案嗎？」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 1 分鐘。使用者不必進廚房看每張工單，但要知道端上桌的菜究竟煮過，還是只有一份讀起來很香的菜單。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章節頁。格式選擇的重點不是哪個看起來最專業，而是下一位接手的人是誰。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人類聽到「下週二」會自己找日曆。程式不想靠氣氛猜答案，它需要清楚的欄位、數值與邊界。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資訊沒有增加，但「要做什麼」、「不能做什麼」與「長什麼樣子」被分開了。格式不保證照做，但減少它要猜的地方。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結構正確不代表內容正確。JSON 可以確保欄位叫 temperature，卻不能保證那 35 度真的來自天氣 API。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Thariq Shihipar 提到：HTML 可能多花 2–4 倍時間生成、用更多 token，Git diff 也更難 review。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空白在 YAML 裡不是休息，而是有職務的空白；多縮兩格，內容可能被分到另一個部門。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同一份內容可以先在 Markdown 整理，再轉成 HTML 給人看，最後輸出 PDF 交付。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收束：AI 可以替我們寫括號、標籤與縮排，但「這份東西下一步要去哪裡」仍然要人來決定。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566863"/>
            <a:ext cx="163068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85800"/>
            <a:ext cx="30600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LECTURE ·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028700"/>
            <a:ext cx="306008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素養入門 · 公開講座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4196633" y="766763"/>
            <a:ext cx="31007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 LECTURE 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96633" y="1109663"/>
            <a:ext cx="31007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TOOLS × FORMATS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3225626"/>
            <a:ext cx="1216533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286"/>
              </a:lnSpc>
              <a:buNone/>
            </a:pPr>
            <a:r>
              <a:rPr lang="en-US" sz="7500" b="1" spc="-150" kern="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從聽不懂， 到能</a:t>
            </a:r>
            <a:pPr algn="l" indent="0" marL="0">
              <a:lnSpc>
                <a:spcPct val="84286"/>
              </a:lnSpc>
              <a:buNone/>
            </a:pPr>
            <a:r>
              <a:rPr lang="en-US" sz="7500" b="1" spc="-150" kern="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交代清楚</a:t>
            </a:r>
            <a:endParaRPr lang="en-US" sz="7500" dirty="0"/>
          </a:p>
        </p:txBody>
      </p:sp>
      <p:sp>
        <p:nvSpPr>
          <p:cNvPr id="8" name="Text 6"/>
          <p:cNvSpPr/>
          <p:nvPr/>
        </p:nvSpPr>
        <p:spPr>
          <a:xfrm>
            <a:off x="990600" y="5816426"/>
            <a:ext cx="6337745" cy="1592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先替一堆縮寫搭一座鷹架，再看 AI 怎麼真的動手做事，最後決定要用哪一種容器交出去。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90600" y="7885212"/>
            <a:ext cx="6096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0" name="Text 8"/>
          <p:cNvSpPr/>
          <p:nvPr/>
        </p:nvSpPr>
        <p:spPr>
          <a:xfrm>
            <a:off x="1790700" y="7713762"/>
            <a:ext cx="30393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張睿明 ／ AIMing Data</a:t>
            </a:r>
            <a:endParaRPr lang="en-US" sz="2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63650" y="3719512"/>
            <a:ext cx="2857500" cy="309562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4026902" y="7081838"/>
            <a:ext cx="2730996" cy="509587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3" name="Text 10"/>
          <p:cNvSpPr/>
          <p:nvPr/>
        </p:nvSpPr>
        <p:spPr>
          <a:xfrm>
            <a:off x="14274552" y="7215188"/>
            <a:ext cx="2317626" cy="280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CHANG JUI-MING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990600" y="9305925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467850"/>
            <a:ext cx="1474143" cy="2857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065079" y="9520238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97263" y="723900"/>
            <a:ext cx="1176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 MIN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1658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本堂路線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097685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373910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90600" y="5231160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替名詞搭鷹架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90600" y="5936010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用一次大掃除，替 Agent、MCP、RAG 找到位置。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53200" y="4097685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6553200" y="4373910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553200" y="5231160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從會說到會做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53200" y="5936010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Function Calling 怎麼讓模型真的動手用工具。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15800" y="4097685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5" name="Text 13"/>
          <p:cNvSpPr/>
          <p:nvPr/>
        </p:nvSpPr>
        <p:spPr>
          <a:xfrm>
            <a:off x="12115800" y="4373910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2115800" y="5231160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選對容器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115800" y="5936010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Markdown、JSON、HTML 各自適合交給誰。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7208490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47775" y="7208490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今天的名詞很多，但目標不是背下來——是知道它們各自站在哪裡。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80556" y="723900"/>
            <a:ext cx="2218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SCAFFOLDING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2842595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184377" y="4205288"/>
            <a:ext cx="712470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替名詞搭一座鷹架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184377" y="5340623"/>
            <a:ext cx="667131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不先背定義，先替整個領域找一個暫時可用的框架。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322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SCAFFOLDING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FRICTION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248992"/>
            <a:ext cx="17434560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44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每個字單獨看都認識，放在同一句話裡卻完全看不懂。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460528"/>
            <a:ext cx="1450925" cy="657225"/>
          </a:xfrm>
          <a:prstGeom prst="rect">
            <a:avLst/>
          </a:prstGeom>
          <a:ln w="19050">
            <a:solidFill>
              <a:srgbClr val="C9BF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7300" y="4612928"/>
            <a:ext cx="9937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Token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12975" y="4460528"/>
            <a:ext cx="2184946" cy="657225"/>
          </a:xfrm>
          <a:prstGeom prst="rect">
            <a:avLst/>
          </a:prstGeom>
          <a:ln w="19050">
            <a:solidFill>
              <a:srgbClr val="C9BF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9675" y="4612928"/>
            <a:ext cx="17277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Embedding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969371" y="4460528"/>
            <a:ext cx="2551956" cy="657225"/>
          </a:xfrm>
          <a:prstGeom prst="rect">
            <a:avLst/>
          </a:prstGeom>
          <a:ln w="19050">
            <a:solidFill>
              <a:srgbClr val="C9BF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6071" y="4612928"/>
            <a:ext cx="20951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Fine-tuning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692777" y="4460528"/>
            <a:ext cx="3469481" cy="657225"/>
          </a:xfrm>
          <a:prstGeom prst="rect">
            <a:avLst/>
          </a:prstGeom>
          <a:ln w="19050">
            <a:solidFill>
              <a:srgbClr val="C9BF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9477" y="4612928"/>
            <a:ext cx="30401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Chain-of-Thought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333708" y="4460528"/>
            <a:ext cx="1083915" cy="657225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00408" y="4612928"/>
            <a:ext cx="6267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API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2589073" y="4460528"/>
            <a:ext cx="1083915" cy="657225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55773" y="4612928"/>
            <a:ext cx="6267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SDK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3844439" y="4460528"/>
            <a:ext cx="1045815" cy="65722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9" name="Text 17"/>
          <p:cNvSpPr/>
          <p:nvPr/>
        </p:nvSpPr>
        <p:spPr>
          <a:xfrm>
            <a:off x="14092089" y="4593878"/>
            <a:ext cx="62671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RAG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5061704" y="4460528"/>
            <a:ext cx="1045815" cy="65722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1" name="Text 19"/>
          <p:cNvSpPr/>
          <p:nvPr/>
        </p:nvSpPr>
        <p:spPr>
          <a:xfrm>
            <a:off x="15309354" y="4593878"/>
            <a:ext cx="62671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MCP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90600" y="5289203"/>
            <a:ext cx="2880866" cy="61912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3" name="Text 21"/>
          <p:cNvSpPr/>
          <p:nvPr/>
        </p:nvSpPr>
        <p:spPr>
          <a:xfrm>
            <a:off x="1238250" y="5422553"/>
            <a:ext cx="24719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Orchestration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90600" y="6327428"/>
            <a:ext cx="119298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你查一個不懂的詞，解釋裡又冒出三個新詞。原本只是想知道 Agent 是什麼，最後卻像誤闖一場縮寫聯誼會——而且每個人都只肯用英文名字自我介紹。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6" name="Text 24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322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SCAFFOLDING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 PLACE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129358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難的不是翻譯，是這個詞沒有位置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272358"/>
            <a:ext cx="16306800" cy="221359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596208"/>
            <a:ext cx="170992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MCP · MODEL CONTEXT PROTOCOL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71600" y="4034358"/>
            <a:ext cx="17099280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一種讓 AI 應用以標準方式連接外部工具、資料來源與服務的協議。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71600" y="4704904"/>
            <a:ext cx="1601114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讀完之後腦中只剩下：好，這是一種……協議。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90600" y="5866954"/>
            <a:ext cx="119298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像第一次走進大型五金行：每件東西都有名字，但你不知道哪一區是水電、哪一區是木工，也不知道手上的問題需要螺絲起子還是老虎鉗。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90600" y="7253734"/>
            <a:ext cx="79248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7491859"/>
            <a:ext cx="871728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它屬於哪一區？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90600" y="8039546"/>
            <a:ext cx="87172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模型、推理、工具、記憶、評估，還是安全？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372600" y="7253734"/>
            <a:ext cx="79248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7491859"/>
            <a:ext cx="871728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它在流程裡做什麼？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372600" y="8039546"/>
            <a:ext cx="87172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先有位置，再補精確定義。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322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SCAFFOLDING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ANALOGY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780854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類比不是答案，而是一座臨時鷹架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961954"/>
            <a:ext cx="5181600" cy="153828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4266754"/>
            <a:ext cx="49872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Token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14450" y="4685854"/>
            <a:ext cx="498729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樂高積木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53200" y="3961954"/>
            <a:ext cx="5181600" cy="153828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0" name="Text 8"/>
          <p:cNvSpPr/>
          <p:nvPr/>
        </p:nvSpPr>
        <p:spPr>
          <a:xfrm>
            <a:off x="6877050" y="4266754"/>
            <a:ext cx="49872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Token ID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877050" y="4685854"/>
            <a:ext cx="498729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置物櫃號碼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12115800" y="3961954"/>
            <a:ext cx="5181600" cy="153828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3" name="Text 11"/>
          <p:cNvSpPr/>
          <p:nvPr/>
        </p:nvSpPr>
        <p:spPr>
          <a:xfrm>
            <a:off x="12439650" y="4266754"/>
            <a:ext cx="49872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Chain-of-Thought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39650" y="4685854"/>
            <a:ext cx="498729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計算紙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90600" y="5919341"/>
            <a:ext cx="119298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這些說法都不完整，但能先讓腦中出現一個可操作的畫面。等理解加深，再把「MCP 像萬用接頭」換回正式定義。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0600" y="7344221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47775" y="7344221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類比不是要取代定義，而是讓我們有機會走到定義面前，而不是在半路就關掉網頁。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322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SCAFFOLDING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097199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THREE LEVELS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792760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一次大掃除，三種幫手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973860"/>
            <a:ext cx="5181600" cy="2857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250085"/>
            <a:ext cx="569976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傳統程式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4721572"/>
            <a:ext cx="5699760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一支掃把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90600" y="5459760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你推一下，它動一下。規則清楚、結果可預期，但不會自己判斷下一步。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53200" y="3973860"/>
            <a:ext cx="5181600" cy="2857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1" name="Text 9"/>
          <p:cNvSpPr/>
          <p:nvPr/>
        </p:nvSpPr>
        <p:spPr>
          <a:xfrm>
            <a:off x="6553200" y="4250085"/>
            <a:ext cx="56997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Chat Mode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53200" y="4669185"/>
            <a:ext cx="5699760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一位聰明助手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553200" y="5407372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很會整理與草擬，但主導權在你身上，要持續給方向。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15800" y="3973860"/>
            <a:ext cx="51816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115800" y="4250085"/>
            <a:ext cx="56997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Agentic AI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115800" y="4669185"/>
            <a:ext cx="5699760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一支清潔團隊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2115800" y="5407372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你交付的是最終目標，它自己判斷狀況、拆解任務、使用工具、檢查結果。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6732240"/>
            <a:ext cx="16306800" cy="10572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9" name="Text 17"/>
          <p:cNvSpPr/>
          <p:nvPr/>
        </p:nvSpPr>
        <p:spPr>
          <a:xfrm>
            <a:off x="1333500" y="7017990"/>
            <a:ext cx="1611020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「明天下午有人來家裡，請把客廳整理到可以招待客人的程度。」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322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SCAFFOLDING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006191" y="723900"/>
            <a:ext cx="252033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GLOSSARY 1／2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109788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把名詞放回大掃除的現場：誰在做事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3514725"/>
            <a:ext cx="4011513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081338"/>
            <a:ext cx="413185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名詞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383113" y="3514725"/>
            <a:ext cx="5515942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9" name="Text 7"/>
          <p:cNvSpPr/>
          <p:nvPr/>
        </p:nvSpPr>
        <p:spPr>
          <a:xfrm>
            <a:off x="5383113" y="3081338"/>
            <a:ext cx="568142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大掃除類比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280056" y="3514725"/>
            <a:ext cx="6017344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11280056" y="3081338"/>
            <a:ext cx="619786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在系統中的角色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90600" y="4238625"/>
            <a:ext cx="4011513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3686175"/>
            <a:ext cx="41318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LLM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5383113" y="4238625"/>
            <a:ext cx="5515942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5383113" y="3686175"/>
            <a:ext cx="56814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受過訓練的大腦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280056" y="4238625"/>
            <a:ext cx="6017344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11280056" y="3686175"/>
            <a:ext cx="61978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理解指令、生成文字、判斷下一步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4953000"/>
            <a:ext cx="4011513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4400550"/>
            <a:ext cx="41318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5383113" y="4953000"/>
            <a:ext cx="5515942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5383113" y="4400550"/>
            <a:ext cx="56814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被分派任務的清潔專家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1280056" y="4953000"/>
            <a:ext cx="6017344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3" name="Text 21"/>
          <p:cNvSpPr/>
          <p:nvPr/>
        </p:nvSpPr>
        <p:spPr>
          <a:xfrm>
            <a:off x="11280056" y="4400550"/>
            <a:ext cx="61978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根據目標採取行動並回報結果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90600" y="5667375"/>
            <a:ext cx="4011513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5114925"/>
            <a:ext cx="41318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Manager Agent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5383113" y="5667375"/>
            <a:ext cx="5515942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7" name="Text 25"/>
          <p:cNvSpPr/>
          <p:nvPr/>
        </p:nvSpPr>
        <p:spPr>
          <a:xfrm>
            <a:off x="5383113" y="5114925"/>
            <a:ext cx="56814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清潔領班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280056" y="5667375"/>
            <a:ext cx="6017344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9" name="Text 27"/>
          <p:cNvSpPr/>
          <p:nvPr/>
        </p:nvSpPr>
        <p:spPr>
          <a:xfrm>
            <a:off x="11280056" y="5114925"/>
            <a:ext cx="61978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拆解任務、分派工作、整合結果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90600" y="6381750"/>
            <a:ext cx="4011513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1" name="Text 29"/>
          <p:cNvSpPr/>
          <p:nvPr/>
        </p:nvSpPr>
        <p:spPr>
          <a:xfrm>
            <a:off x="990600" y="5829300"/>
            <a:ext cx="41318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Goal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5383113" y="6381750"/>
            <a:ext cx="5515942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3" name="Text 31"/>
          <p:cNvSpPr/>
          <p:nvPr/>
        </p:nvSpPr>
        <p:spPr>
          <a:xfrm>
            <a:off x="5383113" y="5829300"/>
            <a:ext cx="56814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整理到能招待客人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1280056" y="6381750"/>
            <a:ext cx="6017344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5" name="Text 33"/>
          <p:cNvSpPr/>
          <p:nvPr/>
        </p:nvSpPr>
        <p:spPr>
          <a:xfrm>
            <a:off x="11280056" y="5829300"/>
            <a:ext cx="61978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系統最後要達成的結果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990600" y="7096125"/>
            <a:ext cx="4011513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7" name="Text 35"/>
          <p:cNvSpPr/>
          <p:nvPr/>
        </p:nvSpPr>
        <p:spPr>
          <a:xfrm>
            <a:off x="990600" y="6543675"/>
            <a:ext cx="41318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Planning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5383113" y="7096125"/>
            <a:ext cx="5515942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9" name="Text 37"/>
          <p:cNvSpPr/>
          <p:nvPr/>
        </p:nvSpPr>
        <p:spPr>
          <a:xfrm>
            <a:off x="5383113" y="6543675"/>
            <a:ext cx="56814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先擦桌面還是先吸地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11280056" y="7096125"/>
            <a:ext cx="6017344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41" name="Text 39"/>
          <p:cNvSpPr/>
          <p:nvPr/>
        </p:nvSpPr>
        <p:spPr>
          <a:xfrm>
            <a:off x="11280056" y="6543675"/>
            <a:ext cx="61978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安排完成目標所需的步驟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990600" y="7810500"/>
            <a:ext cx="4011513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43" name="Text 41"/>
          <p:cNvSpPr/>
          <p:nvPr/>
        </p:nvSpPr>
        <p:spPr>
          <a:xfrm>
            <a:off x="990600" y="7258050"/>
            <a:ext cx="41318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Task Decomposition</a:t>
            </a:r>
            <a:endParaRPr lang="en-US" sz="2250" dirty="0"/>
          </a:p>
        </p:txBody>
      </p:sp>
      <p:sp>
        <p:nvSpPr>
          <p:cNvPr id="44" name="Shape 42"/>
          <p:cNvSpPr/>
          <p:nvPr/>
        </p:nvSpPr>
        <p:spPr>
          <a:xfrm>
            <a:off x="5383113" y="7810500"/>
            <a:ext cx="5515942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45" name="Text 43"/>
          <p:cNvSpPr/>
          <p:nvPr/>
        </p:nvSpPr>
        <p:spPr>
          <a:xfrm>
            <a:off x="5383113" y="7258050"/>
            <a:ext cx="56814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拆成丟垃圾、擦窗、拖地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11280056" y="7810500"/>
            <a:ext cx="6017344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47" name="Text 45"/>
          <p:cNvSpPr/>
          <p:nvPr/>
        </p:nvSpPr>
        <p:spPr>
          <a:xfrm>
            <a:off x="11280056" y="7258050"/>
            <a:ext cx="61978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把大任務切成可執行的小任務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990600" y="7972425"/>
            <a:ext cx="41318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Workflow</a:t>
            </a:r>
            <a:endParaRPr lang="en-US" sz="2250" dirty="0"/>
          </a:p>
        </p:txBody>
      </p:sp>
      <p:sp>
        <p:nvSpPr>
          <p:cNvPr id="49" name="Text 47"/>
          <p:cNvSpPr/>
          <p:nvPr/>
        </p:nvSpPr>
        <p:spPr>
          <a:xfrm>
            <a:off x="5383113" y="7972425"/>
            <a:ext cx="56814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一張大掃除流程表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11280056" y="7972425"/>
            <a:ext cx="61978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定義順序、判斷與交接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52" name="Text 50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322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SCAFFOLDING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006191" y="723900"/>
            <a:ext cx="252033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GLOSSARY 2／2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828800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拿什麼做、記什麼、誰把關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3233738"/>
            <a:ext cx="4371975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800350"/>
            <a:ext cx="450313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名詞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43575" y="3233738"/>
            <a:ext cx="5343525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9" name="Text 7"/>
          <p:cNvSpPr/>
          <p:nvPr/>
        </p:nvSpPr>
        <p:spPr>
          <a:xfrm>
            <a:off x="5743575" y="2800350"/>
            <a:ext cx="550383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大掃除類比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68100" y="3233738"/>
            <a:ext cx="58293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11468100" y="2800350"/>
            <a:ext cx="600417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在系統中的角色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90600" y="3938588"/>
            <a:ext cx="437197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3395663"/>
            <a:ext cx="450313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Tool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5743575" y="3938588"/>
            <a:ext cx="534352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5743575" y="3395663"/>
            <a:ext cx="550383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掃把、吸塵器、梯子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468100" y="3938588"/>
            <a:ext cx="58293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11468100" y="3395663"/>
            <a:ext cx="600417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讓 AI 能操作外部功能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4633913"/>
            <a:ext cx="437197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4090987"/>
            <a:ext cx="450313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Function Calling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5743575" y="4633913"/>
            <a:ext cx="534352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5743575" y="4090987"/>
            <a:ext cx="550383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領班填工單叫師傅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1468100" y="4633913"/>
            <a:ext cx="58293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3" name="Text 21"/>
          <p:cNvSpPr/>
          <p:nvPr/>
        </p:nvSpPr>
        <p:spPr>
          <a:xfrm>
            <a:off x="11468100" y="4090987"/>
            <a:ext cx="600417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用結構化資料要求程式執行功能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90600" y="5329238"/>
            <a:ext cx="437197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4786313"/>
            <a:ext cx="450313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MCP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5743575" y="5329238"/>
            <a:ext cx="534352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7" name="Text 25"/>
          <p:cNvSpPr/>
          <p:nvPr/>
        </p:nvSpPr>
        <p:spPr>
          <a:xfrm>
            <a:off x="5743575" y="4786313"/>
            <a:ext cx="550383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可連不同設備的標準接頭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468100" y="5329238"/>
            <a:ext cx="58293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9" name="Text 27"/>
          <p:cNvSpPr/>
          <p:nvPr/>
        </p:nvSpPr>
        <p:spPr>
          <a:xfrm>
            <a:off x="11468100" y="4786313"/>
            <a:ext cx="600417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用一致方式連接工具與資料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90600" y="6024563"/>
            <a:ext cx="437197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1" name="Text 29"/>
          <p:cNvSpPr/>
          <p:nvPr/>
        </p:nvSpPr>
        <p:spPr>
          <a:xfrm>
            <a:off x="990600" y="5481638"/>
            <a:ext cx="450313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5743575" y="6024563"/>
            <a:ext cx="534352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3" name="Text 31"/>
          <p:cNvSpPr/>
          <p:nvPr/>
        </p:nvSpPr>
        <p:spPr>
          <a:xfrm>
            <a:off x="5743575" y="5481638"/>
            <a:ext cx="550383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翻閱清潔手冊與維修紀錄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1468100" y="6024563"/>
            <a:ext cx="58293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5" name="Text 33"/>
          <p:cNvSpPr/>
          <p:nvPr/>
        </p:nvSpPr>
        <p:spPr>
          <a:xfrm>
            <a:off x="11468100" y="5481638"/>
            <a:ext cx="600417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先找外部資料，再據以回答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990600" y="6719888"/>
            <a:ext cx="437197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7" name="Text 35"/>
          <p:cNvSpPr/>
          <p:nvPr/>
        </p:nvSpPr>
        <p:spPr>
          <a:xfrm>
            <a:off x="990600" y="6176963"/>
            <a:ext cx="450313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Context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5743575" y="6719888"/>
            <a:ext cx="534352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9" name="Text 37"/>
          <p:cNvSpPr/>
          <p:nvPr/>
        </p:nvSpPr>
        <p:spPr>
          <a:xfrm>
            <a:off x="5743575" y="6176963"/>
            <a:ext cx="550383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攤在工作桌上的資訊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11468100" y="6719888"/>
            <a:ext cx="58293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41" name="Text 39"/>
          <p:cNvSpPr/>
          <p:nvPr/>
        </p:nvSpPr>
        <p:spPr>
          <a:xfrm>
            <a:off x="11468100" y="6176963"/>
            <a:ext cx="600417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模型這一輪可以參考的內容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990600" y="7415213"/>
            <a:ext cx="437197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43" name="Text 41"/>
          <p:cNvSpPr/>
          <p:nvPr/>
        </p:nvSpPr>
        <p:spPr>
          <a:xfrm>
            <a:off x="990600" y="6872288"/>
            <a:ext cx="450313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Memory</a:t>
            </a:r>
            <a:endParaRPr lang="en-US" sz="2250" dirty="0"/>
          </a:p>
        </p:txBody>
      </p:sp>
      <p:sp>
        <p:nvSpPr>
          <p:cNvPr id="44" name="Shape 42"/>
          <p:cNvSpPr/>
          <p:nvPr/>
        </p:nvSpPr>
        <p:spPr>
          <a:xfrm>
            <a:off x="5743575" y="7415213"/>
            <a:ext cx="534352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45" name="Text 43"/>
          <p:cNvSpPr/>
          <p:nvPr/>
        </p:nvSpPr>
        <p:spPr>
          <a:xfrm>
            <a:off x="5743575" y="6872288"/>
            <a:ext cx="550383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工作紀錄與屋主偏好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11468100" y="7415213"/>
            <a:ext cx="58293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47" name="Text 45"/>
          <p:cNvSpPr/>
          <p:nvPr/>
        </p:nvSpPr>
        <p:spPr>
          <a:xfrm>
            <a:off x="11468100" y="6872288"/>
            <a:ext cx="600417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保存之後可能再用到的資訊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990600" y="8110537"/>
            <a:ext cx="437197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49" name="Text 47"/>
          <p:cNvSpPr/>
          <p:nvPr/>
        </p:nvSpPr>
        <p:spPr>
          <a:xfrm>
            <a:off x="990600" y="7567612"/>
            <a:ext cx="450313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Guardrails</a:t>
            </a:r>
            <a:endParaRPr lang="en-US" sz="2250" dirty="0"/>
          </a:p>
        </p:txBody>
      </p:sp>
      <p:sp>
        <p:nvSpPr>
          <p:cNvPr id="50" name="Shape 48"/>
          <p:cNvSpPr/>
          <p:nvPr/>
        </p:nvSpPr>
        <p:spPr>
          <a:xfrm>
            <a:off x="5743575" y="8110537"/>
            <a:ext cx="534352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51" name="Text 49"/>
          <p:cNvSpPr/>
          <p:nvPr/>
        </p:nvSpPr>
        <p:spPr>
          <a:xfrm>
            <a:off x="5743575" y="7567612"/>
            <a:ext cx="550383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禁區與安全守則</a:t>
            </a:r>
            <a:endParaRPr lang="en-US" sz="2100" dirty="0"/>
          </a:p>
        </p:txBody>
      </p:sp>
      <p:sp>
        <p:nvSpPr>
          <p:cNvPr id="52" name="Shape 50"/>
          <p:cNvSpPr/>
          <p:nvPr/>
        </p:nvSpPr>
        <p:spPr>
          <a:xfrm>
            <a:off x="11468100" y="8110537"/>
            <a:ext cx="58293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53" name="Text 51"/>
          <p:cNvSpPr/>
          <p:nvPr/>
        </p:nvSpPr>
        <p:spPr>
          <a:xfrm>
            <a:off x="11468100" y="7567612"/>
            <a:ext cx="600417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限制系統不能做什麼</a:t>
            </a:r>
            <a:endParaRPr lang="en-US" sz="2100" dirty="0"/>
          </a:p>
        </p:txBody>
      </p:sp>
      <p:sp>
        <p:nvSpPr>
          <p:cNvPr id="54" name="Text 52"/>
          <p:cNvSpPr/>
          <p:nvPr/>
        </p:nvSpPr>
        <p:spPr>
          <a:xfrm>
            <a:off x="990600" y="8262938"/>
            <a:ext cx="450313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Human-in-the-loop</a:t>
            </a:r>
            <a:endParaRPr lang="en-US" sz="2250" dirty="0"/>
          </a:p>
        </p:txBody>
      </p:sp>
      <p:sp>
        <p:nvSpPr>
          <p:cNvPr id="55" name="Text 53"/>
          <p:cNvSpPr/>
          <p:nvPr/>
        </p:nvSpPr>
        <p:spPr>
          <a:xfrm>
            <a:off x="5743575" y="8262938"/>
            <a:ext cx="550383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碰到保險箱請屋主決定</a:t>
            </a:r>
            <a:endParaRPr lang="en-US" sz="2100" dirty="0"/>
          </a:p>
        </p:txBody>
      </p:sp>
      <p:sp>
        <p:nvSpPr>
          <p:cNvPr id="56" name="Text 54"/>
          <p:cNvSpPr/>
          <p:nvPr/>
        </p:nvSpPr>
        <p:spPr>
          <a:xfrm>
            <a:off x="11468100" y="8262938"/>
            <a:ext cx="600417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關鍵節點交回人類確認</a:t>
            </a:r>
            <a:endParaRPr lang="en-US" sz="2100" dirty="0"/>
          </a:p>
        </p:txBody>
      </p:sp>
      <p:sp>
        <p:nvSpPr>
          <p:cNvPr id="57" name="Shape 5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58" name="Text 5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322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SCAFFOLDING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TRANSLATE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215604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一句組合技，先翻回生活語言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3225254"/>
            <a:ext cx="16306800" cy="1584871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530054"/>
            <a:ext cx="16110204" cy="101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78"/>
              </a:lnSpc>
              <a:buNone/>
            </a:pPr>
            <a:r>
              <a:rPr lang="en-US" sz="240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Manager Agent 會根據 Goal 進行 Task Decomposition，再透過 MCP 呼叫 Tools，使用 RAG 取得資料，最後由 Human-in-the-loop 進行確認。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5260" y="5153025"/>
            <a:ext cx="1793748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990600" y="5981700"/>
            <a:ext cx="16306800" cy="1584871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6286500"/>
            <a:ext cx="16110204" cy="101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78"/>
              </a:lnSpc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領班先理解屋主要什麼，把大掃除拆成幾項工作，再透過標準接頭叫用需要的設備，翻閱手冊與過去的清潔紀錄，最後把高風險的決定交回屋主確認。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90600" y="7909471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47775" y="7909471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看懂之後再換回正式名詞——同一句話就從密碼變成一個可以想像的工作流程。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322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SCAFFOLDING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SIX ZONES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645122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名詞本的六個區域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788122"/>
            <a:ext cx="51816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997672"/>
            <a:ext cx="56997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4359622"/>
            <a:ext cx="569976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基礎設施與開發層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90600" y="4907310"/>
            <a:ext cx="569976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模型、Agent、API、框架與系統編排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553200" y="3788122"/>
            <a:ext cx="51816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6553200" y="3997672"/>
            <a:ext cx="56997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53200" y="4359622"/>
            <a:ext cx="569976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思考、推理與規劃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553200" y="4907310"/>
            <a:ext cx="569976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目標、拆解、推理、反思與自主性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115800" y="3788122"/>
            <a:ext cx="51816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5" name="Text 13"/>
          <p:cNvSpPr/>
          <p:nvPr/>
        </p:nvSpPr>
        <p:spPr>
          <a:xfrm>
            <a:off x="12115800" y="3997672"/>
            <a:ext cx="56997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115800" y="4359622"/>
            <a:ext cx="569976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工具、技能與資源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115800" y="4907310"/>
            <a:ext cx="569976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Tool Use、RAG、知識庫與外部連接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90600" y="5595938"/>
            <a:ext cx="51816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5805488"/>
            <a:ext cx="56997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0600" y="6167438"/>
            <a:ext cx="569976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記憶與上下文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90600" y="6715125"/>
            <a:ext cx="569976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Context Window、短期／長期記憶與狀態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6553200" y="5595938"/>
            <a:ext cx="51816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23" name="Text 21"/>
          <p:cNvSpPr/>
          <p:nvPr/>
        </p:nvSpPr>
        <p:spPr>
          <a:xfrm>
            <a:off x="6553200" y="5805488"/>
            <a:ext cx="56997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53200" y="6167438"/>
            <a:ext cx="569976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效能、評估與異常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6553200" y="6715125"/>
            <a:ext cx="569976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成本、延遲、評估、幻覺與可觀測性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115800" y="5595938"/>
            <a:ext cx="51816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27" name="Text 25"/>
          <p:cNvSpPr/>
          <p:nvPr/>
        </p:nvSpPr>
        <p:spPr>
          <a:xfrm>
            <a:off x="12115800" y="5805488"/>
            <a:ext cx="56997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115800" y="6167438"/>
            <a:ext cx="569976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安全、防護與治理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2115800" y="6715125"/>
            <a:ext cx="569976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權限、護欄、提示注入、隱私與稽核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90600" y="7479953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31" name="Text 29"/>
          <p:cNvSpPr/>
          <p:nvPr/>
        </p:nvSpPr>
        <p:spPr>
          <a:xfrm>
            <a:off x="1247775" y="7479953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每張卡的順序是刻意的：一句話說明 → 大掃除類比 → 正式定義 → 相關名詞。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3" name="Text 3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322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SCAFFOLDING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563975" y="723900"/>
            <a:ext cx="8096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02297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遇到陌生詞，跑這個循環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645372"/>
            <a:ext cx="790575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135785"/>
            <a:ext cx="3744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79352" y="4045297"/>
            <a:ext cx="3143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先不要急著背完整定義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91650" y="4645372"/>
            <a:ext cx="790575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0" name="Text 8"/>
          <p:cNvSpPr/>
          <p:nvPr/>
        </p:nvSpPr>
        <p:spPr>
          <a:xfrm>
            <a:off x="9391650" y="4135785"/>
            <a:ext cx="3744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80402" y="4045297"/>
            <a:ext cx="40862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找到它的位置：屬於哪一區？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90600" y="5464522"/>
            <a:ext cx="790575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954935"/>
            <a:ext cx="3744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79352" y="4864447"/>
            <a:ext cx="44005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讀生活類比，先讓腦中出現畫面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91650" y="5464522"/>
            <a:ext cx="790575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6" name="Text 14"/>
          <p:cNvSpPr/>
          <p:nvPr/>
        </p:nvSpPr>
        <p:spPr>
          <a:xfrm>
            <a:off x="9391650" y="4954935"/>
            <a:ext cx="3744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880402" y="4864447"/>
            <a:ext cx="502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回到正式定義，確認類比省略了什麼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90600" y="6283672"/>
            <a:ext cx="790575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5774085"/>
            <a:ext cx="3744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479352" y="5683597"/>
            <a:ext cx="502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連接相關名詞，看它和前後怎麼合作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391650" y="6283672"/>
            <a:ext cx="790575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2" name="Text 20"/>
          <p:cNvSpPr/>
          <p:nvPr/>
        </p:nvSpPr>
        <p:spPr>
          <a:xfrm>
            <a:off x="9391650" y="5774085"/>
            <a:ext cx="3744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880402" y="5683597"/>
            <a:ext cx="40862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實際用過之後，再回來看一次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90600" y="6674197"/>
            <a:ext cx="119298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同一個名詞在不同階段看起來會不太一樣。這不是原本沒學會，而是理解正在增加解析度。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6" name="Text 24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322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SCAFFOLDING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547131" y="723900"/>
            <a:ext cx="30252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WHERE IT BREAKS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223120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類比也會騙人，要知道它從哪裡失效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328020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518520"/>
            <a:ext cx="8696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像清潔專家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90600" y="3994770"/>
            <a:ext cx="869632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但它沒有人的生活經驗與責任感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91650" y="3328020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0" name="Text 8"/>
          <p:cNvSpPr/>
          <p:nvPr/>
        </p:nvSpPr>
        <p:spPr>
          <a:xfrm>
            <a:off x="9391650" y="3518520"/>
            <a:ext cx="8696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Memory 像記憶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391650" y="3994770"/>
            <a:ext cx="869632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但它可能只是資料庫裡的一筆紀錄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90600" y="4617690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808190"/>
            <a:ext cx="8696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 像查手冊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90600" y="5284440"/>
            <a:ext cx="869632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但檢索可能找錯文件，模型也可能讀錯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391650" y="4617690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6" name="Text 14"/>
          <p:cNvSpPr/>
          <p:nvPr/>
        </p:nvSpPr>
        <p:spPr>
          <a:xfrm>
            <a:off x="9391650" y="4808190"/>
            <a:ext cx="8696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MCP 像萬用接頭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391650" y="5284440"/>
            <a:ext cx="869632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但它不是一條實體電線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5907360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6097860"/>
            <a:ext cx="8696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CoT 像計算紙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90600" y="6574110"/>
            <a:ext cx="869632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但可見的文字不一定反映內部計算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90600" y="7330380"/>
            <a:ext cx="1130198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每個類比後面都要接著問：它和真正的技術概念，哪裡相似？又從哪裡開始不一樣？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322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SCAFFOLDING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13843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PAUSE &amp; THINK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015630"/>
            <a:ext cx="17434560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44"/>
              </a:lnSpc>
              <a:buNone/>
            </a:pPr>
            <a:r>
              <a:rPr lang="en-US" sz="48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聽不懂一個領域時，問題真的是「我不夠聰明」嗎？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265265"/>
            <a:ext cx="7886700" cy="2857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522440"/>
            <a:ext cx="86753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專家看到的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90600" y="5189190"/>
            <a:ext cx="812330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RAG、MCP、Agent、Context、Guardrails 是一張彼此連接的系統圖。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410700" y="4265265"/>
            <a:ext cx="7886700" cy="2857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0" name="Text 8"/>
          <p:cNvSpPr/>
          <p:nvPr/>
        </p:nvSpPr>
        <p:spPr>
          <a:xfrm>
            <a:off x="9410700" y="4522440"/>
            <a:ext cx="86753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初學者看到的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410700" y="5189190"/>
            <a:ext cx="812330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五個需要單獨背誦的英文縮寫。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90600" y="6560790"/>
            <a:ext cx="11301984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學習的其中一個任務，就是慢慢把孤立的名詞接成一張網。先觀察自己卡在哪裡，再替學習設計一個走得下去的方法。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80619" y="723900"/>
            <a:ext cx="9929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3193755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503613" y="4205288"/>
            <a:ext cx="712470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從會說到會做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503613" y="5340623"/>
            <a:ext cx="667131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Function Calling：領班填好工單，請真正會操作工具的人來處理。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TOOLS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563975" y="723900"/>
            <a:ext cx="8096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442716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不是每個問題都需要工具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623816"/>
            <a:ext cx="7886700" cy="30908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52550" y="3947666"/>
            <a:ext cx="787908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Context 裡已經有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52550" y="4447729"/>
            <a:ext cx="7377684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改寫一段文章 摘要已貼進對話的內容 解釋一個概念 把資料整理成表格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410700" y="3623816"/>
            <a:ext cx="7886700" cy="3090863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0" name="Text 8"/>
          <p:cNvSpPr/>
          <p:nvPr/>
        </p:nvSpPr>
        <p:spPr>
          <a:xfrm>
            <a:off x="9772650" y="3947666"/>
            <a:ext cx="787908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需要外部資料或行動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772650" y="4447729"/>
            <a:ext cx="7377684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查現在的天氣或最新新聞 讀取行事曆與雲端檔案 查公司資料庫裡的訂單 寄出 Email、建立會議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90600" y="7133779"/>
            <a:ext cx="119298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模型可以生成一句「信件已寄出」，但句子寫得再像物流通知，也不代表信真的離開寄件匣。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TOOLS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FIG. 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090863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它不是讓模型突然長出雙手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310063"/>
            <a:ext cx="3002235" cy="1295400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200" y="4576763"/>
            <a:ext cx="27995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19200" y="4938713"/>
            <a:ext cx="279953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使用者提出需求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3954735" y="4310063"/>
            <a:ext cx="40005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316685" y="4310063"/>
            <a:ext cx="3002310" cy="1295400"/>
          </a:xfrm>
          <a:prstGeom prst="rect">
            <a:avLst/>
          </a:prstGeom>
          <a:solidFill>
            <a:srgbClr val="C4442B"/>
          </a:solidFill>
          <a:ln w="19050">
            <a:solidFill>
              <a:srgbClr val="C444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5285" y="4576763"/>
            <a:ext cx="27996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D9C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45285" y="4938713"/>
            <a:ext cx="27996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模型選工具與參數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280895" y="4310063"/>
            <a:ext cx="40005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7642845" y="4310063"/>
            <a:ext cx="3002235" cy="1295400"/>
          </a:xfrm>
          <a:prstGeom prst="rect">
            <a:avLst/>
          </a:prstGeom>
          <a:solidFill>
            <a:srgbClr val="14151A"/>
          </a:solidFill>
          <a:ln w="19050">
            <a:solidFill>
              <a:srgbClr val="1415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71445" y="4576763"/>
            <a:ext cx="27995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71445" y="4938713"/>
            <a:ext cx="279953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應用程式執行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606980" y="4310063"/>
            <a:ext cx="40005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10968930" y="4310063"/>
            <a:ext cx="3002310" cy="1295400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97530" y="4576763"/>
            <a:ext cx="27996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197530" y="4938713"/>
            <a:ext cx="27996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工具回傳結果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933140" y="4310063"/>
            <a:ext cx="40005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14295090" y="4310063"/>
            <a:ext cx="3002310" cy="1295400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523690" y="4576763"/>
            <a:ext cx="27996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523690" y="4938713"/>
            <a:ext cx="27996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模型整理回答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90600" y="6062663"/>
            <a:ext cx="1282446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模型只是提出工具名稱和參數；真正執行操作的，通常是外部應用程式。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990600" y="7034213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7" name="Text 25"/>
          <p:cNvSpPr/>
          <p:nvPr/>
        </p:nvSpPr>
        <p:spPr>
          <a:xfrm>
            <a:off x="1247775" y="7034213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少了第三步，Function Calling 只是一張字跡工整、但始終沒有人處理的工單。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9" name="Text 2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TOOLS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EXAMPLE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749897"/>
            <a:ext cx="867537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一張工單長什麼樣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3664297"/>
            <a:ext cx="7886700" cy="95250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3911947"/>
            <a:ext cx="755180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「今天台北適合帶傘嗎？」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90600" y="4864447"/>
            <a:ext cx="867537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90600" y="5550247"/>
            <a:ext cx="7886700" cy="228213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5816947"/>
            <a:ext cx="7513701" cy="17868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14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endParaRPr lang="en-US" sz="2025" dirty="0"/>
          </a:p>
          <a:p>
            <a:pPr algn="l" indent="0" marL="0">
              <a:lnSpc>
                <a:spcPct val="145714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"name": "get_weather",</a:t>
            </a:r>
            <a:endParaRPr lang="en-US" sz="2025" dirty="0"/>
          </a:p>
          <a:p>
            <a:pPr algn="l" indent="0" marL="0">
              <a:lnSpc>
                <a:spcPct val="145714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"arguments": { "location": "Taipei" }</a:t>
            </a:r>
            <a:endParaRPr lang="en-US" sz="2025" dirty="0"/>
          </a:p>
          <a:p>
            <a:pPr algn="l" indent="0" marL="0">
              <a:lnSpc>
                <a:spcPct val="145714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9410700" y="3217143"/>
            <a:ext cx="867537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應用程式執行後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10700" y="3783881"/>
            <a:ext cx="7886700" cy="95250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3" name="Text 11"/>
          <p:cNvSpPr/>
          <p:nvPr/>
        </p:nvSpPr>
        <p:spPr>
          <a:xfrm>
            <a:off x="9696450" y="4031531"/>
            <a:ext cx="755180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台北今天降雨機率約 80%，建議帶傘。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410700" y="4984031"/>
            <a:ext cx="8123301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不同平台名稱略有差異：OpenAI 常稱 Function Calling 或 Tool Calling，Anthropic 常稱 Tool Use。訊息格式不同，核心概念接近。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410700" y="6511751"/>
            <a:ext cx="28575" cy="85338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6" name="Text 14"/>
          <p:cNvSpPr/>
          <p:nvPr/>
        </p:nvSpPr>
        <p:spPr>
          <a:xfrm>
            <a:off x="9648825" y="6511751"/>
            <a:ext cx="7885176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先讓模型知道有哪些工具，再由模型提出請求，外部系統執行後把結果交回模型。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TOOLS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097199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THREE LAYERS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614613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工具能不能用，由三層決定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795713"/>
            <a:ext cx="16306800" cy="9715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4107656"/>
            <a:ext cx="18859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第一層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295650" y="4043363"/>
            <a:ext cx="29337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產品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229350" y="4074765"/>
            <a:ext cx="99745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決定工具箱裡有什麼、能存取什麼、誰有權限。這是使用者跨不過的硬邊界。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90600" y="4957763"/>
            <a:ext cx="16306800" cy="9715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1" name="Text 9"/>
          <p:cNvSpPr/>
          <p:nvPr/>
        </p:nvSpPr>
        <p:spPr>
          <a:xfrm>
            <a:off x="1314450" y="5269706"/>
            <a:ext cx="18859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第二層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295650" y="5205413"/>
            <a:ext cx="29337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系統設定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229350" y="5236815"/>
            <a:ext cx="968121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開發者決定模型可以自行判斷、必須使用、禁止使用，或只能用指定工具。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90600" y="6119813"/>
            <a:ext cx="16306800" cy="9715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5" name="Text 13"/>
          <p:cNvSpPr/>
          <p:nvPr/>
        </p:nvSpPr>
        <p:spPr>
          <a:xfrm>
            <a:off x="1314450" y="6431756"/>
            <a:ext cx="18859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第三層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3295650" y="6367463"/>
            <a:ext cx="29337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你的指令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229350" y="6398865"/>
            <a:ext cx="968121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在可用範圍內影響這一輪的判斷：資料從哪裡來、做到哪一步、哪裡要停。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7510462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47775" y="7510462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自然語言是方向盤，不是萬能通行證。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TOOLS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463912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HOW TO ASK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468910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四句可以直接用的指令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611910"/>
            <a:ext cx="7943850" cy="142398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878610"/>
            <a:ext cx="80676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「請搜尋今天的官方公告，再回答我。」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95400" y="4450110"/>
            <a:ext cx="806767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指定資料來源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53550" y="3611910"/>
            <a:ext cx="7943850" cy="142398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0" name="Text 8"/>
          <p:cNvSpPr/>
          <p:nvPr/>
        </p:nvSpPr>
        <p:spPr>
          <a:xfrm>
            <a:off x="9658350" y="3878610"/>
            <a:ext cx="80676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「只根據我上傳的檔案回答，不要搜尋網路。」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58350" y="4450110"/>
            <a:ext cx="806767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限制範圍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90600" y="5302597"/>
            <a:ext cx="7943850" cy="142398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569297"/>
            <a:ext cx="80676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「先幫我草擬信件，不要寄出。」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95400" y="6140797"/>
            <a:ext cx="806767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停在哪一步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53550" y="5302597"/>
            <a:ext cx="7943850" cy="142398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6" name="Text 14"/>
          <p:cNvSpPr/>
          <p:nvPr/>
        </p:nvSpPr>
        <p:spPr>
          <a:xfrm>
            <a:off x="9658350" y="5569297"/>
            <a:ext cx="80676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「查完行事曆後列出選項，等我確認再建立會議。」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58350" y="6140797"/>
            <a:ext cx="806767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保留人類確認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0600" y="7107585"/>
            <a:ext cx="119298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你不需要寫 Function，但可以明確講出：資料要從哪裡來、可以做到哪一步、哪裡要停下來等人決定。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TOOLS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80556" y="723900"/>
            <a:ext cx="2218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CHECKPOINTS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312840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一般使用者要看的四件事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493940"/>
            <a:ext cx="38481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751115"/>
            <a:ext cx="423291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來源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90600" y="5417865"/>
            <a:ext cx="423291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它用了什麼資料？有沒有引用？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43500" y="4493940"/>
            <a:ext cx="38481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0" name="Text 8"/>
          <p:cNvSpPr/>
          <p:nvPr/>
        </p:nvSpPr>
        <p:spPr>
          <a:xfrm>
            <a:off x="5143500" y="4751115"/>
            <a:ext cx="423291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143500" y="5417865"/>
            <a:ext cx="423291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要求的授權範圍合理嗎？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96400" y="4493940"/>
            <a:ext cx="38481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3" name="Text 11"/>
          <p:cNvSpPr/>
          <p:nvPr/>
        </p:nvSpPr>
        <p:spPr>
          <a:xfrm>
            <a:off x="9296400" y="4751115"/>
            <a:ext cx="423291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確認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296400" y="5417865"/>
            <a:ext cx="423291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高風險動作有沒有先問過你？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3449300" y="4493940"/>
            <a:ext cx="38481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6" name="Text 14"/>
          <p:cNvSpPr/>
          <p:nvPr/>
        </p:nvSpPr>
        <p:spPr>
          <a:xfrm>
            <a:off x="13449300" y="4751115"/>
            <a:ext cx="423291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結果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449300" y="5417865"/>
            <a:ext cx="423291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能不能在外部系統裡驗證？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90600" y="6263655"/>
            <a:ext cx="119298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「畫面沒有 JSON」不代表沒有工具；模型說「我已經處理好了」，也不能單獨證明工具真的執行成功。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TOOLS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200090" y="723900"/>
            <a:ext cx="11735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常見混淆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884661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那 MCP 又是站在哪一格？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065761"/>
            <a:ext cx="7886700" cy="27622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408661"/>
            <a:ext cx="78371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FUNCTION CALLING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71600" y="4865861"/>
            <a:ext cx="78371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模型怎麼開工單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71600" y="5570711"/>
            <a:ext cx="733844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模型與應用程式之間的對話格式：我要用哪個工具、參數是什麼。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410700" y="4065761"/>
            <a:ext cx="7886700" cy="27622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9791700" y="4408661"/>
            <a:ext cx="78371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MCP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91700" y="4865861"/>
            <a:ext cx="78371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工具怎麼被接上來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791700" y="5570711"/>
            <a:ext cx="733844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應用程式與外部工具、資料來源之間的標準接頭，讓同一個工具能被不同 AI 應用重複使用。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90600" y="7247111"/>
            <a:ext cx="11929872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兩者不是同一層，也不互相取代：填工單的方式，跟插座長什麼樣，是兩件事。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TOOLS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463912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196158"/>
            <a:ext cx="100164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會使用工具，也代表有機會用錯工具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4129608"/>
            <a:ext cx="9379077" cy="101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78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講錯天氣，我們白帶一把傘；但它如果能寄信、付款、刪檔案或改資料庫，錯誤參數就不只是小尷尬。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90600" y="5371579"/>
            <a:ext cx="9105900" cy="201453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638279"/>
            <a:ext cx="934593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「幫我刪掉昨天建立的測試檔案。」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95400" y="6200254"/>
            <a:ext cx="934593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95400" y="6690792"/>
            <a:ext cx="934593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「你確定是這 347 個檔案嗎？」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629900" y="3193256"/>
            <a:ext cx="73342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可靠系統還需要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29900" y="4217194"/>
            <a:ext cx="66675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10629900" y="3702844"/>
            <a:ext cx="68675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驗證工具參數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629900" y="4874419"/>
            <a:ext cx="66675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10629900" y="4360069"/>
            <a:ext cx="68675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檢查使用者權限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629900" y="5531644"/>
            <a:ext cx="66675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10629900" y="5017294"/>
            <a:ext cx="68675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限制工具可存取的資料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629900" y="6188869"/>
            <a:ext cx="66675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10629900" y="5674519"/>
            <a:ext cx="68675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對高風險操作再次確認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629900" y="6846094"/>
            <a:ext cx="66675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10629900" y="6331744"/>
            <a:ext cx="68675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保存操作紀錄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629900" y="6988969"/>
            <a:ext cx="7334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處理逾時、失敗與異常回傳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TOOLS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13843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PAUSE &amp; THINK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294757"/>
            <a:ext cx="16796004" cy="1622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44"/>
              </a:lnSpc>
              <a:buNone/>
            </a:pPr>
            <a:r>
              <a:rPr lang="en-US" sz="48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端上桌的菜，究竟真的煮過，還是模型只寫了一份讀起來很香的菜單？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5336828"/>
            <a:ext cx="12008358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Function Calling 真正改變的不是讓模型突然變成萬能，而是替自然語言與外部系統之間建立一套合作方式。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90600" y="6830318"/>
            <a:ext cx="28575" cy="457200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8" name="Text 6"/>
          <p:cNvSpPr/>
          <p:nvPr/>
        </p:nvSpPr>
        <p:spPr>
          <a:xfrm>
            <a:off x="1247775" y="6830318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可以幫你產生 schema、串接 API、寫程式碼，但權限、驗證、錯誤處理與高風險確認，仍要有人決定。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FORMATS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3175092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486647" y="4205288"/>
            <a:ext cx="875919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選一個不容易誤會的容器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486647" y="5340623"/>
            <a:ext cx="667131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重點不是哪個格式看起來最專業，而是下一位接手的人是誰。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FORMATS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747331" y="723900"/>
            <a:ext cx="6262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514029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為什麼工單長得像這樣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657029"/>
            <a:ext cx="16306800" cy="10191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2923729"/>
            <a:ext cx="1614830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「幫我安排下週二下午兩點，和小明開一小時的會。」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75260" y="4057204"/>
            <a:ext cx="1793748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990600" y="4923979"/>
            <a:ext cx="16306800" cy="2757413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0" name="Text 8"/>
          <p:cNvSpPr/>
          <p:nvPr/>
        </p:nvSpPr>
        <p:spPr>
          <a:xfrm>
            <a:off x="1314450" y="5209729"/>
            <a:ext cx="16148304" cy="22240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14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endParaRPr lang="en-US" sz="2025" dirty="0"/>
          </a:p>
          <a:p>
            <a:pPr algn="l" indent="0" marL="0">
              <a:lnSpc>
                <a:spcPct val="145714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"title": "與小明開會",</a:t>
            </a:r>
            <a:endParaRPr lang="en-US" sz="2025" dirty="0"/>
          </a:p>
          <a:p>
            <a:pPr algn="l" indent="0" marL="0">
              <a:lnSpc>
                <a:spcPct val="145714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"start_time": "2026-08-11T14:00:00+08:00",</a:t>
            </a:r>
            <a:endParaRPr lang="en-US" sz="2025" dirty="0"/>
          </a:p>
          <a:p>
            <a:pPr algn="l" indent="0" marL="0">
              <a:lnSpc>
                <a:spcPct val="145714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"duration_minutes": 60</a:t>
            </a:r>
            <a:endParaRPr lang="en-US" sz="2025" dirty="0"/>
          </a:p>
          <a:p>
            <a:pPr algn="l" indent="0" marL="0">
              <a:lnSpc>
                <a:spcPct val="145714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990600" y="8062392"/>
            <a:ext cx="119298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人類聽到「下週二」，會自己去找日曆。程式通常不想靠氣氛猜答案——它需要清楚的欄位、數值與邊界。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FORMATS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MARKDOWN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294757"/>
            <a:ext cx="8123301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只選一種先學，我會選 Markdown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4856857"/>
            <a:ext cx="7886700" cy="134868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5104507"/>
            <a:ext cx="7551801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幫我整理資料，不要增加內容，使用繁體中文，每一列都要有來源，沒有資料就寫未知，最後用表格輸出。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90600" y="6434138"/>
            <a:ext cx="28575" cy="85338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9" name="Text 7"/>
          <p:cNvSpPr/>
          <p:nvPr/>
        </p:nvSpPr>
        <p:spPr>
          <a:xfrm>
            <a:off x="1228725" y="6434138"/>
            <a:ext cx="7885176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資訊沒有增加，但「要做什麼、不能做什麼、長什麼樣子」被分開了。格式不保證模型照做，卻能減少它要猜的地方。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410700" y="2589609"/>
            <a:ext cx="867537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改成有分區的寫法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10700" y="3137297"/>
            <a:ext cx="7886700" cy="4855369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3403997"/>
            <a:ext cx="7513701" cy="436006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任務</a:t>
            </a:r>
            <a:endParaRPr lang="en-US" sz="1875" dirty="0"/>
          </a:p>
          <a:p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整理提供的資料。</a:t>
            </a:r>
            <a:endParaRPr lang="en-US" sz="1875" dirty="0"/>
          </a:p>
          <a:p>
            <a:pPr algn="l" indent="0" marL="0">
              <a:lnSpc>
                <a:spcPct val="142241"/>
              </a:lnSpc>
              <a:buNone/>
            </a:pPr>
            <a:endParaRPr lang="en-US" sz="1875" dirty="0"/>
          </a:p>
          <a:p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限制</a:t>
            </a:r>
            <a:endParaRPr lang="en-US" sz="1875" dirty="0"/>
          </a:p>
          <a:p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不得增加原文沒有的內容</a:t>
            </a:r>
            <a:endParaRPr lang="en-US" sz="1875" dirty="0"/>
          </a:p>
          <a:p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使用繁體中文</a:t>
            </a:r>
            <a:endParaRPr lang="en-US" sz="1875" dirty="0"/>
          </a:p>
          <a:p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沒有資料時填寫「未知」</a:t>
            </a:r>
            <a:endParaRPr lang="en-US" sz="1875" dirty="0"/>
          </a:p>
          <a:p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每一列保留來源</a:t>
            </a:r>
            <a:endParaRPr lang="en-US" sz="1875" dirty="0"/>
          </a:p>
          <a:p>
            <a:pPr algn="l" indent="0" marL="0">
              <a:lnSpc>
                <a:spcPct val="142241"/>
              </a:lnSpc>
              <a:buNone/>
            </a:pPr>
            <a:endParaRPr lang="en-US" sz="1875" dirty="0"/>
          </a:p>
          <a:p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輸出格式</a:t>
            </a:r>
            <a:endParaRPr lang="en-US" sz="1875" dirty="0"/>
          </a:p>
          <a:p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使用表格。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FORMATS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563975" y="723900"/>
            <a:ext cx="8096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779886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JSON：不一定要手寫，但最好看得懂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922886"/>
            <a:ext cx="5181600" cy="16192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208636"/>
            <a:ext cx="5029200" cy="528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 }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295400" y="4813474"/>
            <a:ext cx="50292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包住一個物件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553200" y="3922886"/>
            <a:ext cx="5181600" cy="16192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4208636"/>
            <a:ext cx="5029200" cy="528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]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858000" y="4813474"/>
            <a:ext cx="50292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表示一串項目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15800" y="3922886"/>
            <a:ext cx="5181600" cy="16192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3" name="Text 11"/>
          <p:cNvSpPr/>
          <p:nvPr/>
        </p:nvSpPr>
        <p:spPr>
          <a:xfrm>
            <a:off x="12420600" y="4208636"/>
            <a:ext cx="5029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"city": "Taipei"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420600" y="4656311"/>
            <a:ext cx="50292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欄位名稱與它的值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90600" y="5923136"/>
            <a:ext cx="11929872" cy="1048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如果 AI 把城市填成 Tokyo，或把「先草擬、不要寄出」轉成 </a:t>
            </a:r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send_email </a:t>
            </a:r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，格式再完美也做錯事情。看得懂欄位和值，至少能在工單送出去前發現它寄錯部門。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0600" y="7314679"/>
            <a:ext cx="28575" cy="48763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47775" y="7314679"/>
            <a:ext cx="17680305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78"/>
              </a:lnSpc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結構正確不代表內容正確。格式解決的是邊界問題，不會自動消滅幻覺。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FORMATS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563975" y="723900"/>
            <a:ext cx="8096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HTML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788444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需要「成品」時，可以請 AI 做 HTML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931444"/>
            <a:ext cx="16306800" cy="99060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4198144"/>
            <a:ext cx="1614830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「把這份研究整理成一個 HTML 報告，加入目錄、並排比較表和可收合的補充說明。」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90600" y="5303044"/>
            <a:ext cx="78867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5560219"/>
            <a:ext cx="867537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為什麼現在值得考慮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90600" y="6041231"/>
            <a:ext cx="812330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有些文件已經改成由 AI 生成、人類只負責閱讀與決策。這時能並排比較、上色、互動的頁面，比很長的 Markdown 好用。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410700" y="5303044"/>
            <a:ext cx="7886700" cy="2857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2" name="Text 10"/>
          <p:cNvSpPr/>
          <p:nvPr/>
        </p:nvSpPr>
        <p:spPr>
          <a:xfrm>
            <a:off x="9410700" y="5560219"/>
            <a:ext cx="867537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代價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410700" y="6041231"/>
            <a:ext cx="812330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可能多花 2–4 倍時間與更多 token；標籤與樣式讓 Git diff 更難 review，分享時還要找地方託管。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90600" y="7336631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47775" y="7336631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結論不是「HTML 取代 Markdown」：要逐行修改與版控的內容用 Markdown，主要用來閱讀展示的成品可以用 HTML。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FORMATS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80418" y="723900"/>
            <a:ext cx="34286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YAML · PDF · DOCX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204270"/>
            <a:ext cx="867537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39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YAML：路過時認得就好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90600" y="4051995"/>
            <a:ext cx="7886700" cy="224403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4299645"/>
            <a:ext cx="7551801" cy="17868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14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model: example-model</a:t>
            </a:r>
            <a:endParaRPr lang="en-US" sz="2025" dirty="0"/>
          </a:p>
          <a:p>
            <a:pPr algn="l" indent="0" marL="0">
              <a:lnSpc>
                <a:spcPct val="145714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temperature: 0.2</a:t>
            </a:r>
            <a:endParaRPr lang="en-US" sz="2025" dirty="0"/>
          </a:p>
          <a:p>
            <a:pPr algn="l" indent="0" marL="0">
              <a:lnSpc>
                <a:spcPct val="145714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tools:</a:t>
            </a:r>
            <a:endParaRPr lang="en-US" sz="2025" dirty="0"/>
          </a:p>
          <a:p>
            <a:pPr algn="l" indent="0" marL="0">
              <a:lnSpc>
                <a:spcPct val="145714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 search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990600" y="6524625"/>
            <a:ext cx="8123301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先知道「它通常是設定」與「縮排就是結構」就好。真的遇到 GitHub Actions 或工具設定，再學那一小段。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410700" y="2894707"/>
            <a:ext cx="8123301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39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PDF／DOCX：可以直接給，但會掉東西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9410700" y="5321647"/>
            <a:ext cx="78867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1" name="Text 9"/>
          <p:cNvSpPr/>
          <p:nvPr/>
        </p:nvSpPr>
        <p:spPr>
          <a:xfrm>
            <a:off x="9410700" y="4361557"/>
            <a:ext cx="8123301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雙欄、頁首頁尾、註腳、跨頁表格或掃描頁，可能需要額外解析或 OCR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410700" y="6030292"/>
            <a:ext cx="78867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410700" y="5483572"/>
            <a:ext cx="8123301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擷取後的文字順序，可能和人類閱讀順序不同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410700" y="6192217"/>
            <a:ext cx="867537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多一道轉換，就多一個可能失去結構、順序或細節的地方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410700" y="6834188"/>
            <a:ext cx="28575" cy="85338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6" name="Text 14"/>
          <p:cNvSpPr/>
          <p:nvPr/>
        </p:nvSpPr>
        <p:spPr>
          <a:xfrm>
            <a:off x="9648825" y="6834188"/>
            <a:ext cx="7885176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清楚的標題樣式、合理的閱讀順序、可搜尋文字與簡單表格，都能讓 AI 比較容易讀懂。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FORMATS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DECISION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926431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先問下一步要做什麼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521869"/>
            <a:ext cx="9245575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069431"/>
            <a:ext cx="952294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下一步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693375" y="3521869"/>
            <a:ext cx="660395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9" name="Text 7"/>
          <p:cNvSpPr/>
          <p:nvPr/>
        </p:nvSpPr>
        <p:spPr>
          <a:xfrm>
            <a:off x="10693375" y="3069431"/>
            <a:ext cx="680206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建議格式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90600" y="4388644"/>
            <a:ext cx="924557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3750469"/>
            <a:ext cx="952294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寫作、修改與版本控制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693375" y="4388644"/>
            <a:ext cx="660395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10693375" y="3750469"/>
            <a:ext cx="680206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Markdown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90600" y="5245894"/>
            <a:ext cx="924557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4607719"/>
            <a:ext cx="952294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交給程式讀固定欄位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693375" y="5245894"/>
            <a:ext cx="660395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10693375" y="4607719"/>
            <a:ext cx="680206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JSON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90600" y="6103144"/>
            <a:ext cx="924557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5464969"/>
            <a:ext cx="952294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視覺呈現與互動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693375" y="6103144"/>
            <a:ext cx="660395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10693375" y="5464969"/>
            <a:ext cx="680206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HTML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90600" y="6960394"/>
            <a:ext cx="924557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6322219"/>
            <a:ext cx="952294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設定工具或自動化流程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0693375" y="6960394"/>
            <a:ext cx="660395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5" name="Text 23"/>
          <p:cNvSpPr/>
          <p:nvPr/>
        </p:nvSpPr>
        <p:spPr>
          <a:xfrm>
            <a:off x="10693375" y="6322219"/>
            <a:ext cx="680206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YAML，遇到再學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90600" y="7179469"/>
            <a:ext cx="952294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正式交付與辦公協作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693375" y="7179469"/>
            <a:ext cx="680206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PDF／DOCX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90600" y="8198644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9" name="Text 27"/>
          <p:cNvSpPr/>
          <p:nvPr/>
        </p:nvSpPr>
        <p:spPr>
          <a:xfrm>
            <a:off x="1247775" y="8198644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格式可以轉換，真正要守住的是內容、來源與使用目的。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1" name="Text 2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463912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224534"/>
            <a:ext cx="94297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39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回家可以問自己的四個問題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90600" y="3677096"/>
            <a:ext cx="85725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110359"/>
            <a:ext cx="88296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0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這份輸出是給人看，還是給程式讀？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990600" y="4424809"/>
            <a:ext cx="85725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858071"/>
            <a:ext cx="88296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0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只是把格式寫對，還是真的把內容做對？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90600" y="5172521"/>
            <a:ext cx="85725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4605784"/>
            <a:ext cx="88296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0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我需要繼續修改、視覺展示，還是正式交付？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990600" y="5353496"/>
            <a:ext cx="94297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0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重要資料在轉換後，有沒有失去來源、順序或欄位？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990600" y="6034534"/>
            <a:ext cx="28575" cy="44194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28725" y="6034534"/>
            <a:ext cx="919162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8"/>
              </a:lnSpc>
              <a:buNone/>
            </a:pPr>
            <a:r>
              <a:rPr lang="en-US" sz="2175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自然語言讓我們表達意圖，格式幫我們固定重要的邊界。</a:t>
            </a:r>
            <a:endParaRPr lang="en-US" sz="2175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6743179"/>
            <a:ext cx="1428750" cy="1547813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0172700" y="2519363"/>
            <a:ext cx="7124700" cy="54768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7" name="Text 14"/>
          <p:cNvSpPr/>
          <p:nvPr/>
        </p:nvSpPr>
        <p:spPr>
          <a:xfrm>
            <a:off x="10496550" y="2805113"/>
            <a:ext cx="7124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496550" y="3205163"/>
            <a:ext cx="667131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Agentic AI Glossary 線上名詞圖鑑 · geomingical.github.io/Agentic_AI_Glossary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10496550" y="4052888"/>
            <a:ext cx="71247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OpenAI. </a:t>
            </a:r>
            <a:pPr algn="l" indent="0" marL="0">
              <a:lnSpc>
                <a:spcPct val="107143"/>
              </a:lnSpc>
              <a:buNone/>
            </a:pPr>
            <a:r>
              <a:rPr lang="en-US" sz="1875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calling </a:t>
            </a:r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</a:t>
            </a:r>
            <a:pPr algn="l" indent="0" marL="0">
              <a:lnSpc>
                <a:spcPct val="107143"/>
              </a:lnSpc>
              <a:buNone/>
            </a:pPr>
            <a:r>
              <a:rPr lang="en-US" sz="1875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tools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10496550" y="4543425"/>
            <a:ext cx="71247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Anthropic. </a:t>
            </a:r>
            <a:pPr algn="l" indent="0" marL="0">
              <a:lnSpc>
                <a:spcPct val="107143"/>
              </a:lnSpc>
              <a:buNone/>
            </a:pPr>
            <a:r>
              <a:rPr lang="en-US" sz="1875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use with Claude</a:t>
            </a:r>
            <a:endParaRPr lang="en-US" sz="1875" dirty="0"/>
          </a:p>
        </p:txBody>
      </p:sp>
      <p:sp>
        <p:nvSpPr>
          <p:cNvPr id="21" name="Text 18"/>
          <p:cNvSpPr/>
          <p:nvPr/>
        </p:nvSpPr>
        <p:spPr>
          <a:xfrm>
            <a:off x="10496550" y="5033963"/>
            <a:ext cx="71247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Google AI for Developers.《使用 Gemini API 呼叫函式》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10496550" y="5524500"/>
            <a:ext cx="71247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Shihipar, T. </a:t>
            </a:r>
            <a:pPr algn="l" indent="0" marL="0">
              <a:lnSpc>
                <a:spcPct val="107143"/>
              </a:lnSpc>
              <a:buNone/>
            </a:pPr>
            <a:r>
              <a:rPr lang="en-US" sz="1875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Unreasonable Effectiveness of HTML</a:t>
            </a:r>
            <a:endParaRPr lang="en-US" sz="1875" dirty="0"/>
          </a:p>
        </p:txBody>
      </p:sp>
      <p:sp>
        <p:nvSpPr>
          <p:cNvPr id="23" name="Text 20"/>
          <p:cNvSpPr/>
          <p:nvPr/>
        </p:nvSpPr>
        <p:spPr>
          <a:xfrm>
            <a:off x="10496550" y="6015038"/>
            <a:ext cx="71247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Bray, T. (2017). </a:t>
            </a:r>
            <a:pPr algn="l" indent="0" marL="0">
              <a:lnSpc>
                <a:spcPct val="107143"/>
              </a:lnSpc>
              <a:buNone/>
            </a:pPr>
            <a:r>
              <a:rPr lang="en-US" sz="1875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RFC 8259: JSON Data Interchange Format</a:t>
            </a:r>
            <a:endParaRPr lang="en-US" sz="1875" dirty="0"/>
          </a:p>
        </p:txBody>
      </p:sp>
      <p:sp>
        <p:nvSpPr>
          <p:cNvPr id="24" name="Text 21"/>
          <p:cNvSpPr/>
          <p:nvPr/>
        </p:nvSpPr>
        <p:spPr>
          <a:xfrm>
            <a:off x="10496550" y="6505575"/>
            <a:ext cx="667131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PDF Association. </a:t>
            </a:r>
            <a:pPr algn="l" indent="0" marL="0">
              <a:lnSpc>
                <a:spcPct val="107143"/>
              </a:lnSpc>
              <a:buNone/>
            </a:pPr>
            <a:r>
              <a:rPr lang="en-US" sz="1875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may be missing when you search PDF documents</a:t>
            </a:r>
            <a:endParaRPr lang="en-US" sz="1875" dirty="0"/>
          </a:p>
        </p:txBody>
      </p:sp>
      <p:sp>
        <p:nvSpPr>
          <p:cNvPr id="25" name="Text 22"/>
          <p:cNvSpPr/>
          <p:nvPr/>
        </p:nvSpPr>
        <p:spPr>
          <a:xfrm>
            <a:off x="10496550" y="7353300"/>
            <a:ext cx="71247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練習：day06_practice.ipynb · day07_practice.ipynb</a:t>
            </a:r>
            <a:endParaRPr lang="en-US" sz="1875" dirty="0"/>
          </a:p>
        </p:txBody>
      </p:sp>
      <p:sp>
        <p:nvSpPr>
          <p:cNvPr id="26" name="Shape 23"/>
          <p:cNvSpPr/>
          <p:nvPr/>
        </p:nvSpPr>
        <p:spPr>
          <a:xfrm>
            <a:off x="990600" y="9344025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505950"/>
            <a:ext cx="1277615" cy="24765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7065079" y="9539288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2026-08-11T02:32:00Z</dcterms:created>
  <dcterms:modified xsi:type="dcterms:W3CDTF">2026-08-11T02:32:00Z</dcterms:modified>
</cp:coreProperties>
</file>