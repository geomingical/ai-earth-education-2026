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回顧上一場：模型只是在預測下一個 Token。今天要問的是：那為什麼變大之後，它開始像會回答問題？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分鐘：三代 GPT 約 20 分、資料清理約 10 分、Chain-of-Thought 約 20 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核心句：它不是突然換了一顆腦，而是同一種腦讀更多資料、長得更大。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第一代論文標題其實沒有寫 GPT-1。發表當時大概也沒人知道會數到哪裡。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GPT-1 之前，每個任務各訓練一個模型——每換一門考試就重新培養一位考生。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因為標註有助於準確度，這幾年也多了不少資料標註員的遠端工作。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策略非常樸實、也非常需要經費：把模型放大，把資料增加，然後繼續訓練。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重點：Zero-shot 不是無中生有，是提示喚起了模型在訓練資料裡學過的條件結構。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GPT-3 真正想探討的不是能不能再做大，而是放大後能不能只靠指令與少量範例適應新任務。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模型看懂前兩組的對照關係後，就很有機會推出「大盤上漲」。這叫 In-context Learning。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對話結束、Context 消失後，那張便利貼也跟著消失了。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真正改變的是任務放在哪裡：從微調資料，移進了我們提供的 Context。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補充：前沿閉源模型不公布參數量，只能看公開權重。重點是 MoE 讓「總參數」與「每次啟用」脫鉤——呼應第一場的 MoE 玩笑。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Kaplan et al., 2020：測試損失與參數量、資料量、計算量呈冪律關係，在數個量級內平滑可預測。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Hoffmann et al., 2022：固定計算預算下，參數與資料應等比例放大。Chinchilla 70B 在多項評測上勝過 Gopher 280B。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它是經驗規律，不是物理定律。最重要的一點：近年的成長來自後訓練與推論期計算，也就是上一場的 o1 那條路。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 分鐘。模型不是看到落落長的作文就感動，而是從 Context 裡找可以延續的模式。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章節頁。前面一直說「資料很重要」，這一段就實際看資料是怎麼被清出來的。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真實的預訓練資料清理規模大得多，但步驟的種類差不多就是這五類。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 day3_practice.ipynb。重點不是語法，是「判斷語言」這件事本身就是一個會犯錯的決定。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MinHash 是用字元 shingle 估相似度，門檻 0.7。PII 遮罩只是最基本的一層，不等於合規。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章節頁。從「把任務放進 Context」，走到「請 AI 把過程寫出來」。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兩個答案都一樣，但第二種讓我們知道它是怎麼走到答案的。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 年 Wei 等人的論文。沒有加新零件，也沒有插入邏輯晶片——仍然是 Transformer，仍然在預測下一個 Token。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Kojima et al., 2022：Zero-shot CoT。當時幾乎成了 Prompt 世界的都市傳說。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有些問題需要草稿紙，有些問題只需要回答一句話。每題都寫三頁推導，使用者也不會看。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普通模型是被我們提醒「請先想一下」；Reasoning Model 比較像已經受過訓練，知道複雜問題不要三秒鐘就交卷。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 day4_practice.ipynb。差別只有 prompt 一句話與 max_new_tokens。強調：3 題不是統計實驗，重跑數字會變。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寫得很多只能證明筆很努力，不一定代表答案正確。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現場可以打開 Ollama 跑一次，看 &lt;think&gt; 區塊。強調：這是推理軌跡，不等於讀到神經網路的內部計算。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 讓 AI 從只交答案的學生，變成連計算紙一起交上來的學生。老師比較容易檢查，但仍可能從第二行就算錯。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收束：要求 AI 拆解問題，其實也在練習自己的思考。下一場處理專有名詞太多的問題。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566863"/>
            <a:ext cx="163068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85800"/>
            <a:ext cx="30600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LECTURE ·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028700"/>
            <a:ext cx="30600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素養入門 · 公開講座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783263" y="766763"/>
            <a:ext cx="35141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LECTURE 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83263" y="1109663"/>
            <a:ext cx="35141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× REASONING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225626"/>
            <a:ext cx="1216533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模型只是 越做越</a:t>
            </a:r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</a:t>
            </a:r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嗎？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990600" y="5816426"/>
            <a:ext cx="6337745" cy="159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GPT-1 走到今天的推理模型：規模、資料，以及「把任務放在哪裡」這件事怎麼改變。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" y="7885212"/>
            <a:ext cx="609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790700" y="7713762"/>
            <a:ext cx="30393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張睿明 ／ AIMing Data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3650" y="3719512"/>
            <a:ext cx="2857500" cy="30956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026902" y="7081838"/>
            <a:ext cx="2730996" cy="509587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0"/>
          <p:cNvSpPr/>
          <p:nvPr/>
        </p:nvSpPr>
        <p:spPr>
          <a:xfrm>
            <a:off x="14274552" y="7215188"/>
            <a:ext cx="2317626" cy="280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CHANG JUI-MING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90600" y="93059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467850"/>
            <a:ext cx="1474143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065079" y="952023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14204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本堂路線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95304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71529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" y="5228779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GPT-1 到 GPT-3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600" y="5933629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架構沒換，變的是規模、資料，以及任務放在哪裡。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4095304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4371529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53200" y="5228779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模型吃什麼長大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53200" y="5933629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預訓練資料怎麼被清出來：去重、去個資、去重複話。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4095304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4371529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115800" y="5228779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AI 把過程寫出來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115800" y="5933629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Chain-of-Thought 與 Reasoning Model 的差別。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7206109"/>
            <a:ext cx="28575" cy="461963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206109"/>
            <a:ext cx="16538829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中段會看兩份 </a:t>
            </a:r>
            <a:pPr algn="l" indent="0" marL="0">
              <a:lnSpc>
                <a:spcPct val="114286"/>
              </a:lnSpc>
              <a:buNone/>
            </a:pPr>
            <a:r>
              <a:rPr lang="en-US" sz="2250" i="1" dirty="0">
                <a:solidFill>
                  <a:srgbClr val="6E67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</a:t>
            </a:r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的實際輸出。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80619" y="723900"/>
            <a:ext cx="9929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284259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184377" y="4205288"/>
            <a:ext cx="7382463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GPT-1 到 GPT-3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184377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不是突然換了一顆腦，而是同一種腦開始讀更多資料、長得更大。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881313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 是哪三個字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100513"/>
            <a:ext cx="5181600" cy="26860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4443413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14450" y="5357813"/>
            <a:ext cx="49872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Generative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14450" y="5986463"/>
            <a:ext cx="46699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可以生成內容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553200" y="4100513"/>
            <a:ext cx="5181600" cy="26860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6877050" y="4443413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877050" y="5357813"/>
            <a:ext cx="49872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Pre-trained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77050" y="5986463"/>
            <a:ext cx="46699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先經過大規模預訓練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115800" y="4100513"/>
            <a:ext cx="5181600" cy="26860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2439650" y="4443413"/>
            <a:ext cx="49872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6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2439650" y="5357813"/>
            <a:ext cx="49872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39650" y="5986463"/>
            <a:ext cx="466991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採用上一場談的架構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7243763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243763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2018 年的第一代論文標題其實沒有寫「GPT-1」——當時也沒人知道後面會數到哪裡。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GPT-1 · 2018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3561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GPT-1：先把語言學起來，再準備不同考試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916710"/>
            <a:ext cx="7943850" cy="256788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240560"/>
            <a:ext cx="79838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STAGE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4640610"/>
            <a:ext cx="79838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預訓練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33500" y="5307360"/>
            <a:ext cx="747579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用大量沒有標籤的文字，練習預測下一個 Token。像先讓一個人廣泛閱讀，建立語感。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96350" y="3916710"/>
            <a:ext cx="495300" cy="2605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353550" y="3916710"/>
            <a:ext cx="7943850" cy="256788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9696450" y="4240560"/>
            <a:ext cx="79838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STAGE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96450" y="4640610"/>
            <a:ext cx="79838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微調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696450" y="5307360"/>
            <a:ext cx="747579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用較小、有標籤的資料適應特定任務。像臨時抱佛腳做短期衝刺，參數會被更新。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90600" y="6903690"/>
            <a:ext cx="163068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7160865"/>
            <a:ext cx="11950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1.17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2280865" y="7437090"/>
            <a:ext cx="1219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億個參數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957265" y="7160865"/>
            <a:ext cx="245656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7,000+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361956" y="7437090"/>
            <a:ext cx="44675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本未出版書籍（BooksCorpus）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LABELED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591892"/>
            <a:ext cx="10477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標籤資料像字卡的正反面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4696792"/>
            <a:ext cx="981075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正面是題目，翻到背面才印著標準答案。微調需要的就是這種一問一答的成對資料。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6075983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47775" y="6075983"/>
            <a:ext cx="955357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因為標註有助於模型準確度，這幾年也多了不少「資料標註員」的遠端工作。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201400" y="3357563"/>
            <a:ext cx="6096000" cy="150018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1544300" y="3662362"/>
            <a:ext cx="59512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544300" y="4043363"/>
            <a:ext cx="595122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一張貓咪的照片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896600" y="5048250"/>
            <a:ext cx="67056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11201400" y="5724525"/>
            <a:ext cx="6096000" cy="150018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44300" y="6029325"/>
            <a:ext cx="59512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LABEL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44300" y="6410325"/>
            <a:ext cx="595122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「貓」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GPT-2 · 2019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8326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GPT-2：把模型放大，把資料增加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164360"/>
            <a:ext cx="515615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421535"/>
            <a:ext cx="567176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6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億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990600" y="5374035"/>
            <a:ext cx="531083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最大版本的參數量，是 GPT-1 的十倍以上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65850" y="4164360"/>
            <a:ext cx="5156225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6565850" y="4421535"/>
            <a:ext cx="567184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6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 萬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6565850" y="5374035"/>
            <a:ext cx="53109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份網路文件，約 40 GB 文字（WebText）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41175" y="4164360"/>
            <a:ext cx="515615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141175" y="4421535"/>
            <a:ext cx="567176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6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karma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12141175" y="5374035"/>
            <a:ext cx="56717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資料來自 Reddit 上被按讚過的外部連結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0600" y="6593235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比書本資料多了一層篩選：曾經有人覺得這個連結值得按讚。模型吃什麼長大，多少會反映在它後來會做什麼。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0613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Zero-shot 不是無中生有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4387230"/>
            <a:ext cx="138303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40"/>
              </a:lnSpc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提示喚起了模型在訓練資料中曾經學過的條件結構。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90600" y="5413995"/>
            <a:ext cx="28575" cy="4286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8" name="Text 6"/>
          <p:cNvSpPr/>
          <p:nvPr/>
        </p:nvSpPr>
        <p:spPr>
          <a:xfrm>
            <a:off x="1209675" y="5413995"/>
            <a:ext cx="84982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問題後面接著答案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5413995"/>
            <a:ext cx="28575" cy="4286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0" name="Text 8"/>
          <p:cNvSpPr/>
          <p:nvPr/>
        </p:nvSpPr>
        <p:spPr>
          <a:xfrm>
            <a:off x="9591675" y="5413995"/>
            <a:ext cx="84982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英文句子後面接著翻譯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90600" y="6071220"/>
            <a:ext cx="28575" cy="4286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2" name="Text 10"/>
          <p:cNvSpPr/>
          <p:nvPr/>
        </p:nvSpPr>
        <p:spPr>
          <a:xfrm>
            <a:off x="1209675" y="6071220"/>
            <a:ext cx="84982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長篇文章後面接著摘要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72600" y="6071220"/>
            <a:ext cx="28575" cy="4286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591675" y="6071220"/>
            <a:ext cx="84982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一段文字後面接著評論或分類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90600" y="6918945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47775" y="6918945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所以模型能力不只由參數量決定，也受訓練資料裡有哪些語言、知識與任務結構影響。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97199" y="723900"/>
            <a:ext cx="2420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GPT-3 · 2020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124646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GPT-3：不改參數，只在上下文裡示範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4305746"/>
            <a:ext cx="442019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218"/>
              </a:lnSpc>
              <a:buNone/>
            </a:pPr>
            <a:r>
              <a:rPr lang="en-US" sz="135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1,750</a:t>
            </a:r>
            <a:endParaRPr lang="en-US" sz="13500" dirty="0"/>
          </a:p>
        </p:txBody>
      </p:sp>
      <p:sp>
        <p:nvSpPr>
          <p:cNvPr id="7" name="Text 5"/>
          <p:cNvSpPr/>
          <p:nvPr/>
        </p:nvSpPr>
        <p:spPr>
          <a:xfrm>
            <a:off x="5542359" y="5124896"/>
            <a:ext cx="14478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億個參數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90600" y="6267896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6496496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Zero-shot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90600" y="7044184"/>
            <a:ext cx="56997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只給任務指令，不給任何示範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53200" y="6267896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200" y="6496496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One-shot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553200" y="7044184"/>
            <a:ext cx="56997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先提供一組輸入與輸出的示範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6267896"/>
            <a:ext cx="5181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6496496"/>
            <a:ext cx="569976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Few-shot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115800" y="7044184"/>
            <a:ext cx="56997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提供少數幾組示範，讓模型抓規律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FEW-SHOT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9276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Few-shot 的實際寫法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935760"/>
            <a:ext cx="16306800" cy="24669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78660"/>
            <a:ext cx="170992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[1] 全面加徵 25% 進口鋼鐵關稅！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大盤下跌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4869210"/>
            <a:ext cx="170992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[2] 科技大廠宣布在美擴建新廠，釋出數千就業機會！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大盤上漲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71600" y="5459760"/>
            <a:ext cx="15544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5659785"/>
            <a:ext cx="160111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[目標] 今天與主要貿易夥伴順利達成歷史性降稅協議！ </a:t>
            </a:r>
            <a:pPr algn="l" indent="0" marL="0">
              <a:lnSpc>
                <a:spcPct val="129231"/>
              </a:lnSpc>
              <a:buNone/>
            </a:pPr>
            <a:r>
              <a:rPr lang="en-US" sz="210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90600" y="6783735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模型看懂前兩組的對照關係後，就很有機會推出最後一題應該接什麼。這個過程稱為 </a:t>
            </a:r>
            <a:pPr algn="l" indent="0" marL="0">
              <a:lnSpc>
                <a:spcPct val="117333"/>
              </a:lnSpc>
              <a:buNone/>
            </a:pPr>
            <a:r>
              <a:rPr lang="en-US" sz="2400" b="1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In-context Learning</a:t>
            </a:r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：參數沒有更新，改變的只是這一次輸入的 Context。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80418" y="723900"/>
            <a:ext cx="3428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TUNING vs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88469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上課，還是便利貼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207669"/>
            <a:ext cx="7886700" cy="247173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4588669"/>
            <a:ext cx="7753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FINE-TUNING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09700" y="5064919"/>
            <a:ext cx="775335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真的去上課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409700" y="5841206"/>
            <a:ext cx="72599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模型內部參數被修改，比較像長期學習。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4207669"/>
            <a:ext cx="7886700" cy="247173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4588669"/>
            <a:ext cx="7753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IN-CONTEXT LEARNING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9800" y="5064919"/>
            <a:ext cx="775335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桌上貼便利貼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829800" y="5841206"/>
            <a:ext cx="725995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參數沒有改變，考前照著幾題範例作答。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7136606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775" y="7136606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對話結束、Context 消失後，那張便利貼也跟著消失了。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TABLE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167063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真正改變的是任務放在哪裡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762500"/>
            <a:ext cx="3680743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10063"/>
            <a:ext cx="37911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76143" y="4762500"/>
            <a:ext cx="3346177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4976143" y="4310063"/>
            <a:ext cx="344656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27120" y="4762500"/>
            <a:ext cx="3680817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8627120" y="4310063"/>
            <a:ext cx="379124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612737" y="4762500"/>
            <a:ext cx="4684663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1"/>
          <p:cNvSpPr/>
          <p:nvPr/>
        </p:nvSpPr>
        <p:spPr>
          <a:xfrm>
            <a:off x="12612737" y="4310063"/>
            <a:ext cx="482520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任務放在哪裡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0600" y="5653088"/>
            <a:ext cx="368074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4991100"/>
            <a:ext cx="3791165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GPT-1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4976143" y="5653088"/>
            <a:ext cx="334617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4976143" y="4991100"/>
            <a:ext cx="3446562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1.17 億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627120" y="5653088"/>
            <a:ext cx="368081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8627120" y="4991100"/>
            <a:ext cx="3791242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BooksCorpus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612737" y="5653088"/>
            <a:ext cx="468466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12612737" y="4991100"/>
            <a:ext cx="4825203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微調資料裡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90600" y="6534150"/>
            <a:ext cx="368074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5872163"/>
            <a:ext cx="3791165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GPT-2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4976143" y="6534150"/>
            <a:ext cx="334617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4976143" y="5872163"/>
            <a:ext cx="3446562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 億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8627120" y="6534150"/>
            <a:ext cx="3680817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8627120" y="5872163"/>
            <a:ext cx="3791242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WebText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612737" y="6534150"/>
            <a:ext cx="4684663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2612737" y="5872163"/>
            <a:ext cx="4825203" cy="490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從大量文字中認出任務形式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90600" y="6753225"/>
            <a:ext cx="379116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GPT-3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4976143" y="6753225"/>
            <a:ext cx="3446562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1,750 億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8627120" y="6753225"/>
            <a:ext cx="3791242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更大更多元的語料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2612737" y="6753225"/>
            <a:ext cx="482520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指令與範例直接放進 Context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200090" y="723900"/>
            <a:ext cx="11735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今日尺度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23963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現在看模型大小，要看兩個數字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366963"/>
            <a:ext cx="7924800" cy="258693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2671763"/>
            <a:ext cx="79629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DENSE · 稠密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3152775"/>
            <a:ext cx="796290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 Token 都跑完整個模型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333500" y="3795713"/>
            <a:ext cx="745617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總參數就是實際算力。Llama 3.1 405B 是目前最大的全稠密開源模型，對硬體要求極高。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72600" y="2366963"/>
            <a:ext cx="7924800" cy="258693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2671763"/>
            <a:ext cx="79629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MoE · 混合專家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15500" y="3152775"/>
            <a:ext cx="796290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只叫出需要的那幾位專家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715500" y="3795713"/>
            <a:ext cx="745617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總參數是知識庫大小，激活參數才決定這次要花多少算力——第一場那個 MoE 玩笑，其實是真的。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5768280"/>
            <a:ext cx="4295552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5334893"/>
            <a:ext cx="442441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開源／開放權重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90952" y="5768280"/>
            <a:ext cx="3579614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7" name="Text 15"/>
          <p:cNvSpPr/>
          <p:nvPr/>
        </p:nvSpPr>
        <p:spPr>
          <a:xfrm>
            <a:off x="5590952" y="5334893"/>
            <a:ext cx="368700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總參數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75366" y="5768280"/>
            <a:ext cx="3579614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9" name="Text 17"/>
          <p:cNvSpPr/>
          <p:nvPr/>
        </p:nvSpPr>
        <p:spPr>
          <a:xfrm>
            <a:off x="9475366" y="5334893"/>
            <a:ext cx="368700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激活參數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59780" y="5768280"/>
            <a:ext cx="3937546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1" name="Text 19"/>
          <p:cNvSpPr/>
          <p:nvPr/>
        </p:nvSpPr>
        <p:spPr>
          <a:xfrm>
            <a:off x="13359780" y="5334893"/>
            <a:ext cx="40556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架構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0600" y="6463605"/>
            <a:ext cx="429555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5939730"/>
            <a:ext cx="44244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 R1 系列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590952" y="6463605"/>
            <a:ext cx="357961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5590952" y="59397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1.6 兆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75366" y="6463605"/>
            <a:ext cx="357961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9475366" y="59397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 49B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3359780" y="6463605"/>
            <a:ext cx="3937546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3359780" y="5939730"/>
            <a:ext cx="405567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90600" y="7149405"/>
            <a:ext cx="429555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6625530"/>
            <a:ext cx="44244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Kimi K2.6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590952" y="7149405"/>
            <a:ext cx="357961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3" name="Text 31"/>
          <p:cNvSpPr/>
          <p:nvPr/>
        </p:nvSpPr>
        <p:spPr>
          <a:xfrm>
            <a:off x="5590952" y="66255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1.1 兆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75366" y="7149405"/>
            <a:ext cx="357961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5" name="Text 33"/>
          <p:cNvSpPr/>
          <p:nvPr/>
        </p:nvSpPr>
        <p:spPr>
          <a:xfrm>
            <a:off x="9475366" y="66255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部分激活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3359780" y="7149405"/>
            <a:ext cx="3937546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7" name="Text 35"/>
          <p:cNvSpPr/>
          <p:nvPr/>
        </p:nvSpPr>
        <p:spPr>
          <a:xfrm>
            <a:off x="13359780" y="6625530"/>
            <a:ext cx="405567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 · 長文本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90600" y="7835205"/>
            <a:ext cx="429555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9" name="Text 37"/>
          <p:cNvSpPr/>
          <p:nvPr/>
        </p:nvSpPr>
        <p:spPr>
          <a:xfrm>
            <a:off x="990600" y="7311330"/>
            <a:ext cx="44244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Qwen3 235B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5590952" y="7835205"/>
            <a:ext cx="357961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1" name="Text 39"/>
          <p:cNvSpPr/>
          <p:nvPr/>
        </p:nvSpPr>
        <p:spPr>
          <a:xfrm>
            <a:off x="5590952" y="73113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235B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475366" y="7835205"/>
            <a:ext cx="3579614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3" name="Text 41"/>
          <p:cNvSpPr/>
          <p:nvPr/>
        </p:nvSpPr>
        <p:spPr>
          <a:xfrm>
            <a:off x="9475366" y="73113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 22B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3359780" y="7835205"/>
            <a:ext cx="3937546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45" name="Text 43"/>
          <p:cNvSpPr/>
          <p:nvPr/>
        </p:nvSpPr>
        <p:spPr>
          <a:xfrm>
            <a:off x="13359780" y="7311330"/>
            <a:ext cx="405567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90600" y="7997130"/>
            <a:ext cx="44244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Llama 3.1 405B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5590952" y="79971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405B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9475366" y="7997130"/>
            <a:ext cx="36870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 405B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3359780" y="7997130"/>
            <a:ext cx="405567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Dense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990600" y="8902005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51" name="Text 49"/>
          <p:cNvSpPr/>
          <p:nvPr/>
        </p:nvSpPr>
        <p:spPr>
          <a:xfrm>
            <a:off x="1247775" y="8902005"/>
            <a:ext cx="16538829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閉源旗艦不公布參數，業界推估 GPT-4 約 1.8 兆的 MoE、更新世代可能到數兆級——這些是</a:t>
            </a:r>
            <a:pPr algn="l" indent="0" marL="0">
              <a:lnSpc>
                <a:spcPct val="114872"/>
              </a:lnSpc>
              <a:buNone/>
            </a:pPr>
            <a:r>
              <a:rPr lang="en-US" sz="2100" b="1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推估值 </a:t>
            </a:r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，不是官方數字。想在自己電腦上跑，實際落在 24B–31B；我們練習用的 Qwen2.5-0.5B 更小。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990600" y="9755386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53" name="Text 51"/>
          <p:cNvSpPr/>
          <p:nvPr/>
        </p:nvSpPr>
        <p:spPr>
          <a:xfrm>
            <a:off x="990600" y="9917311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7065079" y="9917311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SCALING LAW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70883"/>
            <a:ext cx="106870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Scaling Law 說了什麼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4437683"/>
            <a:ext cx="10006965" cy="159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2020 年 Kaplan 等人觀察到：語言模型的測試損失，會隨著參數量、資料量與計算量以 </a:t>
            </a:r>
            <a:pPr algn="l" indent="0" marL="0">
              <a:lnSpc>
                <a:spcPct val="114526"/>
              </a:lnSpc>
              <a:buNone/>
            </a:pPr>
            <a:r>
              <a:rPr lang="en-US" sz="2550" b="1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冪律 </a:t>
            </a:r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穩定下降，而且在好幾個量級之內可以事先預測。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6296918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47775" y="6296918"/>
            <a:ext cx="974979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這件事的產業意義很大：先用小模型量出曲線，就能估算「花多少錢、能換到多少品質」。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391900" y="3159919"/>
            <a:ext cx="64960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 · 參數量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391900" y="3640931"/>
            <a:ext cx="5905500" cy="1905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1391900" y="4079081"/>
            <a:ext cx="64960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 · 訓練資料量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391900" y="4560094"/>
            <a:ext cx="5905500" cy="1905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1"/>
          <p:cNvSpPr/>
          <p:nvPr/>
        </p:nvSpPr>
        <p:spPr>
          <a:xfrm>
            <a:off x="11391900" y="4998244"/>
            <a:ext cx="64960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 · 計算量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391900" y="5479256"/>
            <a:ext cx="5905500" cy="1905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91900" y="5917406"/>
            <a:ext cx="59055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391900" y="6155531"/>
            <a:ext cx="6496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LOSS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391900" y="6536531"/>
            <a:ext cx="608266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三者放大，損失就下降——但下降的是「預測下一個 Token 的誤差」。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80418" y="723900"/>
            <a:ext cx="3428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CHINCHILLA · 2022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883694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後來的修正：多數大模型其實吃太少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64794"/>
            <a:ext cx="7886700" cy="23288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407694"/>
            <a:ext cx="78371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之前的做法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4907756"/>
            <a:ext cx="78371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參數拚命放大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5593556"/>
            <a:ext cx="733844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資料量沒有跟上，模型處於「訓練不足」的狀態。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4064794"/>
            <a:ext cx="7886700" cy="232886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91700" y="4407694"/>
            <a:ext cx="78371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Chinchilla 的結論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1700" y="4907756"/>
            <a:ext cx="78371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參數與資料要等比例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91700" y="5593556"/>
            <a:ext cx="733844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經驗法則：每 1 個參數，大約配 20 個訓練 Token。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6812756"/>
            <a:ext cx="163068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7088981"/>
            <a:ext cx="35659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76"/>
              </a:lnSpc>
              <a:buNone/>
            </a:pPr>
            <a:r>
              <a:rPr lang="en-US" sz="48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70B &gt; 280B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575274" y="7179469"/>
            <a:ext cx="106870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同樣的計算預算下，較小但吃得夠飽的模型，表現可以勝過大它四倍的模型。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LIMITS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73697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那 Scaling Law 是對的嗎？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3816697"/>
            <a:ext cx="13411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它是一條經驗規律，不是物理定律——是趨勢，不是保證書。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90600" y="4750147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503113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79352" y="4959697"/>
            <a:ext cx="7639508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它預測的是損失，不是我們在意的能力。損失下降不等於答案正確。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91650" y="4750147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391650" y="503113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80402" y="4959697"/>
            <a:ext cx="704088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高品質文字資料是有限的，資料這一軸不能無限放大。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90600" y="6034088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631507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79352" y="6243638"/>
            <a:ext cx="733425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冪律代表報酬遞減：想再進步一點，成本要再翻好幾倍。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91650" y="6034088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391650" y="6315075"/>
            <a:ext cx="3744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80402" y="6243638"/>
            <a:ext cx="7639508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資料品質與架構會改變曲線的常數，同樣的規模不一定同樣的結果。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90600" y="7451378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47775" y="7451378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所以這幾年的重心，從「把預訓練做得更大」，逐漸移到後訓練與「回答時多花一點計算」——那正是下半場要談的推理模型。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69010"/>
            <a:ext cx="1743456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和 AI 溝通時，真正重要的只是把問題寫得很長嗎？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518645"/>
            <a:ext cx="3819525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775820"/>
            <a:ext cx="42014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90600" y="5423520"/>
            <a:ext cx="420147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要做什麼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53025" y="4518645"/>
            <a:ext cx="3819525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0" name="Text 8"/>
          <p:cNvSpPr/>
          <p:nvPr/>
        </p:nvSpPr>
        <p:spPr>
          <a:xfrm>
            <a:off x="5153025" y="4775820"/>
            <a:ext cx="42014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範例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53025" y="5423520"/>
            <a:ext cx="420147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長什麼樣子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15450" y="4518645"/>
            <a:ext cx="3819525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15450" y="4775820"/>
            <a:ext cx="42014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限制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315450" y="5423520"/>
            <a:ext cx="420147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不能怎麼做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477875" y="4518645"/>
            <a:ext cx="3819525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3477875" y="4775820"/>
            <a:ext cx="42014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預期輸出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477875" y="5423520"/>
            <a:ext cx="420147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交回什麼格式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0600" y="6307410"/>
            <a:ext cx="11301984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比長度更重要的，是這四件事有沒有寫清楚。模型不是因為看到一篇落落長的作文就突然感動，而是從 Context 中尋找可以延續的模式。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63975" y="723900"/>
            <a:ext cx="8096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9375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503613" y="4205288"/>
            <a:ext cx="712470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模型吃什麼長大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503613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網路上抓來的文字不能直接餵。來看一次最小規模的清理流程。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3091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預訓練資料的清理流程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450110"/>
            <a:ext cx="3078435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707285"/>
            <a:ext cx="3386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5107335"/>
            <a:ext cx="33862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去標籤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600" y="5669310"/>
            <a:ext cx="3170788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HTML 標籤與多餘空白清掉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297635" y="4450110"/>
            <a:ext cx="307851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35" y="4707285"/>
            <a:ext cx="33863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35" y="5107335"/>
            <a:ext cx="33863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篩語言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97635" y="5669310"/>
            <a:ext cx="3386361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只留下目標語言的文件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04745" y="4450110"/>
            <a:ext cx="3078435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7604745" y="4707285"/>
            <a:ext cx="3386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04745" y="5107335"/>
            <a:ext cx="33862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去重複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04745" y="5669310"/>
            <a:ext cx="3170788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MinHash 找出高度相似的文件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911780" y="4450110"/>
            <a:ext cx="307851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11780" y="4707285"/>
            <a:ext cx="33863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11780" y="5107335"/>
            <a:ext cx="33863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遮個資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911780" y="5669310"/>
            <a:ext cx="317086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Email、卡號、電話換成標記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4218890" y="4450110"/>
            <a:ext cx="307851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23" name="Text 21"/>
          <p:cNvSpPr/>
          <p:nvPr/>
        </p:nvSpPr>
        <p:spPr>
          <a:xfrm>
            <a:off x="14218890" y="4707285"/>
            <a:ext cx="33863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18890" y="5107335"/>
            <a:ext cx="338636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去贅句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218890" y="5669310"/>
            <a:ext cx="3386361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壓掉重複刷出來的同一句話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90600" y="6894165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47775" y="6894165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真實規模大得多，但步驟的種類差不多就是這五類。清理的每一個決定，都在決定模型會學到什麼。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13706" y="723900"/>
            <a:ext cx="38320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day3_practice.ipynb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555281"/>
            <a:ext cx="942975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去掉標籤，再判斷語言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90600" y="4350618"/>
            <a:ext cx="8572500" cy="2676302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4636368"/>
            <a:ext cx="8181975" cy="21429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stripped = BeautifulSoup(text, "html.parser").get_text(" ")</a:t>
            </a:r>
            <a:endParaRPr lang="en-US" sz="1950" dirty="0"/>
          </a:p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stripped = re.sub(r"\s+", " ", stripped).strip()</a:t>
            </a:r>
            <a:endParaRPr lang="en-US" sz="1950" dirty="0"/>
          </a:p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han  = len(re.findall(r"[\u4e00-\u9fff]", stripped))</a:t>
            </a:r>
            <a:endParaRPr lang="en-US" sz="1950" dirty="0"/>
          </a:p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kana = len(re.findall(r"[\u3040-\u30ff]", stripped))</a:t>
            </a:r>
            <a:endParaRPr lang="en-US" sz="1950" dirty="0"/>
          </a:p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han &gt; kana:  keep(stripped)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096500" y="3573810"/>
            <a:ext cx="79209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96500" y="4050060"/>
            <a:ext cx="7200900" cy="189547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0363200" y="4297710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&lt;p&gt;今天 &lt;b&gt;天氣&lt;/b&gt; 很好 ！&lt;/p&gt;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363200" y="4797772"/>
            <a:ext cx="7334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363200" y="5350222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今天 天氣 很好！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6155085"/>
            <a:ext cx="741692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用漢字與假名的數量差來猜語言，快但粗糙——中日夾雜的文件就會被判錯。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13706" y="723900"/>
            <a:ext cx="38320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day3_practice.ipynb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180904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去掉重複，遮掉個資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190554"/>
            <a:ext cx="82900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MINHASH LSH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4647754"/>
            <a:ext cx="7536433" cy="170973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4895404"/>
            <a:ext cx="7191026" cy="12525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lsh = MinHashLSH(threshold=0.7, num_perm=128)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not lsh.query(m):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lsh.insert(i, m); unique.append(text)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90600" y="6547991"/>
            <a:ext cx="776252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用字元組合估相似度，相似度超過門檻就視為重複。重複資料會讓模型過度記住同一段話。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984233" y="4190554"/>
            <a:ext cx="91444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PII MASKING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984233" y="4647754"/>
            <a:ext cx="8313167" cy="1709738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9269983" y="4895404"/>
            <a:ext cx="7991062" cy="12525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re.sub(r"[\w.-]+@[\w.-]+", "[EMAIL]", t)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re.sub(r"\b\d{13,19}\b", "[CREDIT_CARD]", t)</a:t>
            </a:r>
            <a:endParaRPr lang="en-US" sz="1875" dirty="0"/>
          </a:p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re.sub(r"09\d{2}[-\s]?\d{3}[-\s]?\d{3}", "[PHONE]", t)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8984233" y="6547991"/>
            <a:ext cx="856256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Email、卡號、手機換成標記。這只是最基本的一層——遮不掉的個資，模型就有機會背下來。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75092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486647" y="4205288"/>
            <a:ext cx="712470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AI 把過程寫出來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486647" y="5340623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Chain-of-Thought 與 Reasoning Model：一個是用法，一個是模型。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67521"/>
            <a:ext cx="1679600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39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一件商品原價 1,000 元，先打八折，再加上折後價格 5% 的稅金，最後是多少？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397201"/>
            <a:ext cx="6891114" cy="351755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740101"/>
            <a:ext cx="674202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直接回答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5278264"/>
            <a:ext cx="6742026" cy="121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840 元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371600" y="6645101"/>
            <a:ext cx="6742026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答案對了，但我們不知道它怎麼算的。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338914" y="4397201"/>
            <a:ext cx="8958486" cy="351755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8719914" y="4740101"/>
            <a:ext cx="901613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展開步驟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719914" y="5259214"/>
            <a:ext cx="84423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1,000 × 0.8 = 800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719914" y="5887864"/>
            <a:ext cx="84423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800 × 0.05 = 40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719914" y="6516514"/>
            <a:ext cx="84423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225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800 + 40 = 840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719914" y="7145164"/>
            <a:ext cx="9016134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多了一段中間過程，我們才知道它是怎麼走到答案的。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CoT · 2022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54647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Chain-of-Thought 不是新的模型架構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4088160"/>
            <a:ext cx="1219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BEFORE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24100" y="3835747"/>
            <a:ext cx="1181100" cy="771525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9850" y="4007197"/>
            <a:ext cx="685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95700" y="4002435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8A83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267200" y="3835747"/>
            <a:ext cx="1181100" cy="771525"/>
          </a:xfrm>
          <a:prstGeom prst="rect">
            <a:avLst/>
          </a:prstGeom>
          <a:ln w="19050">
            <a:solidFill>
              <a:srgbClr val="C9B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2950" y="4007197"/>
            <a:ext cx="685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600" y="4973985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WITH CoT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324100" y="4854922"/>
            <a:ext cx="1181100" cy="771525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9850" y="5026372"/>
            <a:ext cx="685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95700" y="5021610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267200" y="4873972"/>
            <a:ext cx="1752600" cy="7334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33900" y="5026372"/>
            <a:ext cx="12954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中間步驟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0300" y="5021610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781800" y="4873972"/>
            <a:ext cx="1752600" cy="7334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0" name="Text 18"/>
          <p:cNvSpPr/>
          <p:nvPr/>
        </p:nvSpPr>
        <p:spPr>
          <a:xfrm>
            <a:off x="7048500" y="5026372"/>
            <a:ext cx="12954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中間步驟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24900" y="5021610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296400" y="4854922"/>
            <a:ext cx="1181100" cy="771525"/>
          </a:xfrm>
          <a:prstGeom prst="rect">
            <a:avLst/>
          </a:prstGeom>
          <a:ln w="19050">
            <a:solidFill>
              <a:srgbClr val="141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82150" y="5026372"/>
            <a:ext cx="685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0600" y="6045547"/>
            <a:ext cx="119298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沒有替 Transformer 加上新零件，也沒有插入一顆邏輯晶片。模型仍然在預測下一個 Token，只是多取得了一些可以用來計算、檢查與延續模式的 Token。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90600" y="7470428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47775" y="7470428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原本要心算，現在至少發了一張計算紙。至於會不會算錯，仍然是另一回事。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ZERO-SHOT CoT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06092"/>
            <a:ext cx="86753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最初的做法：給示範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3453780"/>
            <a:ext cx="7886700" cy="356711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720480"/>
            <a:ext cx="7513701" cy="30718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1667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問題：小明有 3 顆蘋果，又買了 2 顆，</a:t>
            </a:r>
            <a:endParaRPr lang="en-US" sz="1950" dirty="0"/>
          </a:p>
          <a:p>
            <a:pPr algn="l" indent="0" marL="0">
              <a:lnSpc>
                <a:spcPct val="151667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總共有幾顆？</a:t>
            </a:r>
            <a:endParaRPr lang="en-US" sz="1950" dirty="0"/>
          </a:p>
          <a:p>
            <a:pPr algn="l" indent="0" marL="0">
              <a:lnSpc>
                <a:spcPct val="151667"/>
              </a:lnSpc>
              <a:buNone/>
            </a:pPr>
            <a:endParaRPr lang="en-US" sz="1950" dirty="0"/>
          </a:p>
          <a:p>
            <a:pPr algn="l" indent="0" marL="0">
              <a:lnSpc>
                <a:spcPct val="151667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推理：原本有 3 顆，又增加 2 顆。</a:t>
            </a:r>
            <a:endParaRPr lang="en-US" sz="1950" dirty="0"/>
          </a:p>
          <a:p>
            <a:pPr algn="l" indent="0" marL="0">
              <a:lnSpc>
                <a:spcPct val="151667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3 + 2 = 5。</a:t>
            </a:r>
            <a:endParaRPr lang="en-US" sz="1950" dirty="0"/>
          </a:p>
          <a:p>
            <a:pPr algn="l" indent="0" marL="0">
              <a:lnSpc>
                <a:spcPct val="151667"/>
              </a:lnSpc>
              <a:buNone/>
            </a:pPr>
            <a:endParaRPr lang="en-US" sz="1950" dirty="0"/>
          </a:p>
          <a:p>
            <a:pPr algn="l" indent="0" marL="0">
              <a:lnSpc>
                <a:spcPct val="151667"/>
              </a:lnSpc>
              <a:buNone/>
            </a:pPr>
            <a:r>
              <a:rPr lang="en-US" sz="195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答案：5 顆。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600" y="7249492"/>
            <a:ext cx="867537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再給新題目，讓模型模仿同樣的回答結構。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10700" y="3523804"/>
            <a:ext cx="867537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後來發現：一句話也行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10700" y="4071491"/>
            <a:ext cx="7886700" cy="14782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9791700" y="4490591"/>
            <a:ext cx="7361301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03"/>
              </a:lnSpc>
              <a:buNone/>
            </a:pPr>
            <a:r>
              <a:rPr lang="en-US" sz="3600" i="1" dirty="0">
                <a:solidFill>
                  <a:srgbClr val="EFE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think step by step.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410700" y="5778326"/>
            <a:ext cx="8123301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不提供完整示範，只在問題後加一句，也可能提升大型模型在部分多步驟任務上的表現。這句話當時幾乎成了 Prompt 世界裡的都市傳說。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WHEN TO USE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74219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它不是萬用咒語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493419"/>
            <a:ext cx="78867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769644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值得展開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600" y="5288756"/>
            <a:ext cx="867537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需要草稿紙的題目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90600" y="5936456"/>
            <a:ext cx="81233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計算、規劃、比較多個條件、多步驟判斷。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4493419"/>
            <a:ext cx="78867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410700" y="4769644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不必展開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410700" y="5288756"/>
            <a:ext cx="867537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只需要一句答案的題目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410700" y="5936456"/>
            <a:ext cx="81233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知識查詢、翻譯、格式轉換。硬要長篇推理只會更慢、更長。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6850856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775" y="6850856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如果每一題都要求寫三頁推導，使用者大概也不會看，直接一路綠燈通行。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TABLE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574131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CoT 是一種用法，Reasoning Model 是一種模型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036219"/>
            <a:ext cx="416555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583781"/>
            <a:ext cx="42905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面向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99050" y="4036219"/>
            <a:ext cx="5727725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5499050" y="3583781"/>
            <a:ext cx="589955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CHAIN-OF-THOUGHT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569675" y="4036219"/>
            <a:ext cx="5727725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1569675" y="3583781"/>
            <a:ext cx="589955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REASONING MODEL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4836319"/>
            <a:ext cx="41655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245769"/>
            <a:ext cx="42905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核心概念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499050" y="4836319"/>
            <a:ext cx="57277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5499050" y="4245769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Prompt 引導模型展開步驟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569675" y="4836319"/>
            <a:ext cx="57277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1569675" y="4245769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以特別後訓練與更多推論計算處理複雜任務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5626894"/>
            <a:ext cx="41655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5036344"/>
            <a:ext cx="42905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需要特定模型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499050" y="5626894"/>
            <a:ext cx="57277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5499050" y="5036344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不一定，一般 LLM 也可嘗試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569675" y="5626894"/>
            <a:ext cx="57277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11569675" y="5036344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通常需要模型本身具備相應機制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600" y="6417469"/>
            <a:ext cx="416555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5826919"/>
            <a:ext cx="42905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主要改變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5499050" y="6417469"/>
            <a:ext cx="57277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5499050" y="5826919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輸入中的指令與示範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569675" y="6417469"/>
            <a:ext cx="572772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1569675" y="5826919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模型的訓練方式與推論行為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90600" y="6617494"/>
            <a:ext cx="42905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推論時間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5499050" y="6617494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因輸出更多步驟而增加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569675" y="6617494"/>
            <a:ext cx="58995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可主動投入更多計算量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90600" y="7550944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34" name="Text 32"/>
          <p:cNvSpPr/>
          <p:nvPr/>
        </p:nvSpPr>
        <p:spPr>
          <a:xfrm>
            <a:off x="1247775" y="7550944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2024 年的 o1 與 2025 年的 DeepSeek-R1，都是用大規模強化學習培養推理能力的路線；它們依然逐步生成 Token。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6" name="Text 3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13706" y="723900"/>
            <a:ext cx="38320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day4_practice.ipynb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54821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兩種問法，只差一句話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226371"/>
            <a:ext cx="16306800" cy="2655094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3512121"/>
            <a:ext cx="16148304" cy="21216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def ask_direct(q):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    return generate(f"{q}\n請直接只回答最終答案，不要說明過程。", max_new_tokens=30)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def ask_cot(q):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    return generate(f"{q}\n </a:t>
            </a:r>
            <a:endParaRPr lang="en-US" sz="1875" dirty="0"/>
          </a:p>
          <a:p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請一步一步思考</a:t>
            </a:r>
            <a:pPr algn="l" indent="0" marL="0">
              <a:lnSpc>
                <a:spcPct val="150862"/>
              </a:lnSpc>
              <a:buNone/>
            </a:pPr>
            <a:r>
              <a:rPr lang="en-US" sz="1875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，寫出你的推理過程，最後一行用「答案：」加上最終答案。", max_new_tokens=250)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6186264"/>
            <a:ext cx="7943850" cy="14097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452964"/>
            <a:ext cx="806767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直接回答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6886352"/>
            <a:ext cx="80676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又快又短，但在多步驟題目上容易直接算錯。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53550" y="6186264"/>
            <a:ext cx="7943850" cy="14097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2" name="Text 10"/>
          <p:cNvSpPr/>
          <p:nvPr/>
        </p:nvSpPr>
        <p:spPr>
          <a:xfrm>
            <a:off x="9658350" y="6452964"/>
            <a:ext cx="80676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Chain-of-Thought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58350" y="6833964"/>
            <a:ext cx="80676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字數與時間都是好幾倍，正確率通常較高——但不保證。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7900764"/>
            <a:ext cx="28575" cy="4266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775" y="7900764"/>
            <a:ext cx="1768030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提醒：notebook 只跑 3 題，是一次示範，不是嚴謹的統計實驗；重跑一次的數字也不會完全一樣。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FAILURE MODES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67000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推理越長，就一定越正確嗎？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848100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3848100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一開始的假設錯了，後面每一步都跟著走偏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91650" y="3848100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9629775" y="3848100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在簡單問題上過度思考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0600" y="4505325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" y="4505325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產生看似合理、實際上無關的步驟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91650" y="4505325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29775" y="4505325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推理過程很流暢，最後答案仍然錯誤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90600" y="5162550"/>
            <a:ext cx="28575" cy="42862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28725" y="5162550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為錯誤答案補上一段非常有說服力的說明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90600" y="6010275"/>
            <a:ext cx="1130198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像考試時寫滿整張計算紙——寫得很多只能證明筆很努力，不一定代表答案正確。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90600" y="7458075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47775" y="7458075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需要外部資料的問題仍要查核來源；數學或程式問題可以用計算器、Python 或測試來驗證。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997062" y="723900"/>
            <a:ext cx="36303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DEMO · OLLAMA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79502"/>
            <a:ext cx="98069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打開地端模型，看它的內心戲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193902"/>
            <a:ext cx="8915400" cy="90673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441552"/>
            <a:ext cx="8611362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2025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請問台南手搖飲的「半糖」，換算成台北的甜度標準大概是多少？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90600" y="5348288"/>
            <a:ext cx="918286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模型先把問題拆成「甜度基準」、「南北口味差異」與「換算假設」，還在草稿裡自己提醒：這只是飲食文化的認知，不是數學定律。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6449318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6449318"/>
            <a:ext cx="894473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結論是台南半糖大致對應台北七到八分糖。步驟很完整，但換算仍是模型自己提出的假設。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39400" y="2744688"/>
            <a:ext cx="75438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觀察清單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39400" y="3806726"/>
            <a:ext cx="6858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39400" y="3273326"/>
            <a:ext cx="7063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 它把問題拆成了哪些步驟？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39400" y="4502051"/>
            <a:ext cx="6858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439400" y="3968651"/>
            <a:ext cx="7063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 中間有沒有猶豫、重複或改變解法？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39400" y="5197376"/>
            <a:ext cx="6858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39400" y="4663976"/>
            <a:ext cx="7063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 推理過程與最後答案是否一致？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39400" y="5892701"/>
            <a:ext cx="6858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39400" y="5359301"/>
            <a:ext cx="7063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 推理寫得很完整，答案就一定正確嗎？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439400" y="6054626"/>
            <a:ext cx="7543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 換成一般模型直接回答，差別在哪？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439400" y="6664226"/>
            <a:ext cx="6858000" cy="1173361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0" y="6854726"/>
            <a:ext cx="660654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3"/>
              </a:lnSpc>
              <a:buNone/>
            </a:pPr>
            <a:r>
              <a:rPr lang="en-US" sz="1950" dirty="0">
                <a:solidFill>
                  <a:srgbClr val="6E6759"/>
                </a:solidFill>
                <a:highlight>
                  <a:srgbClr val="E5DBCA"/>
                </a:highlight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「內心戲」是比喻。畫面上看到的是模型生成的 </a:t>
            </a:r>
            <a:pPr algn="l" indent="0" marL="0">
              <a:lnSpc>
                <a:spcPct val="113973"/>
              </a:lnSpc>
              <a:buNone/>
            </a:pPr>
            <a:r>
              <a:rPr lang="en-US" sz="1950" b="1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推理軌跡 </a:t>
            </a:r>
            <a:pPr algn="l" indent="0" marL="0">
              <a:lnSpc>
                <a:spcPct val="113973"/>
              </a:lnSpc>
              <a:buNone/>
            </a:pPr>
            <a:r>
              <a:rPr lang="en-US" sz="1950" dirty="0">
                <a:solidFill>
                  <a:srgbClr val="6E6759"/>
                </a:solidFill>
                <a:highlight>
                  <a:srgbClr val="E5DBCA"/>
                </a:highlight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，不等於讀到神經網路內部全部真實的計算。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REASONING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667000"/>
            <a:ext cx="1793748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可見的推理，不等於真正透明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3878535"/>
            <a:ext cx="12008358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Chain-of-Thought 本身也是模型生成的文字。它可能是解題過程的一部分，也可能只是模型替答案整理出來的說明。所以看到推理之後，我們還要問：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5333926"/>
            <a:ext cx="28575" cy="42862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5333926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每個步驟是否符合已知事實？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91650" y="5333926"/>
            <a:ext cx="28575" cy="42862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0" name="Text 8"/>
          <p:cNvSpPr/>
          <p:nvPr/>
        </p:nvSpPr>
        <p:spPr>
          <a:xfrm>
            <a:off x="9629775" y="5333926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前後有沒有矛盾？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90600" y="5972101"/>
            <a:ext cx="28575" cy="42862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" y="5972101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計算能否重新驗證？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91650" y="5972101"/>
            <a:ext cx="28575" cy="42862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4" name="Text 12"/>
          <p:cNvSpPr/>
          <p:nvPr/>
        </p:nvSpPr>
        <p:spPr>
          <a:xfrm>
            <a:off x="9629775" y="5972101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引用的資料是否真的存在？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90600" y="6610276"/>
            <a:ext cx="28575" cy="42862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6610276"/>
            <a:ext cx="8458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改一個條件，推論會合理地跟著變嗎？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90600" y="7458001"/>
            <a:ext cx="28575" cy="4572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47775" y="7458001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它讓我們多了一個可以觀察的對象，但沒有讓查核責任消失。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774156"/>
            <a:ext cx="92621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今天走過的三段路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364831"/>
            <a:ext cx="84201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726656"/>
            <a:ext cx="5135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637481" y="3779044"/>
            <a:ext cx="637474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任務從訓練流程，移進了我們提供的 Context。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90600" y="5222081"/>
            <a:ext cx="84201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4583906"/>
            <a:ext cx="56755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691506" y="4636294"/>
            <a:ext cx="668464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資料清理的每個決定，都在決定模型會學到什麼。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90600" y="5441156"/>
            <a:ext cx="5647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688678" y="5493544"/>
            <a:ext cx="624712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要求 AI 拆解問題，其實也在練習自己的思考。</a:t>
            </a:r>
            <a:endParaRPr lang="en-US" sz="217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6193631"/>
            <a:ext cx="1428750" cy="154781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020300" y="1407319"/>
            <a:ext cx="7277100" cy="77009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3"/>
          <p:cNvSpPr/>
          <p:nvPr/>
        </p:nvSpPr>
        <p:spPr>
          <a:xfrm>
            <a:off x="10325100" y="1654969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325100" y="2035969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Radford, A., et al. (2018).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Improving Language Understanding by Generative Pre-Training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325100" y="2845594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Radford, A., et al. (2019).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Models are Unsupervised Multitask Learners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325100" y="3655219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Brown, T. B., et al. (2020).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Models are Few-Shot Learners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arXiv:2005.14165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325100" y="4464844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Kaplan, J., et al. (2020).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Laws for Neural Language Models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arXiv:2001.08361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325100" y="5274469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Hoffmann, J., et al. (2022).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Compute-Optimal Large Language Models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arXiv:2203.15556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325100" y="6084094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Wei, J., et al. (2022).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 Prompting Elicits Reasoning in LLMs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arXiv:2201.11903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325100" y="6893719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Kojima, T., et al. (2022).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Language Models are Zero-Shot Reasoners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arXiv:2205.11916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325100" y="7703344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DeepSeek-AI. (2025).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DeepSeek-R1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arXiv:2501.12948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325100" y="8165306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Lanham, T., et al. (2023).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Faithfulness in Chain-of-Thought Reasoning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arXiv:2307.13702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90600" y="93440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05950"/>
            <a:ext cx="1277615" cy="2476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7065079" y="953928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2026-08-10T12:02:34Z</dcterms:created>
  <dcterms:modified xsi:type="dcterms:W3CDTF">2026-08-10T12:02:34Z</dcterms:modified>
</cp:coreProperties>
</file>