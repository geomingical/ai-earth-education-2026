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319" r:id="rId2"/>
    <p:sldId id="256" r:id="rId3"/>
    <p:sldId id="311" r:id="rId4"/>
    <p:sldId id="257" r:id="rId5"/>
    <p:sldId id="258" r:id="rId6"/>
    <p:sldId id="305" r:id="rId7"/>
    <p:sldId id="288" r:id="rId8"/>
    <p:sldId id="293" r:id="rId9"/>
    <p:sldId id="292" r:id="rId10"/>
    <p:sldId id="259" r:id="rId11"/>
    <p:sldId id="260" r:id="rId12"/>
    <p:sldId id="303" r:id="rId13"/>
    <p:sldId id="298" r:id="rId14"/>
    <p:sldId id="302" r:id="rId15"/>
    <p:sldId id="309" r:id="rId16"/>
    <p:sldId id="316" r:id="rId17"/>
    <p:sldId id="261" r:id="rId18"/>
    <p:sldId id="310" r:id="rId19"/>
    <p:sldId id="264" r:id="rId20"/>
    <p:sldId id="312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315" r:id="rId39"/>
    <p:sldId id="283" r:id="rId40"/>
    <p:sldId id="313" r:id="rId41"/>
    <p:sldId id="314" r:id="rId42"/>
    <p:sldId id="284" r:id="rId43"/>
    <p:sldId id="318" r:id="rId4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47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>
        <p:scale>
          <a:sx n="67" d="100"/>
          <a:sy n="67" d="100"/>
        </p:scale>
        <p:origin x="1192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6518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自我介紹：非資工背景的學習者。今天不是工具教學，而是把學 AI 當成練習提問與判斷的場域。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分鐘：前 15 分鐘談學習方法，後 35 分鐘拆 Transformer。中途會實際打開 Transformer Explainer。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章節頁。先問聽眾：你為什麼今天會坐在這裡？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重點不是恐嚇，而是：知識吸收速度成為新的門檻。所以要練的是學習方法。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這個節奏會在後面反覆回來。今天講 Transformer 時，也請大家用這個節奏跟著想。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重點不是恐嚇，而是：知識吸收速度成為新的門檻。所以要練的是學習方法。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簡立峰在全國大學校長會議的分享，天下雜誌 2026-02-24。強調：不可外包的是提問與品味。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重點不是恐嚇，而是：知識吸收速度成為新的門檻。所以要練的是學習方法。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重點不是恐嚇，而是：知識吸收速度成為新的門檻。所以要練的是學習方法。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不是最重要的四個，是我學 AI 路上反覆被拿出來用的四個。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不是最重要的四個，是我學 AI 路上反覆被拿出來用的四個。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重點不是恐嚇，而是：知識吸收速度成為新的門檻。所以要練的是學習方法。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知識本來互相牽連，沒有起點終點；但人只能一天一天走。所以要接受：先走一條線，再回頭補網。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Pathsmith / America Succeeds 的 Durable Skills 框架，李海碩總校長演講中看到。這是全體職場需求的地圖，不是個人檢核表。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不是最重要的四個，是我學 AI 路上反覆被拿出來用的四個。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章節頁。說明：這系列提到 AI 時，主要指以 LLM 為核心的生成式 AI。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兩句都沒錯，但問題藏在裡面：怎麼接？怎麼預測？這就是今天要補的中間那一段。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可以誠實說：第一次看到經典架構圖，我的感想是這在測試一個人會不會立刻關掉分頁。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這頁是全場的骨架。後面每一頁都可以回來對照現在講到哪一段。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現場可以打開 OpenAI Tokenizer，貼這句中文看看被切成幾個 Token。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為什麼不直接替每個單字編號？詞彙表會膨脹；全部拆字元又太長。所以取中間。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編號 8000 不比 2000 聰明。翻譯員換人，置物櫃編號也會跟著換——所以不同工具的 Token ID 不能互相比較。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這四步是輸入端的全部。請大家記住這條線，後面出錯時就知道問題出在哪一段。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同樣的字，不同順序，新聞價值差很多。所以要加位置資訊。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GPT 這類生成模型會用遮罩，避免偷看未來的答案——考試先看答案就不叫預測了。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用搜尋引擎類比。Github 上的 ipynb 有簡單的 QKV 展示，有興趣可以自己跑。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章節頁。接下來會實際打開 Transformer Explainer（GPT-2 Small，約 1.24 億參數）。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Logits → Temperature / Top-k → Softmax → 機率分布。不用背公式，先知道順序。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切到瀏覽器。Temperature = 1.0、Top-k = 5。強調：empowers 被拆成 em / powers，一句話變成六個 Token。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47.36% 不代表跑 100 次就出現 47 次。是大量取樣下的比例，機率不會準時打卡。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Top-k 不是叫模型只認識兩個字。模型仍替整個詞彙表打分數，只是最後取樣前把名單縮短。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低溫不等於正確，高溫不等於創造力。Temperature 不會替模型增加知識，也不是把幻覺關掉的旋鈕。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留 1-2 分鐘讓聽眾回答。醫療、法律、防災等領域仍需回到可靠來源與領域專家。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留 1-2 分鐘讓聽眾回答。醫療、法律、防災等領域仍需回到可靠來源與領域專家。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留 1-2 分鐘讓聽眾回答。醫療、法律、防災等領域仍需回到可靠來源與領域專家。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收束：把今天的技術內容，接回開場的四個能力。可以請聽眾回答自己今天用到了哪一個。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課後練習：貼自己的句子到 Tokenizer；用 Explainer 調參數；跑 day2.ipynb 的 QKV 與取樣實驗。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technice.com.tw/issues/ai/284900/" TargetMode="Externa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poloclub.github.io/transformer-explainer/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poloclub.github.io/transformer-explainer/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79FF483-2D96-A47D-C7F3-C8B40B7272E7}"/>
              </a:ext>
            </a:extLst>
          </p:cNvPr>
          <p:cNvSpPr txBox="1"/>
          <p:nvPr/>
        </p:nvSpPr>
        <p:spPr>
          <a:xfrm>
            <a:off x="1172907" y="3894088"/>
            <a:ext cx="15942185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" altLang="zh-TW" sz="6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Google </a:t>
            </a:r>
            <a:r>
              <a:rPr kumimoji="1" lang="en" altLang="zh-TW" sz="6000" b="1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lyria</a:t>
            </a:r>
            <a:r>
              <a:rPr kumimoji="1" lang="en" altLang="zh-TW" sz="6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3.5</a:t>
            </a:r>
            <a:r>
              <a:rPr kumimoji="1" lang="zh-TW" altLang="en-US" sz="6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模型</a:t>
            </a:r>
            <a:r>
              <a:rPr kumimoji="1" lang="en" altLang="zh-TW" sz="6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zh-TW" altLang="en-US" sz="6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所製作的</a:t>
            </a:r>
            <a:r>
              <a:rPr kumimoji="1" lang="en-US" altLang="zh-TW" sz="6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AI X Earth</a:t>
            </a:r>
            <a:r>
              <a:rPr kumimoji="1" lang="zh-TW" altLang="en-US" sz="6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音樂</a:t>
            </a:r>
            <a:endParaRPr kumimoji="1" lang="en-US" altLang="zh-TW" sz="60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endParaRPr kumimoji="1" lang="en-US" altLang="zh-TW" sz="60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kumimoji="1" lang="en-US" altLang="zh-TW" sz="6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19:02</a:t>
            </a:r>
            <a:r>
              <a:rPr kumimoji="1" lang="zh-TW" altLang="en-US" sz="6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開始</a:t>
            </a:r>
            <a:r>
              <a:rPr kumimoji="1" lang="en-US" altLang="zh-TW" sz="6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endParaRPr kumimoji="1" lang="zh-TW" altLang="en-US" sz="60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02023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58C6EB00-5F72-8A40-BD2D-D5C2C19402D3}"/>
              </a:ext>
            </a:extLst>
          </p:cNvPr>
          <p:cNvSpPr/>
          <p:nvPr/>
        </p:nvSpPr>
        <p:spPr>
          <a:xfrm>
            <a:off x="12827000" y="2032000"/>
            <a:ext cx="4470400" cy="6045200"/>
          </a:xfrm>
          <a:prstGeom prst="rect">
            <a:avLst/>
          </a:prstGeom>
          <a:solidFill>
            <a:srgbClr val="E7DD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" name="Shape 0"/>
          <p:cNvSpPr/>
          <p:nvPr/>
        </p:nvSpPr>
        <p:spPr>
          <a:xfrm>
            <a:off x="990600" y="1566863"/>
            <a:ext cx="16306800" cy="19050"/>
          </a:xfrm>
          <a:prstGeom prst="rect">
            <a:avLst/>
          </a:prstGeom>
          <a:solidFill>
            <a:srgbClr val="14151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990600" y="685800"/>
            <a:ext cx="3302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96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LECTURE · 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097000" y="698500"/>
            <a:ext cx="3200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kern="0" spc="396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 LECTURE 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097000" y="1041400"/>
            <a:ext cx="3200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kern="0" spc="396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LEARNING × LLM</a:t>
            </a:r>
            <a:endParaRPr lang="en-US" sz="18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7400" y="3378200"/>
            <a:ext cx="3149600" cy="341206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990600" y="9305925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9467850"/>
            <a:ext cx="1474143" cy="285750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34F5A587-6686-824C-A8C9-ABA98D244FA5}"/>
              </a:ext>
            </a:extLst>
          </p:cNvPr>
          <p:cNvSpPr txBox="1"/>
          <p:nvPr/>
        </p:nvSpPr>
        <p:spPr>
          <a:xfrm>
            <a:off x="13208000" y="23749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300" b="1">
                <a:solidFill>
                  <a:srgbClr val="C8492E"/>
                </a:solidFill>
                <a:latin typeface="Courier New"/>
                <a:cs typeface="Courier New"/>
              </a:rPr>
              <a:t>AI × EARTH</a:t>
            </a:r>
            <a:endParaRPr lang="zh-TW" altLang="en-US" sz="1300" b="1">
              <a:solidFill>
                <a:srgbClr val="C8492E"/>
              </a:solidFill>
              <a:latin typeface="Courier New"/>
              <a:cs typeface="Courier New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6B4761B-1AE9-EF47-A0FA-2CAF718343CB}"/>
              </a:ext>
            </a:extLst>
          </p:cNvPr>
          <p:cNvSpPr txBox="1"/>
          <p:nvPr/>
        </p:nvSpPr>
        <p:spPr>
          <a:xfrm>
            <a:off x="13208000" y="26670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300">
                <a:solidFill>
                  <a:srgbClr val="746D64"/>
                </a:solidFill>
                <a:latin typeface="Courier New"/>
                <a:cs typeface="Courier New"/>
              </a:rPr>
              <a:t>EDUCATION</a:t>
            </a:r>
            <a:endParaRPr lang="zh-TW" altLang="en-US" sz="1300">
              <a:solidFill>
                <a:srgbClr val="746D64"/>
              </a:solidFill>
              <a:latin typeface="Courier New"/>
              <a:cs typeface="Courier New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A9C41BE-E9C9-9144-912B-E0639B8C61BD}"/>
              </a:ext>
            </a:extLst>
          </p:cNvPr>
          <p:cNvSpPr/>
          <p:nvPr/>
        </p:nvSpPr>
        <p:spPr>
          <a:xfrm>
            <a:off x="13335000" y="7086600"/>
            <a:ext cx="3454400" cy="584200"/>
          </a:xfrm>
          <a:prstGeom prst="rect">
            <a:avLst/>
          </a:prstGeom>
          <a:solidFill>
            <a:srgbClr val="17171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9825BCCF-5534-0345-AFEA-F65E3C7C7091}"/>
              </a:ext>
            </a:extLst>
          </p:cNvPr>
          <p:cNvSpPr txBox="1"/>
          <p:nvPr/>
        </p:nvSpPr>
        <p:spPr>
          <a:xfrm>
            <a:off x="13563600" y="7200900"/>
            <a:ext cx="29972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400" b="1">
                <a:solidFill>
                  <a:srgbClr val="F3EBDD"/>
                </a:solidFill>
                <a:latin typeface="Courier New"/>
                <a:cs typeface="Courier New"/>
              </a:rPr>
              <a:t>CHANG JUI-MING</a:t>
            </a:r>
            <a:endParaRPr lang="zh-TW" altLang="en-US" sz="1400" b="1">
              <a:solidFill>
                <a:srgbClr val="F3EBDD"/>
              </a:solidFill>
              <a:latin typeface="Courier New"/>
              <a:cs typeface="Courier New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727ACD96-8051-AF43-BBA6-4D7B8C3D7531}"/>
              </a:ext>
            </a:extLst>
          </p:cNvPr>
          <p:cNvSpPr txBox="1"/>
          <p:nvPr/>
        </p:nvSpPr>
        <p:spPr>
          <a:xfrm>
            <a:off x="990600" y="2209800"/>
            <a:ext cx="3302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500" b="1">
                <a:solidFill>
                  <a:srgbClr val="C8492E"/>
                </a:solidFill>
                <a:latin typeface="Courier New"/>
                <a:cs typeface="Courier New"/>
              </a:rPr>
              <a:t>課程前言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481C3594-2521-B648-AFF7-4AD3CCCF699F}"/>
              </a:ext>
            </a:extLst>
          </p:cNvPr>
          <p:cNvSpPr txBox="1"/>
          <p:nvPr/>
        </p:nvSpPr>
        <p:spPr>
          <a:xfrm>
            <a:off x="990600" y="2717800"/>
            <a:ext cx="10541000" cy="990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4200" b="1" dirty="0">
                <a:solidFill>
                  <a:srgbClr val="171719"/>
                </a:solidFill>
                <a:latin typeface="Microsoft JhengHei"/>
                <a:ea typeface="Microsoft JhengHei"/>
              </a:rPr>
              <a:t>為什麼要學 </a:t>
            </a:r>
            <a:r>
              <a:rPr lang="en" altLang="zh-TW" sz="4200" b="1" dirty="0">
                <a:solidFill>
                  <a:srgbClr val="171719"/>
                </a:solidFill>
                <a:latin typeface="Microsoft JhengHei"/>
                <a:ea typeface="Microsoft JhengHei"/>
              </a:rPr>
              <a:t>AI</a:t>
            </a:r>
            <a:r>
              <a:rPr lang="zh-TW" altLang="en" sz="4200" b="1" dirty="0">
                <a:solidFill>
                  <a:srgbClr val="171719"/>
                </a:solidFill>
                <a:latin typeface="Microsoft JhengHei"/>
                <a:ea typeface="Microsoft JhengHei"/>
              </a:rPr>
              <a:t>？</a:t>
            </a:r>
            <a:endParaRPr lang="zh-TW" altLang="en-US" sz="4200" b="1" dirty="0">
              <a:solidFill>
                <a:srgbClr val="171719"/>
              </a:solidFill>
              <a:latin typeface="Microsoft JhengHei"/>
              <a:ea typeface="Microsoft JhengHei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8189EBA6-09BC-3F4C-84DB-86E2B27E58C9}"/>
              </a:ext>
            </a:extLst>
          </p:cNvPr>
          <p:cNvSpPr txBox="1"/>
          <p:nvPr/>
        </p:nvSpPr>
        <p:spPr>
          <a:xfrm>
            <a:off x="990600" y="3810000"/>
            <a:ext cx="10922000" cy="149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2900" b="1" dirty="0">
                <a:solidFill>
                  <a:srgbClr val="171719"/>
                </a:solidFill>
                <a:latin typeface="Microsoft JhengHei"/>
                <a:ea typeface="Microsoft JhengHei"/>
              </a:rPr>
              <a:t>從 </a:t>
            </a:r>
            <a:r>
              <a:rPr lang="en" altLang="zh-TW" sz="2900" b="1" dirty="0">
                <a:solidFill>
                  <a:srgbClr val="171719"/>
                </a:solidFill>
                <a:latin typeface="Microsoft JhengHei"/>
                <a:ea typeface="Microsoft JhengHei"/>
              </a:rPr>
              <a:t>Transformer </a:t>
            </a:r>
            <a:r>
              <a:rPr lang="zh-TW" altLang="en-US" sz="2900" b="1" dirty="0">
                <a:solidFill>
                  <a:srgbClr val="171719"/>
                </a:solidFill>
                <a:latin typeface="Microsoft JhengHei"/>
                <a:ea typeface="Microsoft JhengHei"/>
              </a:rPr>
              <a:t>開始，
看懂模型如何預測下一個 </a:t>
            </a:r>
            <a:r>
              <a:rPr lang="en" altLang="zh-TW" sz="2900" b="1" dirty="0">
                <a:solidFill>
                  <a:srgbClr val="171719"/>
                </a:solidFill>
                <a:latin typeface="Microsoft JhengHei"/>
                <a:ea typeface="Microsoft JhengHei"/>
              </a:rPr>
              <a:t>Token</a:t>
            </a:r>
            <a:endParaRPr lang="zh-TW" altLang="en-US" sz="2900" b="1" dirty="0">
              <a:solidFill>
                <a:srgbClr val="171719"/>
              </a:solidFill>
              <a:latin typeface="Microsoft JhengHei"/>
              <a:ea typeface="Microsoft Jheng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DBD2CC3-1917-B644-8BFF-2D14D1E257A6}"/>
              </a:ext>
            </a:extLst>
          </p:cNvPr>
          <p:cNvSpPr/>
          <p:nvPr/>
        </p:nvSpPr>
        <p:spPr>
          <a:xfrm>
            <a:off x="990600" y="5702300"/>
            <a:ext cx="914400" cy="38100"/>
          </a:xfrm>
          <a:prstGeom prst="rect">
            <a:avLst/>
          </a:prstGeom>
          <a:solidFill>
            <a:srgbClr val="C849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E80AB362-F869-7443-A79B-59D63C6A6CAB}"/>
              </a:ext>
            </a:extLst>
          </p:cNvPr>
          <p:cNvSpPr txBox="1"/>
          <p:nvPr/>
        </p:nvSpPr>
        <p:spPr>
          <a:xfrm>
            <a:off x="990600" y="5994400"/>
            <a:ext cx="9906000" cy="965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dirty="0">
                <a:solidFill>
                  <a:srgbClr val="746D64"/>
                </a:solidFill>
                <a:latin typeface="Microsoft JhengHei"/>
                <a:ea typeface="Microsoft JhengHei"/>
              </a:rPr>
              <a:t>在 </a:t>
            </a:r>
            <a:r>
              <a:rPr lang="en" altLang="zh-TW" dirty="0">
                <a:solidFill>
                  <a:srgbClr val="746D64"/>
                </a:solidFill>
                <a:latin typeface="Microsoft JhengHei"/>
                <a:ea typeface="Microsoft JhengHei"/>
              </a:rPr>
              <a:t>AI </a:t>
            </a:r>
            <a:r>
              <a:rPr lang="zh-TW" altLang="en-US" dirty="0">
                <a:solidFill>
                  <a:srgbClr val="746D64"/>
                </a:solidFill>
                <a:latin typeface="Microsoft JhengHei"/>
                <a:ea typeface="Microsoft JhengHei"/>
              </a:rPr>
              <a:t>什麼都能回答的時代，先把知識網走成一條線；
再從 </a:t>
            </a:r>
            <a:r>
              <a:rPr lang="en" altLang="zh-TW" dirty="0">
                <a:solidFill>
                  <a:srgbClr val="746D64"/>
                </a:solidFill>
                <a:latin typeface="Microsoft JhengHei"/>
                <a:ea typeface="Microsoft JhengHei"/>
              </a:rPr>
              <a:t>Transformer </a:t>
            </a:r>
            <a:r>
              <a:rPr lang="zh-TW" altLang="en-US" dirty="0">
                <a:solidFill>
                  <a:srgbClr val="746D64"/>
                </a:solidFill>
                <a:latin typeface="Microsoft JhengHei"/>
                <a:ea typeface="Microsoft JhengHei"/>
              </a:rPr>
              <a:t>開始，看懂它到底在猜什麼。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2B22A6F7-C0F5-3749-881F-D65DB3559393}"/>
              </a:ext>
            </a:extLst>
          </p:cNvPr>
          <p:cNvSpPr txBox="1"/>
          <p:nvPr/>
        </p:nvSpPr>
        <p:spPr>
          <a:xfrm>
            <a:off x="990600" y="7467600"/>
            <a:ext cx="1651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700" b="1" dirty="0">
                <a:solidFill>
                  <a:srgbClr val="171719"/>
                </a:solidFill>
                <a:latin typeface="Microsoft JhengHei"/>
                <a:ea typeface="Microsoft JhengHei"/>
              </a:rPr>
              <a:t>張睿明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990A0663-BAC5-0444-9AC4-770EE59764BA}"/>
              </a:ext>
            </a:extLst>
          </p:cNvPr>
          <p:cNvSpPr txBox="1"/>
          <p:nvPr/>
        </p:nvSpPr>
        <p:spPr>
          <a:xfrm>
            <a:off x="2794000" y="7467600"/>
            <a:ext cx="43688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500">
                <a:solidFill>
                  <a:srgbClr val="746D64"/>
                </a:solidFill>
                <a:latin typeface="Courier New"/>
                <a:cs typeface="Courier New"/>
              </a:rPr>
              <a:t>AIMing Data  /  AI Earth</a:t>
            </a:r>
            <a:endParaRPr lang="zh-TW" altLang="en-US" sz="1500">
              <a:solidFill>
                <a:srgbClr val="746D64"/>
              </a:solidFill>
              <a:latin typeface="Courier New"/>
              <a:cs typeface="Courier New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0464A6BB-B155-984D-A95D-A3E71A926AC2}"/>
              </a:ext>
            </a:extLst>
          </p:cNvPr>
          <p:cNvSpPr txBox="1"/>
          <p:nvPr/>
        </p:nvSpPr>
        <p:spPr>
          <a:xfrm>
            <a:off x="16637000" y="94488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>
                <a:solidFill>
                  <a:srgbClr val="8A8175"/>
                </a:solidFill>
                <a:latin typeface="Courier New"/>
                <a:cs typeface="Courier New"/>
              </a:rPr>
              <a:t>01</a:t>
            </a:r>
            <a:endParaRPr lang="zh-TW" altLang="en-US" sz="1600" b="1">
              <a:solidFill>
                <a:srgbClr val="8A8175"/>
              </a:solidFill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BF8AD52-6A9B-DB43-91F4-023AD6F3382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EB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09BFCA2-4B14-4E4D-9A36-1194F9BA86BA}"/>
              </a:ext>
            </a:extLst>
          </p:cNvPr>
          <p:cNvSpPr txBox="1"/>
          <p:nvPr/>
        </p:nvSpPr>
        <p:spPr>
          <a:xfrm>
            <a:off x="889000" y="6350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500">
                <a:solidFill>
                  <a:srgbClr val="C8492E"/>
                </a:solidFill>
                <a:latin typeface="Courier New"/>
                <a:cs typeface="Courier New"/>
              </a:rPr>
              <a:t>BEFORE WE START</a:t>
            </a:r>
            <a:endParaRPr lang="zh-TW" altLang="en-US" sz="1500">
              <a:solidFill>
                <a:srgbClr val="C8492E"/>
              </a:solidFill>
              <a:latin typeface="Courier New"/>
              <a:cs typeface="Courier New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FED3066-F89A-1C48-80BE-A91D7DC9D205}"/>
              </a:ext>
            </a:extLst>
          </p:cNvPr>
          <p:cNvSpPr txBox="1"/>
          <p:nvPr/>
        </p:nvSpPr>
        <p:spPr>
          <a:xfrm>
            <a:off x="13843000" y="635000"/>
            <a:ext cx="3556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500">
                <a:solidFill>
                  <a:srgbClr val="746D64"/>
                </a:solidFill>
                <a:latin typeface="Courier New"/>
                <a:cs typeface="Courier New"/>
              </a:rPr>
              <a:t>PERSONAL VIEW</a:t>
            </a:r>
            <a:endParaRPr lang="zh-TW" altLang="en-US" sz="1500">
              <a:solidFill>
                <a:srgbClr val="746D64"/>
              </a:solidFill>
              <a:latin typeface="Courier New"/>
              <a:cs typeface="Courier New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59E33E4-D225-3141-AFFC-37C650FD00C0}"/>
              </a:ext>
            </a:extLst>
          </p:cNvPr>
          <p:cNvSpPr/>
          <p:nvPr/>
        </p:nvSpPr>
        <p:spPr>
          <a:xfrm>
            <a:off x="889000" y="1384300"/>
            <a:ext cx="16510000" cy="19050"/>
          </a:xfrm>
          <a:prstGeom prst="rect">
            <a:avLst/>
          </a:prstGeom>
          <a:solidFill>
            <a:srgbClr val="17171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412291F-6303-4740-908B-657F627F585C}"/>
              </a:ext>
            </a:extLst>
          </p:cNvPr>
          <p:cNvSpPr txBox="1"/>
          <p:nvPr/>
        </p:nvSpPr>
        <p:spPr>
          <a:xfrm>
            <a:off x="889000" y="1676400"/>
            <a:ext cx="1371600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3400" b="1" dirty="0">
                <a:solidFill>
                  <a:srgbClr val="171719"/>
                </a:solidFill>
                <a:latin typeface="Microsoft JhengHei"/>
                <a:ea typeface="Microsoft JhengHei"/>
              </a:rPr>
              <a:t>站在應用與理論之間，分享親自走過的路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2BEEEC7-60DD-4B43-AD18-F609E38228E2}"/>
              </a:ext>
            </a:extLst>
          </p:cNvPr>
          <p:cNvSpPr txBox="1"/>
          <p:nvPr/>
        </p:nvSpPr>
        <p:spPr>
          <a:xfrm>
            <a:off x="889000" y="2565400"/>
            <a:ext cx="137160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>
                <a:solidFill>
                  <a:srgbClr val="746D64"/>
                </a:solidFill>
                <a:latin typeface="Microsoft JhengHei"/>
                <a:ea typeface="Microsoft JhengHei"/>
              </a:rPr>
              <a:t>AI × EARTH </a:t>
            </a:r>
            <a:r>
              <a:rPr lang="zh-TW" altLang="en-US">
                <a:solidFill>
                  <a:srgbClr val="746D64"/>
                </a:solidFill>
                <a:latin typeface="Microsoft JhengHei"/>
                <a:ea typeface="Microsoft JhengHei"/>
              </a:rPr>
              <a:t>以兩種活動形式，讓知識被解釋、被交流，也被持續修正。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BC98DB8-8289-5C42-A9D9-DADFF069C55F}"/>
              </a:ext>
            </a:extLst>
          </p:cNvPr>
          <p:cNvSpPr txBox="1"/>
          <p:nvPr/>
        </p:nvSpPr>
        <p:spPr>
          <a:xfrm>
            <a:off x="889000" y="33655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400" b="1">
                <a:solidFill>
                  <a:srgbClr val="C8492E"/>
                </a:solidFill>
                <a:latin typeface="Courier New"/>
                <a:cs typeface="Courier New"/>
              </a:rPr>
              <a:t>AI × EARTH</a:t>
            </a:r>
            <a:endParaRPr lang="zh-TW" altLang="en-US" sz="1400" b="1">
              <a:solidFill>
                <a:srgbClr val="C8492E"/>
              </a:solidFill>
              <a:latin typeface="Courier New"/>
              <a:cs typeface="Courier New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13286F2-9E9A-6247-9B7F-1D7972E64DD1}"/>
              </a:ext>
            </a:extLst>
          </p:cNvPr>
          <p:cNvSpPr/>
          <p:nvPr/>
        </p:nvSpPr>
        <p:spPr>
          <a:xfrm>
            <a:off x="889000" y="3848100"/>
            <a:ext cx="6604000" cy="1371600"/>
          </a:xfrm>
          <a:prstGeom prst="rect">
            <a:avLst/>
          </a:prstGeom>
          <a:solidFill>
            <a:srgbClr val="FFFDF8"/>
          </a:solidFill>
          <a:ln w="12700" cap="flat" cmpd="sng" algn="ctr">
            <a:solidFill>
              <a:srgbClr val="CFC3B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C2010FF-A031-1C41-AA8A-00447B7BAE2D}"/>
              </a:ext>
            </a:extLst>
          </p:cNvPr>
          <p:cNvSpPr txBox="1"/>
          <p:nvPr/>
        </p:nvSpPr>
        <p:spPr>
          <a:xfrm>
            <a:off x="1219200" y="4051300"/>
            <a:ext cx="2159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400" b="1">
                <a:solidFill>
                  <a:srgbClr val="C8492E"/>
                </a:solidFill>
                <a:latin typeface="Courier New"/>
                <a:cs typeface="Courier New"/>
              </a:rPr>
              <a:t>EDUCATION</a:t>
            </a:r>
            <a:endParaRPr lang="zh-TW" altLang="en-US" sz="1400" b="1">
              <a:solidFill>
                <a:srgbClr val="C8492E"/>
              </a:solidFill>
              <a:latin typeface="Courier New"/>
              <a:cs typeface="Courier New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F9AEA1F-7363-4941-B039-051169B4E2B0}"/>
              </a:ext>
            </a:extLst>
          </p:cNvPr>
          <p:cNvSpPr txBox="1"/>
          <p:nvPr/>
        </p:nvSpPr>
        <p:spPr>
          <a:xfrm>
            <a:off x="1219200" y="4419600"/>
            <a:ext cx="2540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2400" b="1">
                <a:solidFill>
                  <a:srgbClr val="171719"/>
                </a:solidFill>
                <a:latin typeface="Microsoft JhengHei"/>
                <a:ea typeface="Microsoft JhengHei"/>
              </a:rPr>
              <a:t>Education</a:t>
            </a:r>
            <a:endParaRPr lang="zh-TW" altLang="en-US" sz="2400" b="1">
              <a:solidFill>
                <a:srgbClr val="171719"/>
              </a:solidFill>
              <a:latin typeface="Microsoft JhengHei"/>
              <a:ea typeface="Microsoft JhengHei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EE5011C-4376-2B4B-BE1E-128D8F9D9C6D}"/>
              </a:ext>
            </a:extLst>
          </p:cNvPr>
          <p:cNvSpPr txBox="1"/>
          <p:nvPr/>
        </p:nvSpPr>
        <p:spPr>
          <a:xfrm>
            <a:off x="3886200" y="4330700"/>
            <a:ext cx="31750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600">
                <a:solidFill>
                  <a:srgbClr val="746D64"/>
                </a:solidFill>
                <a:latin typeface="Microsoft JhengHei"/>
                <a:ea typeface="Microsoft JhengHei"/>
              </a:rPr>
              <a:t>整理脈絡，將複雜概念轉成可理解的學習路徑。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D372EB3-C827-844D-BD0C-BF6284B8BD72}"/>
              </a:ext>
            </a:extLst>
          </p:cNvPr>
          <p:cNvSpPr/>
          <p:nvPr/>
        </p:nvSpPr>
        <p:spPr>
          <a:xfrm>
            <a:off x="7747000" y="3848100"/>
            <a:ext cx="7112000" cy="1371600"/>
          </a:xfrm>
          <a:prstGeom prst="rect">
            <a:avLst/>
          </a:prstGeom>
          <a:solidFill>
            <a:srgbClr val="FFFDF8"/>
          </a:solidFill>
          <a:ln w="12700" cap="flat" cmpd="sng" algn="ctr">
            <a:solidFill>
              <a:srgbClr val="CFC3B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B1D231C-8945-944D-8E11-B7A322BAB418}"/>
              </a:ext>
            </a:extLst>
          </p:cNvPr>
          <p:cNvSpPr txBox="1"/>
          <p:nvPr/>
        </p:nvSpPr>
        <p:spPr>
          <a:xfrm>
            <a:off x="8077200" y="4051300"/>
            <a:ext cx="2159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400" b="1">
                <a:solidFill>
                  <a:srgbClr val="C8492E"/>
                </a:solidFill>
                <a:latin typeface="Courier New"/>
                <a:cs typeface="Courier New"/>
              </a:rPr>
              <a:t>COMMUNITY</a:t>
            </a:r>
            <a:endParaRPr lang="zh-TW" altLang="en-US" sz="1400" b="1">
              <a:solidFill>
                <a:srgbClr val="C8492E"/>
              </a:solidFill>
              <a:latin typeface="Courier New"/>
              <a:cs typeface="Courier New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79AED25-D7CB-334C-965C-E2B36DB0DA43}"/>
              </a:ext>
            </a:extLst>
          </p:cNvPr>
          <p:cNvSpPr txBox="1"/>
          <p:nvPr/>
        </p:nvSpPr>
        <p:spPr>
          <a:xfrm>
            <a:off x="8077200" y="4419600"/>
            <a:ext cx="2413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2400" b="1">
                <a:solidFill>
                  <a:srgbClr val="171719"/>
                </a:solidFill>
                <a:latin typeface="Microsoft JhengHei"/>
                <a:ea typeface="Microsoft JhengHei"/>
              </a:rPr>
              <a:t>Meet up</a:t>
            </a:r>
            <a:endParaRPr lang="zh-TW" altLang="en-US" sz="2400" b="1">
              <a:solidFill>
                <a:srgbClr val="171719"/>
              </a:solidFill>
              <a:latin typeface="Microsoft JhengHei"/>
              <a:ea typeface="Microsoft JhengHei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508C1A6-0FBA-C247-A195-D2FA2566016F}"/>
              </a:ext>
            </a:extLst>
          </p:cNvPr>
          <p:cNvSpPr txBox="1"/>
          <p:nvPr/>
        </p:nvSpPr>
        <p:spPr>
          <a:xfrm>
            <a:off x="10693400" y="4000500"/>
            <a:ext cx="37084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600" dirty="0">
                <a:solidFill>
                  <a:srgbClr val="746D64"/>
                </a:solidFill>
                <a:latin typeface="Microsoft JhengHei"/>
                <a:ea typeface="Microsoft JhengHei"/>
              </a:rPr>
              <a:t>集結產官學，建立共學平台。每次邀請三位</a:t>
            </a:r>
            <a:r>
              <a:rPr lang="en-US" altLang="zh-TW" sz="1600" dirty="0">
                <a:solidFill>
                  <a:srgbClr val="746D64"/>
                </a:solidFill>
                <a:latin typeface="Microsoft JhengHei"/>
                <a:ea typeface="Microsoft JhengHei"/>
              </a:rPr>
              <a:t>AI</a:t>
            </a:r>
            <a:r>
              <a:rPr lang="zh-TW" altLang="en-US" sz="1600" dirty="0">
                <a:solidFill>
                  <a:srgbClr val="746D64"/>
                </a:solidFill>
                <a:latin typeface="Microsoft JhengHei"/>
                <a:ea typeface="Microsoft JhengHei"/>
              </a:rPr>
              <a:t>賦能的專家來演講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CB14E74-A9F4-A347-9CF4-FC7E2196B86D}"/>
              </a:ext>
            </a:extLst>
          </p:cNvPr>
          <p:cNvSpPr txBox="1"/>
          <p:nvPr/>
        </p:nvSpPr>
        <p:spPr>
          <a:xfrm>
            <a:off x="889000" y="5651500"/>
            <a:ext cx="2413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300">
                <a:solidFill>
                  <a:srgbClr val="746D64"/>
                </a:solidFill>
                <a:latin typeface="Courier New"/>
                <a:cs typeface="Courier New"/>
              </a:rPr>
              <a:t>APPLICATION</a:t>
            </a:r>
            <a:endParaRPr lang="zh-TW" altLang="en-US" sz="1300">
              <a:solidFill>
                <a:srgbClr val="746D64"/>
              </a:solidFill>
              <a:latin typeface="Courier New"/>
              <a:cs typeface="Courier New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D69B546D-F01A-1B4B-9203-F0E96EE92DA3}"/>
              </a:ext>
            </a:extLst>
          </p:cNvPr>
          <p:cNvSpPr txBox="1"/>
          <p:nvPr/>
        </p:nvSpPr>
        <p:spPr>
          <a:xfrm>
            <a:off x="15367000" y="5651500"/>
            <a:ext cx="2032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300">
                <a:solidFill>
                  <a:srgbClr val="746D64"/>
                </a:solidFill>
                <a:latin typeface="Courier New"/>
                <a:cs typeface="Courier New"/>
              </a:rPr>
              <a:t>THEORY</a:t>
            </a:r>
            <a:endParaRPr lang="zh-TW" altLang="en-US" sz="1300">
              <a:solidFill>
                <a:srgbClr val="746D64"/>
              </a:solidFill>
              <a:latin typeface="Courier New"/>
              <a:cs typeface="Courier New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8E74A34-D104-464F-A081-028C50F33657}"/>
              </a:ext>
            </a:extLst>
          </p:cNvPr>
          <p:cNvSpPr/>
          <p:nvPr/>
        </p:nvSpPr>
        <p:spPr>
          <a:xfrm>
            <a:off x="889000" y="6172200"/>
            <a:ext cx="16510000" cy="25400"/>
          </a:xfrm>
          <a:prstGeom prst="rect">
            <a:avLst/>
          </a:prstGeom>
          <a:solidFill>
            <a:srgbClr val="CFC3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86F77CA8-B2F4-8743-894C-E71842A40E6A}"/>
              </a:ext>
            </a:extLst>
          </p:cNvPr>
          <p:cNvSpPr/>
          <p:nvPr/>
        </p:nvSpPr>
        <p:spPr>
          <a:xfrm>
            <a:off x="812800" y="6108700"/>
            <a:ext cx="152400" cy="152400"/>
          </a:xfrm>
          <a:prstGeom prst="ellipse">
            <a:avLst/>
          </a:prstGeom>
          <a:solidFill>
            <a:srgbClr val="F3EBDD"/>
          </a:solidFill>
          <a:ln w="19050" cap="flat" cmpd="sng" algn="ctr">
            <a:solidFill>
              <a:srgbClr val="746D6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D2DF0230-B3AF-2941-87E3-30C43544CF3A}"/>
              </a:ext>
            </a:extLst>
          </p:cNvPr>
          <p:cNvSpPr/>
          <p:nvPr/>
        </p:nvSpPr>
        <p:spPr>
          <a:xfrm>
            <a:off x="17322800" y="6108700"/>
            <a:ext cx="152400" cy="152400"/>
          </a:xfrm>
          <a:prstGeom prst="ellipse">
            <a:avLst/>
          </a:prstGeom>
          <a:solidFill>
            <a:srgbClr val="F3EBDD"/>
          </a:solidFill>
          <a:ln w="19050" cap="flat" cmpd="sng" algn="ctr">
            <a:solidFill>
              <a:srgbClr val="746D6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D1B4B5B3-4B57-1240-8388-06942698748D}"/>
              </a:ext>
            </a:extLst>
          </p:cNvPr>
          <p:cNvSpPr txBox="1"/>
          <p:nvPr/>
        </p:nvSpPr>
        <p:spPr>
          <a:xfrm>
            <a:off x="7175500" y="5740400"/>
            <a:ext cx="3937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400" b="1">
                <a:solidFill>
                  <a:srgbClr val="C8492E"/>
                </a:solidFill>
                <a:latin typeface="Microsoft JhengHei"/>
                <a:ea typeface="Microsoft JhengHei"/>
              </a:rPr>
              <a:t>我的經驗位於兩端之間</a:t>
            </a: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3A3743CD-0B6E-234F-B44C-8214D4555C4A}"/>
              </a:ext>
            </a:extLst>
          </p:cNvPr>
          <p:cNvSpPr/>
          <p:nvPr/>
        </p:nvSpPr>
        <p:spPr>
          <a:xfrm>
            <a:off x="4584700" y="6070600"/>
            <a:ext cx="228600" cy="228600"/>
          </a:xfrm>
          <a:prstGeom prst="ellipse">
            <a:avLst/>
          </a:prstGeom>
          <a:solidFill>
            <a:srgbClr val="F3EBDD"/>
          </a:solidFill>
          <a:ln w="38100" cap="flat" cmpd="sng" algn="ctr">
            <a:solidFill>
              <a:srgbClr val="C849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C3D3F675-37B8-BB4C-9907-D737431EA2ED}"/>
              </a:ext>
            </a:extLst>
          </p:cNvPr>
          <p:cNvSpPr txBox="1"/>
          <p:nvPr/>
        </p:nvSpPr>
        <p:spPr>
          <a:xfrm>
            <a:off x="3962400" y="6413500"/>
            <a:ext cx="14732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zh-TW" sz="2600" b="1">
                <a:solidFill>
                  <a:srgbClr val="C8492E"/>
                </a:solidFill>
                <a:latin typeface="Georgia"/>
              </a:rPr>
              <a:t>200+</a:t>
            </a:r>
            <a:endParaRPr lang="zh-TW" altLang="en-US" sz="2600" b="1">
              <a:solidFill>
                <a:srgbClr val="C8492E"/>
              </a:solidFill>
              <a:latin typeface="Georgia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BC321FE1-B16B-5D43-B5F8-219C98879AE2}"/>
              </a:ext>
            </a:extLst>
          </p:cNvPr>
          <p:cNvSpPr txBox="1"/>
          <p:nvPr/>
        </p:nvSpPr>
        <p:spPr>
          <a:xfrm>
            <a:off x="3937000" y="6870700"/>
            <a:ext cx="1524000" cy="317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400">
                <a:solidFill>
                  <a:srgbClr val="171719"/>
                </a:solidFill>
                <a:latin typeface="Microsoft JhengHei"/>
                <a:ea typeface="Microsoft JhengHei"/>
              </a:rPr>
              <a:t>YouTube</a:t>
            </a:r>
            <a:endParaRPr lang="zh-TW" altLang="en-US" sz="1400">
              <a:solidFill>
                <a:srgbClr val="171719"/>
              </a:solidFill>
              <a:latin typeface="Microsoft JhengHei"/>
              <a:ea typeface="Microsoft JhengHei"/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812EB4F7-C1F0-4C4A-9B94-C80EC69C5CCD}"/>
              </a:ext>
            </a:extLst>
          </p:cNvPr>
          <p:cNvSpPr/>
          <p:nvPr/>
        </p:nvSpPr>
        <p:spPr>
          <a:xfrm>
            <a:off x="7188200" y="6070600"/>
            <a:ext cx="228600" cy="228600"/>
          </a:xfrm>
          <a:prstGeom prst="ellipse">
            <a:avLst/>
          </a:prstGeom>
          <a:solidFill>
            <a:srgbClr val="F3EBDD"/>
          </a:solidFill>
          <a:ln w="38100" cap="flat" cmpd="sng" algn="ctr">
            <a:solidFill>
              <a:srgbClr val="C849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3E8E9C44-27D6-364A-911D-8E659A613587}"/>
              </a:ext>
            </a:extLst>
          </p:cNvPr>
          <p:cNvSpPr txBox="1"/>
          <p:nvPr/>
        </p:nvSpPr>
        <p:spPr>
          <a:xfrm>
            <a:off x="6565900" y="6413500"/>
            <a:ext cx="14732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zh-TW" sz="2600" b="1">
                <a:solidFill>
                  <a:srgbClr val="C8492E"/>
                </a:solidFill>
                <a:latin typeface="Georgia"/>
              </a:rPr>
              <a:t>100+</a:t>
            </a:r>
            <a:endParaRPr lang="zh-TW" altLang="en-US" sz="2600" b="1">
              <a:solidFill>
                <a:srgbClr val="C8492E"/>
              </a:solidFill>
              <a:latin typeface="Georgia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9A7C0119-10AE-9A4F-987A-BA672B5DE1FD}"/>
              </a:ext>
            </a:extLst>
          </p:cNvPr>
          <p:cNvSpPr txBox="1"/>
          <p:nvPr/>
        </p:nvSpPr>
        <p:spPr>
          <a:xfrm>
            <a:off x="6540500" y="6870700"/>
            <a:ext cx="1524000" cy="317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400">
                <a:solidFill>
                  <a:srgbClr val="171719"/>
                </a:solidFill>
                <a:latin typeface="Microsoft JhengHei"/>
                <a:ea typeface="Microsoft JhengHei"/>
              </a:rPr>
              <a:t>Podcast</a:t>
            </a:r>
            <a:endParaRPr lang="zh-TW" altLang="en-US" sz="1400">
              <a:solidFill>
                <a:srgbClr val="171719"/>
              </a:solidFill>
              <a:latin typeface="Microsoft JhengHei"/>
              <a:ea typeface="Microsoft JhengHei"/>
            </a:endParaRPr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2BF9A15A-E301-624F-963B-0053A624C285}"/>
              </a:ext>
            </a:extLst>
          </p:cNvPr>
          <p:cNvSpPr/>
          <p:nvPr/>
        </p:nvSpPr>
        <p:spPr>
          <a:xfrm>
            <a:off x="9791700" y="6070600"/>
            <a:ext cx="228600" cy="228600"/>
          </a:xfrm>
          <a:prstGeom prst="ellipse">
            <a:avLst/>
          </a:prstGeom>
          <a:solidFill>
            <a:srgbClr val="F3EBDD"/>
          </a:solidFill>
          <a:ln w="38100" cap="flat" cmpd="sng" algn="ctr">
            <a:solidFill>
              <a:srgbClr val="C849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662BF4B5-42D1-884C-B31D-ACFB7873B29F}"/>
              </a:ext>
            </a:extLst>
          </p:cNvPr>
          <p:cNvSpPr txBox="1"/>
          <p:nvPr/>
        </p:nvSpPr>
        <p:spPr>
          <a:xfrm>
            <a:off x="9169400" y="6413500"/>
            <a:ext cx="14732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zh-TW" sz="2600" b="1" dirty="0">
                <a:solidFill>
                  <a:srgbClr val="C8492E"/>
                </a:solidFill>
                <a:latin typeface="Georgia"/>
              </a:rPr>
              <a:t>60+</a:t>
            </a:r>
            <a:endParaRPr lang="zh-TW" altLang="en-US" sz="2600" b="1" dirty="0">
              <a:solidFill>
                <a:srgbClr val="C8492E"/>
              </a:solidFill>
              <a:latin typeface="Georgia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0E8ED1C5-6A8D-7C4E-8EDB-E24501506CE8}"/>
              </a:ext>
            </a:extLst>
          </p:cNvPr>
          <p:cNvSpPr txBox="1"/>
          <p:nvPr/>
        </p:nvSpPr>
        <p:spPr>
          <a:xfrm>
            <a:off x="9144000" y="6870700"/>
            <a:ext cx="1524000" cy="317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400">
                <a:solidFill>
                  <a:srgbClr val="171719"/>
                </a:solidFill>
                <a:latin typeface="Microsoft JhengHei"/>
                <a:ea typeface="Microsoft JhengHei"/>
              </a:rPr>
              <a:t>活動</a:t>
            </a: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4EEAF871-D228-F540-81E1-A6B08BE9B435}"/>
              </a:ext>
            </a:extLst>
          </p:cNvPr>
          <p:cNvSpPr/>
          <p:nvPr/>
        </p:nvSpPr>
        <p:spPr>
          <a:xfrm>
            <a:off x="12395200" y="6070600"/>
            <a:ext cx="228600" cy="228600"/>
          </a:xfrm>
          <a:prstGeom prst="ellipse">
            <a:avLst/>
          </a:prstGeom>
          <a:solidFill>
            <a:srgbClr val="F3EBDD"/>
          </a:solidFill>
          <a:ln w="38100" cap="flat" cmpd="sng" algn="ctr">
            <a:solidFill>
              <a:srgbClr val="C849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A32BF17A-52CF-A24E-AB56-93476B66D725}"/>
              </a:ext>
            </a:extLst>
          </p:cNvPr>
          <p:cNvSpPr txBox="1"/>
          <p:nvPr/>
        </p:nvSpPr>
        <p:spPr>
          <a:xfrm>
            <a:off x="11772900" y="6413500"/>
            <a:ext cx="14732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zh-TW" sz="2600" b="1">
                <a:solidFill>
                  <a:srgbClr val="C8492E"/>
                </a:solidFill>
                <a:latin typeface="Georgia"/>
              </a:rPr>
              <a:t>10+</a:t>
            </a:r>
            <a:endParaRPr lang="zh-TW" altLang="en-US" sz="2600" b="1">
              <a:solidFill>
                <a:srgbClr val="C8492E"/>
              </a:solidFill>
              <a:latin typeface="Georgia"/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089F1201-F23F-3B4D-AB08-F063FF5D3FC0}"/>
              </a:ext>
            </a:extLst>
          </p:cNvPr>
          <p:cNvSpPr txBox="1"/>
          <p:nvPr/>
        </p:nvSpPr>
        <p:spPr>
          <a:xfrm>
            <a:off x="11747500" y="6870700"/>
            <a:ext cx="1524000" cy="317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400">
                <a:solidFill>
                  <a:srgbClr val="171719"/>
                </a:solidFill>
                <a:latin typeface="Microsoft JhengHei"/>
                <a:ea typeface="Microsoft JhengHei"/>
              </a:rPr>
              <a:t>書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4D8470A-EC84-9B40-8753-52ED28178796}"/>
              </a:ext>
            </a:extLst>
          </p:cNvPr>
          <p:cNvSpPr/>
          <p:nvPr/>
        </p:nvSpPr>
        <p:spPr>
          <a:xfrm>
            <a:off x="889000" y="7594600"/>
            <a:ext cx="16510000" cy="19050"/>
          </a:xfrm>
          <a:prstGeom prst="rect">
            <a:avLst/>
          </a:prstGeom>
          <a:solidFill>
            <a:srgbClr val="17171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616117B2-61CA-4249-A3E0-15DF5DFBDE9F}"/>
              </a:ext>
            </a:extLst>
          </p:cNvPr>
          <p:cNvSpPr txBox="1"/>
          <p:nvPr/>
        </p:nvSpPr>
        <p:spPr>
          <a:xfrm>
            <a:off x="889000" y="7810500"/>
            <a:ext cx="2413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300" b="1">
                <a:solidFill>
                  <a:srgbClr val="C8492E"/>
                </a:solidFill>
                <a:latin typeface="Courier New"/>
                <a:cs typeface="Courier New"/>
              </a:rPr>
              <a:t>SHARING NOTE</a:t>
            </a:r>
            <a:endParaRPr lang="zh-TW" altLang="en-US" sz="1300" b="1">
              <a:solidFill>
                <a:srgbClr val="C8492E"/>
              </a:solidFill>
              <a:latin typeface="Courier New"/>
              <a:cs typeface="Courier New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58B8316B-EBAA-374F-A87D-5DBDC26C6D0D}"/>
              </a:ext>
            </a:extLst>
          </p:cNvPr>
          <p:cNvSpPr txBox="1"/>
          <p:nvPr/>
        </p:nvSpPr>
        <p:spPr>
          <a:xfrm>
            <a:off x="889000" y="8191500"/>
            <a:ext cx="9652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900" b="1">
                <a:solidFill>
                  <a:srgbClr val="171719"/>
                </a:solidFill>
                <a:latin typeface="Microsoft JhengHei"/>
                <a:ea typeface="Microsoft JhengHei"/>
              </a:rPr>
              <a:t>僅為個人面向的分享，歡迎不同的觀點一起討論。</a:t>
            </a: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C310C7F5-4ABB-E046-8E5C-CD0801790C5B}"/>
              </a:ext>
            </a:extLst>
          </p:cNvPr>
          <p:cNvSpPr txBox="1"/>
          <p:nvPr/>
        </p:nvSpPr>
        <p:spPr>
          <a:xfrm>
            <a:off x="889000" y="8661400"/>
            <a:ext cx="9652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600">
                <a:solidFill>
                  <a:srgbClr val="746D64"/>
                </a:solidFill>
                <a:latin typeface="Microsoft JhengHei"/>
                <a:ea typeface="Microsoft JhengHei"/>
              </a:rPr>
              <a:t>觀點類的言論會附上連結，供大家事後查閱。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774EC8B-8F12-4F4A-8D18-C69233B4A011}"/>
              </a:ext>
            </a:extLst>
          </p:cNvPr>
          <p:cNvSpPr/>
          <p:nvPr/>
        </p:nvSpPr>
        <p:spPr>
          <a:xfrm>
            <a:off x="11430000" y="7937500"/>
            <a:ext cx="5969000" cy="1117600"/>
          </a:xfrm>
          <a:prstGeom prst="rect">
            <a:avLst/>
          </a:prstGeom>
          <a:solidFill>
            <a:srgbClr val="17171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B0DC4765-F621-A34D-BBF9-0701F94AA992}"/>
              </a:ext>
            </a:extLst>
          </p:cNvPr>
          <p:cNvSpPr txBox="1"/>
          <p:nvPr/>
        </p:nvSpPr>
        <p:spPr>
          <a:xfrm>
            <a:off x="11861800" y="8089900"/>
            <a:ext cx="5105400" cy="787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b="1">
                <a:solidFill>
                  <a:srgbClr val="F3EBDD"/>
                </a:solidFill>
                <a:latin typeface="Microsoft JhengHei"/>
                <a:ea typeface="Microsoft JhengHei"/>
              </a:rPr>
              <a:t>不是標準答案，
而是一個可被討論的起點。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85DD88C-43E3-DF42-9E3F-B351D709C40A}"/>
              </a:ext>
            </a:extLst>
          </p:cNvPr>
          <p:cNvSpPr/>
          <p:nvPr/>
        </p:nvSpPr>
        <p:spPr>
          <a:xfrm>
            <a:off x="889000" y="9499600"/>
            <a:ext cx="16510000" cy="12700"/>
          </a:xfrm>
          <a:prstGeom prst="rect">
            <a:avLst/>
          </a:prstGeom>
          <a:solidFill>
            <a:srgbClr val="CFC3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3DE04B54-1532-E342-8CDB-7DBEADE9F4E1}"/>
              </a:ext>
            </a:extLst>
          </p:cNvPr>
          <p:cNvSpPr txBox="1"/>
          <p:nvPr/>
        </p:nvSpPr>
        <p:spPr>
          <a:xfrm>
            <a:off x="889000" y="96139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100">
                <a:solidFill>
                  <a:srgbClr val="746D64"/>
                </a:solidFill>
                <a:latin typeface="Courier New"/>
                <a:cs typeface="Courier New"/>
              </a:rPr>
              <a:t>AIMING DATA  /  AI EARTH</a:t>
            </a:r>
            <a:endParaRPr lang="zh-TW" altLang="en-US" sz="1100">
              <a:solidFill>
                <a:srgbClr val="746D64"/>
              </a:solidFill>
              <a:latin typeface="Courier New"/>
              <a:cs typeface="Courier New"/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FD798A1E-52AF-784A-B8FC-A540889D838A}"/>
              </a:ext>
            </a:extLst>
          </p:cNvPr>
          <p:cNvSpPr txBox="1"/>
          <p:nvPr/>
        </p:nvSpPr>
        <p:spPr>
          <a:xfrm>
            <a:off x="15748000" y="96139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100">
                <a:solidFill>
                  <a:srgbClr val="746D64"/>
                </a:solidFill>
                <a:latin typeface="Courier New"/>
                <a:cs typeface="Courier New"/>
              </a:rPr>
              <a:t>INTRO</a:t>
            </a:r>
            <a:endParaRPr lang="zh-TW" altLang="en-US" sz="1100">
              <a:solidFill>
                <a:srgbClr val="746D64"/>
              </a:solidFill>
              <a:latin typeface="Courier New"/>
              <a:cs typeface="Courier New"/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FB922051-4572-9CF2-8BE0-64FB1E78B4C6}"/>
              </a:ext>
            </a:extLst>
          </p:cNvPr>
          <p:cNvSpPr txBox="1"/>
          <p:nvPr/>
        </p:nvSpPr>
        <p:spPr>
          <a:xfrm>
            <a:off x="10668000" y="4658360"/>
            <a:ext cx="381065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6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TW" sz="26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5</a:t>
            </a:r>
            <a:r>
              <a:rPr lang="zh-TW" altLang="en-US" sz="26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分鐘說明你對</a:t>
            </a:r>
            <a:r>
              <a:rPr lang="en-US" altLang="zh-TW" sz="26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AI</a:t>
            </a:r>
            <a:r>
              <a:rPr lang="zh-TW" altLang="en-US" sz="26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的幻想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7A0F6DB-EE38-2A4C-AEA4-77398D158EEE}"/>
              </a:ext>
            </a:extLst>
          </p:cNvPr>
          <p:cNvSpPr/>
          <p:nvPr/>
        </p:nvSpPr>
        <p:spPr>
          <a:xfrm>
            <a:off x="4813300" y="6121400"/>
            <a:ext cx="2374900" cy="127000"/>
          </a:xfrm>
          <a:prstGeom prst="rect">
            <a:avLst/>
          </a:prstGeom>
          <a:solidFill>
            <a:srgbClr val="E5B4A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09FF8E46-84F8-7947-8913-4E14278FE1A4}"/>
              </a:ext>
            </a:extLst>
          </p:cNvPr>
          <p:cNvSpPr/>
          <p:nvPr/>
        </p:nvSpPr>
        <p:spPr>
          <a:xfrm>
            <a:off x="7416800" y="6121400"/>
            <a:ext cx="2374900" cy="127000"/>
          </a:xfrm>
          <a:prstGeom prst="rect">
            <a:avLst/>
          </a:prstGeom>
          <a:solidFill>
            <a:srgbClr val="E5B4A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6AC4C94B-9A4D-7646-B755-09162A9FDA09}"/>
              </a:ext>
            </a:extLst>
          </p:cNvPr>
          <p:cNvSpPr/>
          <p:nvPr/>
        </p:nvSpPr>
        <p:spPr>
          <a:xfrm>
            <a:off x="10020300" y="6121400"/>
            <a:ext cx="2374900" cy="127000"/>
          </a:xfrm>
          <a:prstGeom prst="rect">
            <a:avLst/>
          </a:prstGeom>
          <a:solidFill>
            <a:srgbClr val="E5B4A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pic>
        <p:nvPicPr>
          <p:cNvPr id="51" name="圖片 50">
            <a:extLst>
              <a:ext uri="{FF2B5EF4-FFF2-40B4-BE49-F238E27FC236}">
                <a16:creationId xmlns:a16="http://schemas.microsoft.com/office/drawing/2014/main" id="{0A063392-83F0-8837-1AD1-2621D205D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6800" y="2578100"/>
            <a:ext cx="2362200" cy="2952750"/>
          </a:xfrm>
          <a:prstGeom prst="rect">
            <a:avLst/>
          </a:prstGeom>
        </p:spPr>
      </p:pic>
      <p:sp>
        <p:nvSpPr>
          <p:cNvPr id="59" name="文字方塊 58">
            <a:extLst>
              <a:ext uri="{FF2B5EF4-FFF2-40B4-BE49-F238E27FC236}">
                <a16:creationId xmlns:a16="http://schemas.microsoft.com/office/drawing/2014/main" id="{FB240DA4-94C3-6E4B-8D26-CAF79683FE8F}"/>
              </a:ext>
            </a:extLst>
          </p:cNvPr>
          <p:cNvSpPr txBox="1"/>
          <p:nvPr/>
        </p:nvSpPr>
        <p:spPr>
          <a:xfrm>
            <a:off x="17399000" y="95504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>
                <a:solidFill>
                  <a:srgbClr val="8A8175"/>
                </a:solidFill>
                <a:latin typeface="Courier New"/>
                <a:cs typeface="Courier New"/>
              </a:rPr>
              <a:t>02</a:t>
            </a:r>
            <a:endParaRPr lang="zh-TW" altLang="en-US" sz="1600" b="1">
              <a:solidFill>
                <a:srgbClr val="8A8175"/>
              </a:solidFill>
              <a:latin typeface="Courier New"/>
              <a:cs typeface="Courier New"/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1DD8ED9F-D39F-E0E1-CF26-11159FC9B9DC}"/>
              </a:ext>
            </a:extLst>
          </p:cNvPr>
          <p:cNvSpPr txBox="1"/>
          <p:nvPr/>
        </p:nvSpPr>
        <p:spPr>
          <a:xfrm>
            <a:off x="10748883" y="2463621"/>
            <a:ext cx="32672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10</a:t>
            </a:r>
            <a:r>
              <a:rPr kumimoji="1"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月中 第一場</a:t>
            </a:r>
            <a:r>
              <a:rPr kumimoji="1"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Meet up</a:t>
            </a:r>
          </a:p>
          <a:p>
            <a:r>
              <a:rPr kumimoji="1"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</a:t>
            </a:r>
            <a:r>
              <a:rPr kumimoji="1" lang="en-US" altLang="zh-TW" b="1" dirty="0">
                <a:solidFill>
                  <a:schemeClr val="bg1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 AI X Earth  </a:t>
            </a:r>
            <a:r>
              <a:rPr kumimoji="1" lang="zh-TW" altLang="en-US" b="1" dirty="0">
                <a:solidFill>
                  <a:schemeClr val="bg1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張睿明</a:t>
            </a:r>
            <a:endParaRPr kumimoji="1" lang="en-US" altLang="zh-TW" b="1" dirty="0">
              <a:solidFill>
                <a:schemeClr val="bg1">
                  <a:lumMod val="50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b="1" dirty="0">
                <a:solidFill>
                  <a:schemeClr val="bg1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</a:t>
            </a:r>
            <a:r>
              <a:rPr kumimoji="1" lang="en-US" altLang="zh-TW" b="1" dirty="0">
                <a:solidFill>
                  <a:schemeClr val="bg1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2. </a:t>
            </a:r>
            <a:r>
              <a:rPr kumimoji="1" lang="zh-TW" altLang="en-US" b="1" dirty="0">
                <a:solidFill>
                  <a:schemeClr val="bg1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中央氣象屬 陳達毅 科長</a:t>
            </a:r>
            <a:endParaRPr kumimoji="1" lang="en-US" altLang="zh-TW" b="1" dirty="0">
              <a:solidFill>
                <a:schemeClr val="bg1">
                  <a:lumMod val="50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b="1" dirty="0">
                <a:solidFill>
                  <a:schemeClr val="bg1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</a:t>
            </a:r>
            <a:r>
              <a:rPr kumimoji="1" lang="en-US" altLang="zh-TW" b="1" dirty="0">
                <a:solidFill>
                  <a:schemeClr val="bg1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3. </a:t>
            </a:r>
            <a:r>
              <a:rPr kumimoji="1" lang="zh-TW" altLang="en-US" b="1" dirty="0">
                <a:solidFill>
                  <a:schemeClr val="bg1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中鼎 江朔濤 助理總工程師</a:t>
            </a:r>
          </a:p>
        </p:txBody>
      </p:sp>
    </p:spTree>
    <p:extLst>
      <p:ext uri="{BB962C8B-B14F-4D97-AF65-F5344CB8AC3E}">
        <p14:creationId xmlns:p14="http://schemas.microsoft.com/office/powerpoint/2010/main" val="947169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990600" y="723900"/>
            <a:ext cx="16135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CONTENTS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197263" y="723900"/>
            <a:ext cx="11763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50 MIN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704975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本堂路線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2886075"/>
            <a:ext cx="5181600" cy="28575"/>
          </a:xfrm>
          <a:prstGeom prst="rect">
            <a:avLst/>
          </a:prstGeom>
          <a:solidFill>
            <a:srgbClr val="14151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90600" y="3162300"/>
            <a:ext cx="56997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805"/>
              </a:lnSpc>
              <a:buNone/>
            </a:pPr>
            <a:r>
              <a:rPr lang="en-US" sz="54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90600" y="4019550"/>
            <a:ext cx="569976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為什麼是現在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90600" y="4724400"/>
            <a:ext cx="5337048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職場的學習時間被壓縮，我們需要的是「怎麼學」的能力。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553200" y="2886075"/>
            <a:ext cx="5181600" cy="28575"/>
          </a:xfrm>
          <a:prstGeom prst="rect">
            <a:avLst/>
          </a:prstGeom>
          <a:solidFill>
            <a:srgbClr val="14151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6553200" y="3162300"/>
            <a:ext cx="56997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805"/>
              </a:lnSpc>
              <a:buNone/>
            </a:pPr>
            <a:r>
              <a:rPr lang="en-US" sz="54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553200" y="4019550"/>
            <a:ext cx="569976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文字怎麼進去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553200" y="4724400"/>
            <a:ext cx="5337048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Tokenizer、Token ID、Embedding，再到 Attention。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2115800" y="2886075"/>
            <a:ext cx="5181600" cy="28575"/>
          </a:xfrm>
          <a:prstGeom prst="rect">
            <a:avLst/>
          </a:prstGeom>
          <a:solidFill>
            <a:srgbClr val="14151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12115800" y="3162300"/>
            <a:ext cx="56997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805"/>
              </a:lnSpc>
              <a:buNone/>
            </a:pPr>
            <a:r>
              <a:rPr lang="en-US" sz="54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12115800" y="4019550"/>
            <a:ext cx="569976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文字怎麼出來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2115800" y="4724400"/>
            <a:ext cx="5337048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Logits、Top-k、Temperature，一次只猜一個 Token。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90600" y="5996880"/>
            <a:ext cx="28575" cy="461963"/>
          </a:xfrm>
          <a:prstGeom prst="rect">
            <a:avLst/>
          </a:prstGeom>
          <a:solidFill>
            <a:srgbClr val="C444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1247775" y="5996880"/>
            <a:ext cx="16538829" cy="500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中段會一起打開 </a:t>
            </a:r>
            <a:r>
              <a:rPr lang="en-US" sz="2250" i="1" dirty="0">
                <a:solidFill>
                  <a:srgbClr val="6E6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Transformer Explainer </a:t>
            </a: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現場觀察。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D4B9EE9F-34EC-EE46-940B-D1781CE315EC}"/>
              </a:ext>
            </a:extLst>
          </p:cNvPr>
          <p:cNvSpPr txBox="1"/>
          <p:nvPr/>
        </p:nvSpPr>
        <p:spPr>
          <a:xfrm>
            <a:off x="16637000" y="94488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>
                <a:solidFill>
                  <a:srgbClr val="8A8175"/>
                </a:solidFill>
                <a:latin typeface="Courier New"/>
                <a:cs typeface="Courier New"/>
              </a:rPr>
              <a:t>03</a:t>
            </a:r>
            <a:endParaRPr lang="zh-TW" altLang="en-US" sz="1600" b="1">
              <a:solidFill>
                <a:srgbClr val="8A8175"/>
              </a:solidFill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CHAPTER 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13906" y="723900"/>
            <a:ext cx="14118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WHY NOW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4052888"/>
            <a:ext cx="2842595" cy="251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986"/>
              </a:lnSpc>
              <a:buNone/>
            </a:pPr>
            <a:r>
              <a:rPr lang="en-US" sz="19500" dirty="0">
                <a:solidFill>
                  <a:srgbClr val="F2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9500" dirty="0"/>
          </a:p>
        </p:txBody>
      </p:sp>
      <p:sp>
        <p:nvSpPr>
          <p:cNvPr id="6" name="Text 4"/>
          <p:cNvSpPr/>
          <p:nvPr/>
        </p:nvSpPr>
        <p:spPr>
          <a:xfrm>
            <a:off x="4184377" y="4205288"/>
            <a:ext cx="7124700" cy="9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634"/>
              </a:lnSpc>
              <a:buNone/>
            </a:pPr>
            <a:r>
              <a:rPr lang="en-US" sz="57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為什麼是現在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4184376" y="5340623"/>
            <a:ext cx="8982983" cy="1074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26"/>
              </a:lnSpc>
              <a:buNone/>
            </a:pPr>
            <a:r>
              <a:rPr lang="en-US" sz="255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學 AI 之前，先看清楚我們正站在什麼樣的時間壓力上。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9CE54E8-6FF8-2144-8F14-A2642ABFC886}"/>
              </a:ext>
            </a:extLst>
          </p:cNvPr>
          <p:cNvSpPr txBox="1"/>
          <p:nvPr/>
        </p:nvSpPr>
        <p:spPr>
          <a:xfrm>
            <a:off x="16637000" y="94488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>
                <a:solidFill>
                  <a:srgbClr val="8A8175"/>
                </a:solidFill>
                <a:latin typeface="Courier New"/>
                <a:cs typeface="Courier New"/>
              </a:rPr>
              <a:t>04</a:t>
            </a:r>
            <a:endParaRPr lang="zh-TW" altLang="en-US" sz="1600" b="1">
              <a:solidFill>
                <a:srgbClr val="8A8175"/>
              </a:solidFill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974A3B1-9A2B-B41C-5B0A-0508D17AE0B9}"/>
              </a:ext>
            </a:extLst>
          </p:cNvPr>
          <p:cNvSpPr txBox="1"/>
          <p:nvPr/>
        </p:nvSpPr>
        <p:spPr>
          <a:xfrm>
            <a:off x="990600" y="4064000"/>
            <a:ext cx="3022169" cy="13234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zh-TW" altLang="en-US" sz="8000" dirty="0">
                <a:solidFill>
                  <a:srgbClr val="14151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職涯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C84BD1E-A066-42FA-9B09-A54B4F2B3528}"/>
              </a:ext>
            </a:extLst>
          </p:cNvPr>
          <p:cNvSpPr txBox="1"/>
          <p:nvPr/>
        </p:nvSpPr>
        <p:spPr>
          <a:xfrm>
            <a:off x="9410700" y="4064000"/>
            <a:ext cx="3799668" cy="13234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zh-TW" sz="8000" dirty="0">
                <a:solidFill>
                  <a:srgbClr val="B44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AI</a:t>
            </a:r>
            <a:r>
              <a:rPr kumimoji="1" lang="zh-TW" altLang="en-US" sz="8000" dirty="0">
                <a:solidFill>
                  <a:srgbClr val="B44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賦能</a:t>
            </a:r>
          </a:p>
        </p:txBody>
      </p:sp>
      <p:sp>
        <p:nvSpPr>
          <p:cNvPr id="101" name="Txt 101"/>
          <p:cNvSpPr txBox="1"/>
          <p:nvPr/>
        </p:nvSpPr>
        <p:spPr>
          <a:xfrm>
            <a:off x="990600" y="723900"/>
            <a:ext cx="6350000" cy="381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TW" altLang="en-US" sz="1800" spc="360" dirty="0">
                <a:solidFill>
                  <a:srgbClr val="8A8378"/>
                </a:solidFill>
                <a:latin typeface="Menlo"/>
                <a:ea typeface="Menlo"/>
              </a:rPr>
              <a:t>01 · WHY NOW</a:t>
            </a:r>
          </a:p>
        </p:txBody>
      </p:sp>
      <p:sp>
        <p:nvSpPr>
          <p:cNvPr id="102" name="Txt 102"/>
          <p:cNvSpPr txBox="1"/>
          <p:nvPr/>
        </p:nvSpPr>
        <p:spPr>
          <a:xfrm>
            <a:off x="11074400" y="723900"/>
            <a:ext cx="6350000" cy="381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lang="zh-TW" altLang="en-US" sz="1800" spc="360" dirty="0">
                <a:solidFill>
                  <a:srgbClr val="8A8378"/>
                </a:solidFill>
                <a:latin typeface="Menlo"/>
                <a:ea typeface="Menlo"/>
              </a:rPr>
              <a:t>TWO QUESTIONS</a:t>
            </a:r>
          </a:p>
        </p:txBody>
      </p:sp>
      <p:sp>
        <p:nvSpPr>
          <p:cNvPr id="103" name="Rule 103"/>
          <p:cNvSpPr/>
          <p:nvPr/>
        </p:nvSpPr>
        <p:spPr>
          <a:xfrm>
            <a:off x="990600" y="1168400"/>
            <a:ext cx="16306800" cy="12700"/>
          </a:xfrm>
          <a:prstGeom prst="rect">
            <a:avLst/>
          </a:prstGeom>
          <a:solidFill>
            <a:srgbClr val="C9BFA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t 104"/>
          <p:cNvSpPr txBox="1"/>
          <p:nvPr/>
        </p:nvSpPr>
        <p:spPr>
          <a:xfrm>
            <a:off x="990600" y="1600200"/>
            <a:ext cx="16306800" cy="889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TW" altLang="en-US" sz="4800" b="1" dirty="0">
                <a:solidFill>
                  <a:srgbClr val="14151A"/>
                </a:solidFill>
                <a:latin typeface="PingFang TC"/>
                <a:ea typeface="PingFang TC"/>
              </a:rPr>
              <a:t>這一系列課，要碰觸兩個議題</a:t>
            </a:r>
          </a:p>
        </p:txBody>
      </p:sp>
      <p:sp>
        <p:nvSpPr>
          <p:cNvPr id="105" name="Rule 105"/>
          <p:cNvSpPr/>
          <p:nvPr/>
        </p:nvSpPr>
        <p:spPr>
          <a:xfrm>
            <a:off x="990600" y="3327400"/>
            <a:ext cx="7886700" cy="25400"/>
          </a:xfrm>
          <a:prstGeom prst="rect">
            <a:avLst/>
          </a:prstGeom>
          <a:solidFill>
            <a:srgbClr val="C9BFA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6" name="Rule 106"/>
          <p:cNvSpPr/>
          <p:nvPr/>
        </p:nvSpPr>
        <p:spPr>
          <a:xfrm>
            <a:off x="9410700" y="3327400"/>
            <a:ext cx="7886700" cy="25400"/>
          </a:xfrm>
          <a:prstGeom prst="rect">
            <a:avLst/>
          </a:prstGeom>
          <a:solidFill>
            <a:srgbClr val="B44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Txt 107"/>
          <p:cNvSpPr txBox="1"/>
          <p:nvPr/>
        </p:nvSpPr>
        <p:spPr>
          <a:xfrm>
            <a:off x="990600" y="3581400"/>
            <a:ext cx="7886700" cy="381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TW" altLang="en-US" sz="1800" spc="288" dirty="0">
                <a:solidFill>
                  <a:srgbClr val="8A8378"/>
                </a:solidFill>
                <a:latin typeface="Menlo"/>
                <a:ea typeface="Menlo"/>
              </a:rPr>
              <a:t>QUESTION 01 · CAREER</a:t>
            </a:r>
          </a:p>
        </p:txBody>
      </p:sp>
      <p:sp>
        <p:nvSpPr>
          <p:cNvPr id="108" name="Txt 108"/>
          <p:cNvSpPr txBox="1"/>
          <p:nvPr/>
        </p:nvSpPr>
        <p:spPr>
          <a:xfrm>
            <a:off x="9410700" y="3581400"/>
            <a:ext cx="7886700" cy="381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TW" altLang="en-US" sz="1800" spc="288" dirty="0">
                <a:solidFill>
                  <a:srgbClr val="B4472A"/>
                </a:solidFill>
                <a:latin typeface="Menlo"/>
                <a:ea typeface="Menlo"/>
              </a:rPr>
              <a:t>QUESTION 02 · AI</a:t>
            </a:r>
          </a:p>
        </p:txBody>
      </p:sp>
      <p:sp>
        <p:nvSpPr>
          <p:cNvPr id="109" name="Txt 109"/>
          <p:cNvSpPr txBox="1"/>
          <p:nvPr/>
        </p:nvSpPr>
        <p:spPr>
          <a:xfrm>
            <a:off x="990600" y="5842000"/>
            <a:ext cx="7886700" cy="1143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TW" altLang="en-US" sz="2800" b="1" dirty="0">
                <a:solidFill>
                  <a:srgbClr val="14151A"/>
                </a:solidFill>
                <a:latin typeface="PingFang TC"/>
                <a:ea typeface="PingFang TC"/>
              </a:rPr>
              <a:t>沒有標準答案的世界，你要怎麼定位自己？</a:t>
            </a:r>
          </a:p>
        </p:txBody>
      </p:sp>
      <p:sp>
        <p:nvSpPr>
          <p:cNvPr id="110" name="Txt 110"/>
          <p:cNvSpPr txBox="1"/>
          <p:nvPr/>
        </p:nvSpPr>
        <p:spPr>
          <a:xfrm>
            <a:off x="9410700" y="5842000"/>
            <a:ext cx="7886700" cy="1143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TW" altLang="en-US" sz="2800" b="1" dirty="0">
                <a:solidFill>
                  <a:srgbClr val="14151A"/>
                </a:solidFill>
                <a:latin typeface="PingFang TC"/>
                <a:ea typeface="PingFang TC"/>
              </a:rPr>
              <a:t>一個 prompt 就有答案，你的不可取代性在哪？</a:t>
            </a:r>
          </a:p>
        </p:txBody>
      </p:sp>
      <p:sp>
        <p:nvSpPr>
          <p:cNvPr id="111" name="Txt 111"/>
          <p:cNvSpPr txBox="1"/>
          <p:nvPr/>
        </p:nvSpPr>
        <p:spPr>
          <a:xfrm>
            <a:off x="990600" y="7747000"/>
            <a:ext cx="7886700" cy="1397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TW" altLang="en-US" sz="2100" dirty="0">
                <a:solidFill>
                  <a:srgbClr val="55504A"/>
                </a:solidFill>
                <a:latin typeface="PingFang TC"/>
                <a:ea typeface="PingFang TC"/>
              </a:rPr>
              <a:t>新手村正在消失，第一份工作不再是慢慢把你教會的地方。</a:t>
            </a:r>
          </a:p>
        </p:txBody>
      </p:sp>
      <p:sp>
        <p:nvSpPr>
          <p:cNvPr id="112" name="Txt 112"/>
          <p:cNvSpPr txBox="1"/>
          <p:nvPr/>
        </p:nvSpPr>
        <p:spPr>
          <a:xfrm>
            <a:off x="9410700" y="7747000"/>
            <a:ext cx="7886700" cy="1397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TW" altLang="en-US" sz="2100" dirty="0">
                <a:solidFill>
                  <a:srgbClr val="55504A"/>
                </a:solidFill>
                <a:latin typeface="PingFang TC"/>
                <a:ea typeface="PingFang TC"/>
              </a:rPr>
              <a:t>門檻從「會做」換成「會問、會判斷、會整合」。</a:t>
            </a:r>
          </a:p>
        </p:txBody>
      </p:sp>
      <p:sp>
        <p:nvSpPr>
          <p:cNvPr id="113" name="Rule 113"/>
          <p:cNvSpPr/>
          <p:nvPr/>
        </p:nvSpPr>
        <p:spPr>
          <a:xfrm>
            <a:off x="990600" y="9410700"/>
            <a:ext cx="16306800" cy="12700"/>
          </a:xfrm>
          <a:prstGeom prst="rect">
            <a:avLst/>
          </a:prstGeom>
          <a:solidFill>
            <a:srgbClr val="C9BFA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Txt 114"/>
          <p:cNvSpPr txBox="1"/>
          <p:nvPr/>
        </p:nvSpPr>
        <p:spPr>
          <a:xfrm>
            <a:off x="990600" y="9550400"/>
            <a:ext cx="5080000" cy="330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TW" altLang="en-US" sz="1200" spc="288" dirty="0">
                <a:solidFill>
                  <a:srgbClr val="8A8378"/>
                </a:solidFill>
                <a:latin typeface="Menlo"/>
                <a:ea typeface="Menlo"/>
              </a:rPr>
              <a:t>AIMING DATA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26A4B25-1347-DD46-866A-BB154B5732BB}"/>
              </a:ext>
            </a:extLst>
          </p:cNvPr>
          <p:cNvSpPr txBox="1"/>
          <p:nvPr/>
        </p:nvSpPr>
        <p:spPr>
          <a:xfrm>
            <a:off x="16637000" y="94488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>
                <a:solidFill>
                  <a:srgbClr val="8A8175"/>
                </a:solidFill>
                <a:latin typeface="Courier New"/>
                <a:cs typeface="Courier New"/>
              </a:rPr>
              <a:t>05</a:t>
            </a:r>
            <a:endParaRPr lang="zh-TW" altLang="en-US" sz="1600" b="1">
              <a:solidFill>
                <a:srgbClr val="8A8175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929645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990600" y="723900"/>
            <a:ext cx="2420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WHY NOW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13906" y="723900"/>
            <a:ext cx="14118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ANSWERS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666875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大學有標準答案，真實世界沒有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3810000"/>
            <a:ext cx="7277100" cy="2857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90600" y="4076700"/>
            <a:ext cx="80048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 SCHOOL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3450" y="4546600"/>
            <a:ext cx="800481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764"/>
              </a:lnSpc>
              <a:buNone/>
            </a:pPr>
            <a:r>
              <a:rPr lang="en-US" sz="7800" dirty="0">
                <a:solidFill>
                  <a:srgbClr val="14151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Georgia" pitchFamily="34" charset="-120"/>
              </a:rPr>
              <a:t>標準答案</a:t>
            </a:r>
            <a:endParaRPr lang="en-US" sz="7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90600" y="5600700"/>
            <a:ext cx="800481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題目被出好、範圍被畫好，卷子上有一個對的選項。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801100" y="4508500"/>
            <a:ext cx="762000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4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5400" dirty="0"/>
          </a:p>
        </p:txBody>
      </p:sp>
      <p:sp>
        <p:nvSpPr>
          <p:cNvPr id="11" name="Shape 9"/>
          <p:cNvSpPr/>
          <p:nvPr/>
        </p:nvSpPr>
        <p:spPr>
          <a:xfrm>
            <a:off x="10020300" y="3810000"/>
            <a:ext cx="7277100" cy="28575"/>
          </a:xfrm>
          <a:prstGeom prst="rect">
            <a:avLst/>
          </a:prstGeom>
          <a:solidFill>
            <a:srgbClr val="C444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10020300" y="4076700"/>
            <a:ext cx="80048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REAL WORLD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963150" y="4546600"/>
            <a:ext cx="800481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764"/>
              </a:lnSpc>
              <a:buNone/>
            </a:pPr>
            <a:r>
              <a:rPr lang="en-US" sz="7800" dirty="0">
                <a:solidFill>
                  <a:srgbClr val="C444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Georgia" pitchFamily="34" charset="-120"/>
              </a:rPr>
              <a:t>沒有答案</a:t>
            </a:r>
            <a:endParaRPr lang="en-US" sz="7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020300" y="5600700"/>
            <a:ext cx="800481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條件不足、資訊不全，問題要自己定義，答案要自己驗證。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90600" y="8128000"/>
            <a:ext cx="16306800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33"/>
              </a:lnSpc>
              <a:buNone/>
            </a:pPr>
            <a:r>
              <a:rPr lang="en-US" sz="2400" dirty="0" err="1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離開學校的第一課，不是背更多知識，而是學會在沒有解答本的情況下自己往前推一步</a:t>
            </a: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。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D3D86D9-04A3-424B-8FC5-D18C0DD7B0B2}"/>
              </a:ext>
            </a:extLst>
          </p:cNvPr>
          <p:cNvSpPr txBox="1"/>
          <p:nvPr/>
        </p:nvSpPr>
        <p:spPr>
          <a:xfrm>
            <a:off x="16637000" y="94488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>
                <a:solidFill>
                  <a:srgbClr val="8A8175"/>
                </a:solidFill>
                <a:latin typeface="Courier New"/>
                <a:cs typeface="Courier New"/>
              </a:rPr>
              <a:t>06</a:t>
            </a:r>
            <a:endParaRPr lang="zh-TW" altLang="en-US" sz="1600" b="1">
              <a:solidFill>
                <a:srgbClr val="8A8175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507748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990600" y="723900"/>
            <a:ext cx="2420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WHY NOW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13906" y="723900"/>
            <a:ext cx="14118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ROOKIE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666875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畢業之後，先進新手村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4067175"/>
            <a:ext cx="5181600" cy="2127870"/>
          </a:xfrm>
          <a:prstGeom prst="rect">
            <a:avLst/>
          </a:prstGeom>
          <a:solidFill>
            <a:srgbClr val="14151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333500" y="4391025"/>
            <a:ext cx="49453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ENTER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33500" y="4791075"/>
            <a:ext cx="494538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入場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33500" y="5457825"/>
            <a:ext cx="494538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282"/>
              </a:lnSpc>
              <a:buNone/>
            </a:pPr>
            <a:r>
              <a:rPr lang="en-US" sz="210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學歷是門票，但沒人告訴你下一步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134100" y="4067175"/>
            <a:ext cx="457200" cy="2165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3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6553200" y="4067175"/>
            <a:ext cx="5181600" cy="2127870"/>
          </a:xfrm>
          <a:prstGeom prst="rect">
            <a:avLst/>
          </a:prstGeom>
          <a:solidFill>
            <a:srgbClr val="E5DBC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896100" y="4391025"/>
            <a:ext cx="49453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GRIND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96100" y="4791075"/>
            <a:ext cx="494538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練功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896100" y="5457825"/>
            <a:ext cx="494538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28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打雜、跟案子、犯錯，用時間換手感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1696700" y="4067175"/>
            <a:ext cx="457200" cy="2165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3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300" dirty="0"/>
          </a:p>
        </p:txBody>
      </p:sp>
      <p:sp>
        <p:nvSpPr>
          <p:cNvPr id="16" name="Shape 14"/>
          <p:cNvSpPr/>
          <p:nvPr/>
        </p:nvSpPr>
        <p:spPr>
          <a:xfrm>
            <a:off x="12115800" y="4067175"/>
            <a:ext cx="5181600" cy="2127870"/>
          </a:xfrm>
          <a:prstGeom prst="rect">
            <a:avLst/>
          </a:prstGeom>
          <a:solidFill>
            <a:srgbClr val="E5DBC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12458700" y="4391025"/>
            <a:ext cx="49453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LEVEL UP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458700" y="4791075"/>
            <a:ext cx="494538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出師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2458700" y="5457825"/>
            <a:ext cx="494538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28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大約2-5年，開始能獨立扛下一整件事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90600" y="7874000"/>
            <a:ext cx="16306800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過去這條路理所當然：公司願意等，因為新手總會變老手，時間是唯一的成本。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1296236A-04D7-AD46-8D41-2C018A5A9A1A}"/>
              </a:ext>
            </a:extLst>
          </p:cNvPr>
          <p:cNvSpPr txBox="1"/>
          <p:nvPr/>
        </p:nvSpPr>
        <p:spPr>
          <a:xfrm>
            <a:off x="16637000" y="94488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>
                <a:solidFill>
                  <a:srgbClr val="8A8175"/>
                </a:solidFill>
                <a:latin typeface="Courier New"/>
                <a:cs typeface="Courier New"/>
              </a:rPr>
              <a:t>07</a:t>
            </a:r>
            <a:endParaRPr lang="zh-TW" altLang="en-US" sz="1600" b="1">
              <a:solidFill>
                <a:srgbClr val="8A8175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576838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990600" y="723900"/>
            <a:ext cx="2420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WHY NOW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13906" y="723900"/>
            <a:ext cx="14118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 SHOCK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666875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但新手村，被 AI 打爆了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3810000"/>
            <a:ext cx="7277100" cy="2857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90600" y="4076700"/>
            <a:ext cx="80048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BEFORE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0600" y="4470400"/>
            <a:ext cx="800481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764"/>
              </a:lnSpc>
              <a:buNone/>
            </a:pPr>
            <a:r>
              <a:rPr lang="en-US" sz="6000" dirty="0">
                <a:solidFill>
                  <a:srgbClr val="141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個新人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990600" y="5600700"/>
            <a:ext cx="800481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一件事拆給三個新人做，主管再花時間收尾。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801100" y="4508500"/>
            <a:ext cx="762000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4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5400" dirty="0"/>
          </a:p>
        </p:txBody>
      </p:sp>
      <p:sp>
        <p:nvSpPr>
          <p:cNvPr id="11" name="Shape 9"/>
          <p:cNvSpPr/>
          <p:nvPr/>
        </p:nvSpPr>
        <p:spPr>
          <a:xfrm>
            <a:off x="10020300" y="3810000"/>
            <a:ext cx="7277100" cy="28575"/>
          </a:xfrm>
          <a:prstGeom prst="rect">
            <a:avLst/>
          </a:prstGeom>
          <a:solidFill>
            <a:srgbClr val="C444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10020300" y="4076700"/>
            <a:ext cx="80048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NOW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20300" y="4470400"/>
            <a:ext cx="800481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764"/>
              </a:lnSpc>
              <a:buNone/>
            </a:pPr>
            <a:r>
              <a:rPr lang="en-US" sz="60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人 × AI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10020300" y="5600700"/>
            <a:ext cx="800481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一個有經驗的人加上 AI，數十倍的產出，而且不用等人上手。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90600" y="7874000"/>
            <a:ext cx="16306800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入門任務被吃掉了，練功的階梯也跟著消失。新手村不再是「慢慢變強」的地方，而是「一進去就要能用 AI 交件」。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3E01568D-0AC6-B84D-9AE6-FCF6A562C673}"/>
              </a:ext>
            </a:extLst>
          </p:cNvPr>
          <p:cNvSpPr txBox="1"/>
          <p:nvPr/>
        </p:nvSpPr>
        <p:spPr>
          <a:xfrm>
            <a:off x="16637000" y="94488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>
                <a:solidFill>
                  <a:srgbClr val="8A8175"/>
                </a:solidFill>
                <a:latin typeface="Courier New"/>
                <a:cs typeface="Courier New"/>
              </a:rPr>
              <a:t>08</a:t>
            </a:r>
            <a:endParaRPr lang="zh-TW" altLang="en-US" sz="1600" b="1">
              <a:solidFill>
                <a:srgbClr val="8A8175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333119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990600" y="723900"/>
            <a:ext cx="2420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WHY NOW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80619" y="723900"/>
            <a:ext cx="9929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QUOTE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539901"/>
            <a:ext cx="435864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52844"/>
              </a:lnSpc>
              <a:buNone/>
            </a:pPr>
            <a:r>
              <a:rPr lang="en-US" sz="72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90600" y="3545681"/>
            <a:ext cx="5105400" cy="2815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238"/>
              </a:lnSpc>
              <a:buNone/>
            </a:pPr>
            <a:r>
              <a:rPr lang="en-US" sz="5400" b="1" kern="0" spc="-54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寬的能力， </a:t>
            </a:r>
          </a:p>
          <a:p>
            <a:pPr marL="0" indent="0" algn="l">
              <a:lnSpc>
                <a:spcPct val="96238"/>
              </a:lnSpc>
              <a:buNone/>
            </a:pPr>
            <a:r>
              <a:rPr lang="en-US" sz="5400" b="1" kern="0" spc="-54" dirty="0" err="1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大於深的能力</a:t>
            </a:r>
            <a:r>
              <a:rPr lang="en-US" sz="5400" b="1" kern="0" spc="-54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。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990600" y="6780237"/>
            <a:ext cx="4081272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簡立峰 ／ 前 Google 台灣董事總經理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90600" y="7694637"/>
            <a:ext cx="435864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8A83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全國大學校長會議，2026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1AC5905-F4E8-774D-9B17-C6276B8DFE37}"/>
              </a:ext>
            </a:extLst>
          </p:cNvPr>
          <p:cNvSpPr txBox="1"/>
          <p:nvPr/>
        </p:nvSpPr>
        <p:spPr>
          <a:xfrm>
            <a:off x="16637000" y="94488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>
                <a:solidFill>
                  <a:srgbClr val="8A8175"/>
                </a:solidFill>
                <a:latin typeface="Courier New"/>
                <a:cs typeface="Courier New"/>
              </a:rPr>
              <a:t>09</a:t>
            </a:r>
            <a:endParaRPr lang="zh-TW" altLang="en-US" sz="1600" b="1">
              <a:solidFill>
                <a:srgbClr val="8A8175"/>
              </a:solidFill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990600" y="723900"/>
            <a:ext cx="2420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WHY NOW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13906" y="723900"/>
            <a:ext cx="14118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FIG. 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666875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新鮮人的學習時間被壓縮了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2924175"/>
            <a:ext cx="7277100" cy="2857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90600" y="3181350"/>
            <a:ext cx="80048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BEFORE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0600" y="3581400"/>
            <a:ext cx="800481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764"/>
              </a:lnSpc>
              <a:buNone/>
            </a:pPr>
            <a:r>
              <a:rPr lang="en-US" sz="7800" dirty="0">
                <a:solidFill>
                  <a:srgbClr val="141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2-5 年</a:t>
            </a:r>
            <a:endParaRPr lang="en-US" sz="7800" dirty="0"/>
          </a:p>
        </p:txBody>
      </p:sp>
      <p:sp>
        <p:nvSpPr>
          <p:cNvPr id="9" name="Text 7"/>
          <p:cNvSpPr/>
          <p:nvPr/>
        </p:nvSpPr>
        <p:spPr>
          <a:xfrm>
            <a:off x="990600" y="4705350"/>
            <a:ext cx="800481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在職場慢慢累積起來的知識量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801100" y="3619500"/>
            <a:ext cx="762000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4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5400" dirty="0"/>
          </a:p>
        </p:txBody>
      </p:sp>
      <p:sp>
        <p:nvSpPr>
          <p:cNvPr id="11" name="Shape 9"/>
          <p:cNvSpPr/>
          <p:nvPr/>
        </p:nvSpPr>
        <p:spPr>
          <a:xfrm>
            <a:off x="10020300" y="2924175"/>
            <a:ext cx="7277100" cy="28575"/>
          </a:xfrm>
          <a:prstGeom prst="rect">
            <a:avLst/>
          </a:prstGeom>
          <a:solidFill>
            <a:srgbClr val="C444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10020300" y="3181350"/>
            <a:ext cx="80048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NOW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20300" y="3581400"/>
            <a:ext cx="800481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764"/>
              </a:lnSpc>
              <a:buNone/>
            </a:pPr>
            <a:r>
              <a:rPr lang="en-US" sz="7800" dirty="0">
                <a:solidFill>
                  <a:srgbClr val="C444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Georgia" pitchFamily="34" charset="-120"/>
              </a:rPr>
              <a:t>新手村剩2個月</a:t>
            </a:r>
            <a:endParaRPr lang="en-US" sz="7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020300" y="4705350"/>
            <a:ext cx="800481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 err="1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如何讓AI賦能自己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90600" y="5600700"/>
            <a:ext cx="10674096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真正的門檻從「會不會」變成「多快學會」。所以這堂課的重點不是工具，而是把學 AI 當成練習提問與判斷的場域。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34F30C4-2ACA-2847-9B7C-37512D21CA2A}"/>
              </a:ext>
            </a:extLst>
          </p:cNvPr>
          <p:cNvSpPr txBox="1"/>
          <p:nvPr/>
        </p:nvSpPr>
        <p:spPr>
          <a:xfrm>
            <a:off x="16637000" y="94488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>
                <a:solidFill>
                  <a:srgbClr val="8A8175"/>
                </a:solidFill>
                <a:latin typeface="Courier New"/>
                <a:cs typeface="Courier New"/>
              </a:rPr>
              <a:t>10</a:t>
            </a:r>
            <a:endParaRPr lang="zh-TW" altLang="en-US" sz="1600" b="1">
              <a:solidFill>
                <a:srgbClr val="8A8175"/>
              </a:solidFill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990600" y="723900"/>
            <a:ext cx="2420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WHY NOW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13906" y="723900"/>
            <a:ext cx="14118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TWO VIEWS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666875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不只他這麼說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3429000"/>
            <a:ext cx="7277100" cy="2857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90600" y="3695700"/>
            <a:ext cx="80048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SAM ALTMAN · OPENAI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0600" y="4089400"/>
            <a:ext cx="800481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764"/>
              </a:lnSpc>
              <a:buNone/>
            </a:pPr>
            <a:r>
              <a:rPr lang="en-US" sz="6000" dirty="0">
                <a:solidFill>
                  <a:srgbClr val="14151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Georgia" pitchFamily="34" charset="-120"/>
              </a:rPr>
              <a:t>兩年就夠</a:t>
            </a:r>
            <a:endParaRPr lang="en-US" sz="6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90600" y="5461000"/>
            <a:ext cx="800481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四年可能超過這個世界的需要，再讀下去是 vastly diminishing returns。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0020300" y="3429000"/>
            <a:ext cx="7277100" cy="28575"/>
          </a:xfrm>
          <a:prstGeom prst="rect">
            <a:avLst/>
          </a:prstGeom>
          <a:solidFill>
            <a:srgbClr val="C444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10020300" y="3695700"/>
            <a:ext cx="80048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ELON MUSK / LU HSIANG-CHIEN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20300" y="4089400"/>
            <a:ext cx="800481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764"/>
              </a:lnSpc>
              <a:buNone/>
            </a:pPr>
            <a:r>
              <a:rPr lang="en-US" sz="6000" dirty="0">
                <a:solidFill>
                  <a:srgbClr val="C444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Georgia" pitchFamily="34" charset="-120"/>
              </a:rPr>
              <a:t>超音速海嘯</a:t>
            </a:r>
            <a:endParaRPr lang="en-US" sz="6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020300" y="5461000"/>
            <a:ext cx="800481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大學正在培養一批「會被 AI 第一批淘汰」的人——因為大學教的，正好是 AI 最擅長的：記憶、解題、標準答案。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90600" y="6858000"/>
            <a:ext cx="8001000" cy="889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3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來源 technews.tw/2026/08/18/</a:t>
            </a:r>
            <a:endParaRPr lang="en-US" sz="2400" dirty="0"/>
          </a:p>
          <a:p>
            <a:pPr marL="0" indent="0" algn="l">
              <a:lnSpc>
                <a:spcPct val="11733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sam-altman-says-two-years-of-college-is-enough/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9" name="Text Source R"/>
          <p:cNvSpPr/>
          <p:nvPr/>
        </p:nvSpPr>
        <p:spPr>
          <a:xfrm>
            <a:off x="10007600" y="6432550"/>
            <a:ext cx="7391400" cy="889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3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來源 hao.cnyes.com/post/213627</a:t>
            </a:r>
            <a:endParaRPr lang="en-US" sz="2400" dirty="0"/>
          </a:p>
          <a:p>
            <a:pPr marL="0" indent="0" algn="l">
              <a:lnSpc>
                <a:spcPct val="11733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鉅亨號，2025.12.07</a:t>
            </a:r>
            <a:endParaRPr lang="en-US" sz="24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6A863B0-D5D5-C0E3-4FDE-4374CDAB16F8}"/>
              </a:ext>
            </a:extLst>
          </p:cNvPr>
          <p:cNvSpPr txBox="1"/>
          <p:nvPr/>
        </p:nvSpPr>
        <p:spPr>
          <a:xfrm>
            <a:off x="925300" y="8965168"/>
            <a:ext cx="4971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TW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</a:rPr>
              <a:t>https://</a:t>
            </a:r>
            <a:r>
              <a:rPr lang="en" altLang="zh-TW" dirty="0" err="1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</a:rPr>
              <a:t>www.youtube.com</a:t>
            </a:r>
            <a:r>
              <a:rPr lang="en" altLang="zh-TW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</a:rPr>
              <a:t>/</a:t>
            </a:r>
            <a:r>
              <a:rPr lang="en" altLang="zh-TW" dirty="0" err="1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</a:rPr>
              <a:t>watch?v</a:t>
            </a:r>
            <a:r>
              <a:rPr lang="en" altLang="zh-TW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</a:rPr>
              <a:t>=UTDalAEU274</a:t>
            </a:r>
            <a:endParaRPr lang="zh-TW" altLang="en-US" dirty="0">
              <a:solidFill>
                <a:srgbClr val="4A463E"/>
              </a:solidFill>
              <a:latin typeface="PingFang TC" pitchFamily="34" charset="0"/>
              <a:ea typeface="PingFang TC" pitchFamily="34" charset="-122"/>
            </a:endParaRP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6FD772E5-5510-DA08-BFEE-EA0CA88599C2}"/>
              </a:ext>
            </a:extLst>
          </p:cNvPr>
          <p:cNvSpPr/>
          <p:nvPr/>
        </p:nvSpPr>
        <p:spPr>
          <a:xfrm>
            <a:off x="986790" y="8393668"/>
            <a:ext cx="1229487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/>
              <a:t>17歲少年參加AI頂尖會議，會場的與會者正在討論「不用上大學」的議題。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8E4C4D9D-853A-B14D-B944-1E18BB2431C2}"/>
              </a:ext>
            </a:extLst>
          </p:cNvPr>
          <p:cNvSpPr txBox="1"/>
          <p:nvPr/>
        </p:nvSpPr>
        <p:spPr>
          <a:xfrm>
            <a:off x="16637000" y="94488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>
                <a:solidFill>
                  <a:srgbClr val="8A8175"/>
                </a:solidFill>
                <a:latin typeface="Courier New"/>
                <a:cs typeface="Courier New"/>
              </a:rPr>
              <a:t>11</a:t>
            </a:r>
            <a:endParaRPr lang="zh-TW" altLang="en-US" sz="1600" b="1">
              <a:solidFill>
                <a:srgbClr val="8A8175"/>
              </a:solidFill>
              <a:latin typeface="Courier New"/>
              <a:cs typeface="Courier New"/>
            </a:endParaRPr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29C157A7-6ED7-EE29-C4C6-076F3BCF3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7650" y="7129106"/>
            <a:ext cx="7772400" cy="224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143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990600" y="723900"/>
            <a:ext cx="2420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WHY NOW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05000" y="723900"/>
            <a:ext cx="28194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MIT · PRINCIPLES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628775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MIT：八項指導原則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2540000"/>
            <a:ext cx="7886700" cy="25400"/>
          </a:xfrm>
          <a:prstGeom prst="rect">
            <a:avLst/>
          </a:prstGeom>
          <a:solidFill>
            <a:srgbClr val="14151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90600" y="2794000"/>
            <a:ext cx="63281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42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816100" y="2794000"/>
            <a:ext cx="6858000" cy="5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保持謙遜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816100" y="3378200"/>
            <a:ext cx="685800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28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政策要能持續修訂，不能一勞永逸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410700" y="2540000"/>
            <a:ext cx="7886700" cy="25400"/>
          </a:xfrm>
          <a:prstGeom prst="rect">
            <a:avLst/>
          </a:prstGeom>
          <a:solidFill>
            <a:srgbClr val="14151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9410700" y="2794000"/>
            <a:ext cx="70157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42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0299700" y="2794000"/>
            <a:ext cx="6858000" cy="5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勇於改革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0299700" y="3378200"/>
            <a:ext cx="685800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28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局部修補不夠，需系統性重構教學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90600" y="4064000"/>
            <a:ext cx="7886700" cy="25400"/>
          </a:xfrm>
          <a:prstGeom prst="rect">
            <a:avLst/>
          </a:prstGeom>
          <a:solidFill>
            <a:srgbClr val="14151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990600" y="4318000"/>
            <a:ext cx="69792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42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1816100" y="4318000"/>
            <a:ext cx="6858000" cy="5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以人為中心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1816100" y="4902200"/>
            <a:ext cx="685800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28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效率不能凌駕學習、連結與福祉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410700" y="4064000"/>
            <a:ext cx="7886700" cy="25400"/>
          </a:xfrm>
          <a:prstGeom prst="rect">
            <a:avLst/>
          </a:prstGeom>
          <a:solidFill>
            <a:srgbClr val="14151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9410700" y="4318000"/>
            <a:ext cx="70492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42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0299700" y="4318000"/>
            <a:ext cx="6858000" cy="5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回到學習本身</a:t>
            </a:r>
            <a:endParaRPr lang="en-US" sz="2850" dirty="0"/>
          </a:p>
        </p:txBody>
      </p:sp>
      <p:sp>
        <p:nvSpPr>
          <p:cNvPr id="21" name="Text 19"/>
          <p:cNvSpPr/>
          <p:nvPr/>
        </p:nvSpPr>
        <p:spPr>
          <a:xfrm>
            <a:off x="10299700" y="4902200"/>
            <a:ext cx="685800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28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產物是心智習慣、洞察與判斷力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5" name="Gen 25"/>
          <p:cNvSpPr/>
          <p:nvPr/>
        </p:nvSpPr>
        <p:spPr>
          <a:xfrm>
            <a:off x="990600" y="5588000"/>
            <a:ext cx="7886700" cy="25400"/>
          </a:xfrm>
          <a:prstGeom prst="rect">
            <a:avLst/>
          </a:prstGeom>
          <a:solidFill>
            <a:srgbClr val="14151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Gen 26"/>
          <p:cNvSpPr/>
          <p:nvPr/>
        </p:nvSpPr>
        <p:spPr>
          <a:xfrm>
            <a:off x="990600" y="5842000"/>
            <a:ext cx="63281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42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4200" dirty="0"/>
          </a:p>
        </p:txBody>
      </p:sp>
      <p:sp>
        <p:nvSpPr>
          <p:cNvPr id="27" name="Gen 27"/>
          <p:cNvSpPr/>
          <p:nvPr/>
        </p:nvSpPr>
        <p:spPr>
          <a:xfrm>
            <a:off x="1816100" y="5842000"/>
            <a:ext cx="6858000" cy="5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有意圖地教學</a:t>
            </a:r>
            <a:endParaRPr lang="en-US" sz="2850" dirty="0"/>
          </a:p>
        </p:txBody>
      </p:sp>
      <p:sp>
        <p:nvSpPr>
          <p:cNvPr id="28" name="Gen 28"/>
          <p:cNvSpPr/>
          <p:nvPr/>
        </p:nvSpPr>
        <p:spPr>
          <a:xfrm>
            <a:off x="1816100" y="6426200"/>
            <a:ext cx="685800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28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先定義核心能力，再決定要不要用 AI</a:t>
            </a:r>
            <a:endParaRPr lang="en-US" sz="2100" dirty="0"/>
          </a:p>
        </p:txBody>
      </p:sp>
      <p:sp>
        <p:nvSpPr>
          <p:cNvPr id="29" name="Gen 29"/>
          <p:cNvSpPr/>
          <p:nvPr/>
        </p:nvSpPr>
        <p:spPr>
          <a:xfrm>
            <a:off x="9410700" y="5588000"/>
            <a:ext cx="7886700" cy="25400"/>
          </a:xfrm>
          <a:prstGeom prst="rect">
            <a:avLst/>
          </a:prstGeom>
          <a:solidFill>
            <a:srgbClr val="14151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Gen 30"/>
          <p:cNvSpPr/>
          <p:nvPr/>
        </p:nvSpPr>
        <p:spPr>
          <a:xfrm>
            <a:off x="9410700" y="5842000"/>
            <a:ext cx="70157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42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4200" dirty="0"/>
          </a:p>
        </p:txBody>
      </p:sp>
      <p:sp>
        <p:nvSpPr>
          <p:cNvPr id="31" name="Gen 31"/>
          <p:cNvSpPr/>
          <p:nvPr/>
        </p:nvSpPr>
        <p:spPr>
          <a:xfrm>
            <a:off x="10299700" y="5842000"/>
            <a:ext cx="6858000" cy="5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沒有單一標準答案</a:t>
            </a:r>
            <a:endParaRPr lang="en-US" sz="2850" dirty="0"/>
          </a:p>
        </p:txBody>
      </p:sp>
      <p:sp>
        <p:nvSpPr>
          <p:cNvPr id="32" name="Gen 32"/>
          <p:cNvSpPr/>
          <p:nvPr/>
        </p:nvSpPr>
        <p:spPr>
          <a:xfrm>
            <a:off x="10299700" y="6426200"/>
            <a:ext cx="685800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28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不同學科與階段，政策就該不同</a:t>
            </a:r>
            <a:endParaRPr lang="en-US" sz="2100" dirty="0"/>
          </a:p>
        </p:txBody>
      </p:sp>
      <p:sp>
        <p:nvSpPr>
          <p:cNvPr id="33" name="Gen 33"/>
          <p:cNvSpPr/>
          <p:nvPr/>
        </p:nvSpPr>
        <p:spPr>
          <a:xfrm>
            <a:off x="990600" y="7112000"/>
            <a:ext cx="7886700" cy="25400"/>
          </a:xfrm>
          <a:prstGeom prst="rect">
            <a:avLst/>
          </a:prstGeom>
          <a:solidFill>
            <a:srgbClr val="14151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Gen 34"/>
          <p:cNvSpPr/>
          <p:nvPr/>
        </p:nvSpPr>
        <p:spPr>
          <a:xfrm>
            <a:off x="990600" y="7366000"/>
            <a:ext cx="63281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42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4200" dirty="0"/>
          </a:p>
        </p:txBody>
      </p:sp>
      <p:sp>
        <p:nvSpPr>
          <p:cNvPr id="35" name="Gen 35"/>
          <p:cNvSpPr/>
          <p:nvPr/>
        </p:nvSpPr>
        <p:spPr>
          <a:xfrm>
            <a:off x="1816100" y="7366000"/>
            <a:ext cx="6858000" cy="5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增能而非自動化</a:t>
            </a:r>
            <a:endParaRPr lang="en-US" sz="2850" dirty="0"/>
          </a:p>
        </p:txBody>
      </p:sp>
      <p:sp>
        <p:nvSpPr>
          <p:cNvPr id="36" name="Gen 36"/>
          <p:cNvSpPr/>
          <p:nvPr/>
        </p:nvSpPr>
        <p:spPr>
          <a:xfrm>
            <a:off x="1816100" y="7950200"/>
            <a:ext cx="685800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28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保留認知摩擦與生產性掙扎</a:t>
            </a:r>
            <a:endParaRPr lang="en-US" sz="2100" dirty="0"/>
          </a:p>
        </p:txBody>
      </p:sp>
      <p:sp>
        <p:nvSpPr>
          <p:cNvPr id="37" name="Gen 37"/>
          <p:cNvSpPr/>
          <p:nvPr/>
        </p:nvSpPr>
        <p:spPr>
          <a:xfrm>
            <a:off x="9410700" y="7112000"/>
            <a:ext cx="7886700" cy="25400"/>
          </a:xfrm>
          <a:prstGeom prst="rect">
            <a:avLst/>
          </a:prstGeom>
          <a:solidFill>
            <a:srgbClr val="14151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8" name="Gen 38"/>
          <p:cNvSpPr/>
          <p:nvPr/>
        </p:nvSpPr>
        <p:spPr>
          <a:xfrm>
            <a:off x="9410700" y="7366000"/>
            <a:ext cx="70157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42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4200" dirty="0"/>
          </a:p>
        </p:txBody>
      </p:sp>
      <p:sp>
        <p:nvSpPr>
          <p:cNvPr id="39" name="Gen 39"/>
          <p:cNvSpPr/>
          <p:nvPr/>
        </p:nvSpPr>
        <p:spPr>
          <a:xfrm>
            <a:off x="10299700" y="7366000"/>
            <a:ext cx="6858000" cy="5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超越教室與校園</a:t>
            </a:r>
            <a:endParaRPr lang="en-US" sz="2850" dirty="0"/>
          </a:p>
        </p:txBody>
      </p:sp>
      <p:sp>
        <p:nvSpPr>
          <p:cNvPr id="40" name="Gen 40"/>
          <p:cNvSpPr/>
          <p:nvPr/>
        </p:nvSpPr>
        <p:spPr>
          <a:xfrm>
            <a:off x="10299700" y="7950200"/>
            <a:ext cx="685800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28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面向職場、社群與公共生活的責任</a:t>
            </a:r>
            <a:endParaRPr lang="en-US" sz="2100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81114FC-1056-6F4E-B49C-317ED4A54020}"/>
              </a:ext>
            </a:extLst>
          </p:cNvPr>
          <p:cNvSpPr txBox="1"/>
          <p:nvPr/>
        </p:nvSpPr>
        <p:spPr>
          <a:xfrm>
            <a:off x="16637000" y="94488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>
                <a:solidFill>
                  <a:srgbClr val="8A8175"/>
                </a:solidFill>
                <a:latin typeface="Courier New"/>
                <a:cs typeface="Courier New"/>
              </a:rPr>
              <a:t>12</a:t>
            </a:r>
            <a:endParaRPr lang="zh-TW" altLang="en-US" sz="1600" b="1">
              <a:solidFill>
                <a:srgbClr val="8A8175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651719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990600" y="723900"/>
            <a:ext cx="2420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WHY NOW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986000" y="723900"/>
            <a:ext cx="24384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MIT · REFORM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628775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三大改革領域 × 四級 AI 課程政策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2921000"/>
            <a:ext cx="7886700" cy="25400"/>
          </a:xfrm>
          <a:prstGeom prst="rect">
            <a:avLst/>
          </a:prstGeom>
          <a:solidFill>
            <a:srgbClr val="14151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90600" y="3149600"/>
            <a:ext cx="6096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42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752600" y="3149600"/>
            <a:ext cx="701040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調整教育流程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752600" y="3708400"/>
            <a:ext cx="7010400" cy="55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282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重審核心學習目標，強化實作課堂與評量改革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410700" y="2921000"/>
            <a:ext cx="7886700" cy="25400"/>
          </a:xfrm>
          <a:prstGeom prst="rect">
            <a:avLst/>
          </a:prstGeom>
          <a:solidFill>
            <a:srgbClr val="14151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9410700" y="3149600"/>
            <a:ext cx="7874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32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T1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0350500" y="3149600"/>
            <a:ext cx="683260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無限制使用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0350500" y="3708400"/>
            <a:ext cx="6832600" cy="55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282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任何環節都可用 AI；評量靠無 AI 課堂測驗或高階整合專案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90600" y="4191000"/>
            <a:ext cx="7886700" cy="25400"/>
          </a:xfrm>
          <a:prstGeom prst="rect">
            <a:avLst/>
          </a:prstGeom>
          <a:solidFill>
            <a:srgbClr val="14151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990600" y="4419600"/>
            <a:ext cx="6096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42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1752600" y="4419600"/>
            <a:ext cx="701040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以人與社群為中心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1752600" y="4978400"/>
            <a:ext cx="7010400" cy="55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282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重振住宿型大學：面對面交流、同儕合作與導師關係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410700" y="4191000"/>
            <a:ext cx="7886700" cy="25400"/>
          </a:xfrm>
          <a:prstGeom prst="rect">
            <a:avLst/>
          </a:prstGeom>
          <a:solidFill>
            <a:srgbClr val="14151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9410700" y="4419600"/>
            <a:ext cx="7874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32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T2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0350500" y="4419600"/>
            <a:ext cx="683260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有限度輔助</a:t>
            </a:r>
            <a:endParaRPr lang="en-US" sz="2850" dirty="0"/>
          </a:p>
        </p:txBody>
      </p:sp>
      <p:sp>
        <p:nvSpPr>
          <p:cNvPr id="21" name="Text 19"/>
          <p:cNvSpPr/>
          <p:nvPr/>
        </p:nvSpPr>
        <p:spPr>
          <a:xfrm>
            <a:off x="10350500" y="4978400"/>
            <a:ext cx="6832600" cy="55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282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只當家教、腦力激盪、潤飾與除錯，不代寫整份答案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5" name="Gen 25"/>
          <p:cNvSpPr/>
          <p:nvPr/>
        </p:nvSpPr>
        <p:spPr>
          <a:xfrm>
            <a:off x="990600" y="5461000"/>
            <a:ext cx="7886700" cy="25400"/>
          </a:xfrm>
          <a:prstGeom prst="rect">
            <a:avLst/>
          </a:prstGeom>
          <a:solidFill>
            <a:srgbClr val="14151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Gen 26"/>
          <p:cNvSpPr/>
          <p:nvPr/>
        </p:nvSpPr>
        <p:spPr>
          <a:xfrm>
            <a:off x="990600" y="5689600"/>
            <a:ext cx="6096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42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200" dirty="0"/>
          </a:p>
        </p:txBody>
      </p:sp>
      <p:sp>
        <p:nvSpPr>
          <p:cNvPr id="27" name="Gen 27"/>
          <p:cNvSpPr/>
          <p:nvPr/>
        </p:nvSpPr>
        <p:spPr>
          <a:xfrm>
            <a:off x="1752600" y="5689600"/>
            <a:ext cx="701040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持續反思與迭代</a:t>
            </a:r>
            <a:endParaRPr lang="en-US" sz="2850" dirty="0"/>
          </a:p>
        </p:txBody>
      </p:sp>
      <p:sp>
        <p:nvSpPr>
          <p:cNvPr id="28" name="Gen 28"/>
          <p:cNvSpPr/>
          <p:nvPr/>
        </p:nvSpPr>
        <p:spPr>
          <a:xfrm>
            <a:off x="1752600" y="6248400"/>
            <a:ext cx="7010400" cy="55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282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常設 AI 委員會、各院系 AI Lead、Pilot Fund 支援</a:t>
            </a:r>
            <a:endParaRPr lang="en-US" sz="2100" dirty="0"/>
          </a:p>
        </p:txBody>
      </p:sp>
      <p:sp>
        <p:nvSpPr>
          <p:cNvPr id="29" name="Gen 29"/>
          <p:cNvSpPr/>
          <p:nvPr/>
        </p:nvSpPr>
        <p:spPr>
          <a:xfrm>
            <a:off x="9410700" y="5461000"/>
            <a:ext cx="7886700" cy="25400"/>
          </a:xfrm>
          <a:prstGeom prst="rect">
            <a:avLst/>
          </a:prstGeom>
          <a:solidFill>
            <a:srgbClr val="14151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Gen 30"/>
          <p:cNvSpPr/>
          <p:nvPr/>
        </p:nvSpPr>
        <p:spPr>
          <a:xfrm>
            <a:off x="9410700" y="5689600"/>
            <a:ext cx="7874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32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T3</a:t>
            </a:r>
            <a:endParaRPr lang="en-US" sz="4200" dirty="0"/>
          </a:p>
        </p:txBody>
      </p:sp>
      <p:sp>
        <p:nvSpPr>
          <p:cNvPr id="31" name="Gen 31"/>
          <p:cNvSpPr/>
          <p:nvPr/>
        </p:nvSpPr>
        <p:spPr>
          <a:xfrm>
            <a:off x="10350500" y="5689600"/>
            <a:ext cx="683260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強制要求使用</a:t>
            </a:r>
            <a:endParaRPr lang="en-US" sz="2850" dirty="0"/>
          </a:p>
        </p:txBody>
      </p:sp>
      <p:sp>
        <p:nvSpPr>
          <p:cNvPr id="32" name="Gen 32"/>
          <p:cNvSpPr/>
          <p:nvPr/>
        </p:nvSpPr>
        <p:spPr>
          <a:xfrm>
            <a:off x="10350500" y="6248400"/>
            <a:ext cx="6832600" cy="55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282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 AI 納入指定作業流程，練提示工程、批判輸出與人機協作</a:t>
            </a:r>
            <a:endParaRPr lang="en-US" sz="2100" dirty="0"/>
          </a:p>
        </p:txBody>
      </p:sp>
      <p:sp>
        <p:nvSpPr>
          <p:cNvPr id="33" name="Gen 33"/>
          <p:cNvSpPr/>
          <p:nvPr/>
        </p:nvSpPr>
        <p:spPr>
          <a:xfrm>
            <a:off x="9410700" y="6731000"/>
            <a:ext cx="7886700" cy="25400"/>
          </a:xfrm>
          <a:prstGeom prst="rect">
            <a:avLst/>
          </a:prstGeom>
          <a:solidFill>
            <a:srgbClr val="14151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Gen 34"/>
          <p:cNvSpPr/>
          <p:nvPr/>
        </p:nvSpPr>
        <p:spPr>
          <a:xfrm>
            <a:off x="9410700" y="6959600"/>
            <a:ext cx="7874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32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T4</a:t>
            </a:r>
            <a:endParaRPr lang="en-US" sz="4200" dirty="0"/>
          </a:p>
        </p:txBody>
      </p:sp>
      <p:sp>
        <p:nvSpPr>
          <p:cNvPr id="35" name="Gen 35"/>
          <p:cNvSpPr/>
          <p:nvPr/>
        </p:nvSpPr>
        <p:spPr>
          <a:xfrm>
            <a:off x="10350500" y="6959600"/>
            <a:ext cx="683260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嚴格禁止使用</a:t>
            </a:r>
            <a:endParaRPr lang="en-US" sz="2850" dirty="0"/>
          </a:p>
        </p:txBody>
      </p:sp>
      <p:sp>
        <p:nvSpPr>
          <p:cNvPr id="36" name="Gen 36"/>
          <p:cNvSpPr/>
          <p:nvPr/>
        </p:nvSpPr>
        <p:spPr>
          <a:xfrm>
            <a:off x="10350500" y="7518400"/>
            <a:ext cx="6832600" cy="55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282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全程禁用生成式 AI，保護最基礎的心智與概念建構</a:t>
            </a:r>
            <a:endParaRPr lang="en-US" sz="2100" dirty="0"/>
          </a:p>
        </p:txBody>
      </p:sp>
      <p:sp>
        <p:nvSpPr>
          <p:cNvPr id="37" name="Hdr 37"/>
          <p:cNvSpPr/>
          <p:nvPr/>
        </p:nvSpPr>
        <p:spPr>
          <a:xfrm>
            <a:off x="990600" y="2489200"/>
            <a:ext cx="7886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THREE AREAS OF REFORM　三大改革領域</a:t>
            </a:r>
            <a:endParaRPr lang="en-US" sz="1800" dirty="0"/>
          </a:p>
        </p:txBody>
      </p:sp>
      <p:sp>
        <p:nvSpPr>
          <p:cNvPr id="38" name="Hdr 38"/>
          <p:cNvSpPr/>
          <p:nvPr/>
        </p:nvSpPr>
        <p:spPr>
          <a:xfrm>
            <a:off x="9410700" y="2489200"/>
            <a:ext cx="7886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FOUR-TIER AI COURSE POLICY　四級課程政策</a:t>
            </a:r>
            <a:endParaRPr lang="en-US" sz="1800" dirty="0"/>
          </a:p>
        </p:txBody>
      </p:sp>
      <p:sp>
        <p:nvSpPr>
          <p:cNvPr id="39" name="Src"/>
          <p:cNvSpPr/>
          <p:nvPr/>
        </p:nvSpPr>
        <p:spPr>
          <a:xfrm>
            <a:off x="990600" y="8534400"/>
            <a:ext cx="163068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來源 orgchart.mit.edu/letters/committee-ai-use-teaching-learning-and-research-training</a:t>
            </a:r>
            <a:endParaRPr lang="en-US" sz="1800" dirty="0"/>
          </a:p>
        </p:txBody>
      </p:sp>
      <p:sp>
        <p:nvSpPr>
          <p:cNvPr id="40" name="Takeaway"/>
          <p:cNvSpPr/>
          <p:nvPr/>
        </p:nvSpPr>
        <p:spPr>
          <a:xfrm>
            <a:off x="990600" y="6858000"/>
            <a:ext cx="7620000" cy="127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28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關鍵在第 7 條：增能而非自動化。AI 用來擴展你處理複雜問題的能力，而不是替你跳過學習必要的摩擦。</a:t>
            </a:r>
            <a:endParaRPr lang="en-US" sz="2100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C8D73E22-8115-0B4E-B146-3ED3F7E877CC}"/>
              </a:ext>
            </a:extLst>
          </p:cNvPr>
          <p:cNvSpPr txBox="1"/>
          <p:nvPr/>
        </p:nvSpPr>
        <p:spPr>
          <a:xfrm>
            <a:off x="16637000" y="94488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>
                <a:solidFill>
                  <a:srgbClr val="8A8175"/>
                </a:solidFill>
                <a:latin typeface="Courier New"/>
                <a:cs typeface="Courier New"/>
              </a:rPr>
              <a:t>13</a:t>
            </a:r>
            <a:endParaRPr lang="zh-TW" altLang="en-US" sz="1600" b="1">
              <a:solidFill>
                <a:srgbClr val="8A8175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203927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101"/>
          <p:cNvSpPr txBox="1"/>
          <p:nvPr/>
        </p:nvSpPr>
        <p:spPr>
          <a:xfrm>
            <a:off x="990600" y="723900"/>
            <a:ext cx="6350000" cy="381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1800" spc="360" dirty="0">
                <a:solidFill>
                  <a:srgbClr val="8A8378"/>
                </a:solidFill>
                <a:latin typeface="Menlo"/>
                <a:ea typeface="Menlo"/>
              </a:rPr>
              <a:t>01 · WHY NOW</a:t>
            </a:r>
          </a:p>
        </p:txBody>
      </p:sp>
      <p:sp>
        <p:nvSpPr>
          <p:cNvPr id="102" name="T102"/>
          <p:cNvSpPr txBox="1"/>
          <p:nvPr/>
        </p:nvSpPr>
        <p:spPr>
          <a:xfrm>
            <a:off x="11074400" y="723900"/>
            <a:ext cx="6350000" cy="381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lang="zh-TW" altLang="en-US" sz="1800" spc="360" dirty="0">
                <a:solidFill>
                  <a:srgbClr val="8A8378"/>
                </a:solidFill>
                <a:latin typeface="Menlo"/>
                <a:ea typeface="Menlo"/>
              </a:rPr>
              <a:t>WHERE ARE WE</a:t>
            </a:r>
          </a:p>
        </p:txBody>
      </p:sp>
      <p:sp>
        <p:nvSpPr>
          <p:cNvPr id="103" name="R103"/>
          <p:cNvSpPr/>
          <p:nvPr/>
        </p:nvSpPr>
        <p:spPr>
          <a:xfrm>
            <a:off x="990600" y="1168400"/>
            <a:ext cx="16306800" cy="12700"/>
          </a:xfrm>
          <a:prstGeom prst="rect">
            <a:avLst/>
          </a:prstGeom>
          <a:solidFill>
            <a:srgbClr val="C9BFA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104"/>
          <p:cNvSpPr txBox="1"/>
          <p:nvPr/>
        </p:nvSpPr>
        <p:spPr>
          <a:xfrm>
            <a:off x="990600" y="1600200"/>
            <a:ext cx="16306800" cy="889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4800" b="1" dirty="0">
                <a:solidFill>
                  <a:srgbClr val="14151A"/>
                </a:solidFill>
                <a:latin typeface="PingFang TC"/>
                <a:ea typeface="PingFang TC"/>
              </a:rPr>
              <a:t>對照網路時代，AI 現在走到哪一格？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990600" y="2743200"/>
            <a:ext cx="11430000" cy="355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1800" spc="288" dirty="0">
                <a:solidFill>
                  <a:srgbClr val="8A8378"/>
                </a:solidFill>
                <a:latin typeface="Menlo"/>
                <a:ea typeface="Menlo"/>
              </a:rPr>
              <a:t>THEN　網路時代</a:t>
            </a:r>
          </a:p>
        </p:txBody>
      </p:sp>
      <p:sp>
        <p:nvSpPr>
          <p:cNvPr id="106" name="R106"/>
          <p:cNvSpPr/>
          <p:nvPr/>
        </p:nvSpPr>
        <p:spPr>
          <a:xfrm>
            <a:off x="990600" y="3276600"/>
            <a:ext cx="3695700" cy="25400"/>
          </a:xfrm>
          <a:prstGeom prst="rect">
            <a:avLst/>
          </a:prstGeom>
          <a:solidFill>
            <a:srgbClr val="C9BFA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T107"/>
          <p:cNvSpPr txBox="1"/>
          <p:nvPr/>
        </p:nvSpPr>
        <p:spPr>
          <a:xfrm>
            <a:off x="990600" y="3479800"/>
            <a:ext cx="3695700" cy="330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1800" spc="288" dirty="0">
                <a:solidFill>
                  <a:srgbClr val="8A8378"/>
                </a:solidFill>
                <a:latin typeface="Menlo"/>
                <a:ea typeface="Menlo"/>
              </a:rPr>
              <a:t>STEP 01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990600" y="3937000"/>
            <a:ext cx="3695700" cy="508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2600" b="1" dirty="0">
                <a:solidFill>
                  <a:srgbClr val="14151A"/>
                </a:solidFill>
                <a:latin typeface="PingFang TC"/>
                <a:ea typeface="PingFang TC"/>
              </a:rPr>
              <a:t>網路基建</a:t>
            </a:r>
          </a:p>
        </p:txBody>
      </p:sp>
      <p:sp>
        <p:nvSpPr>
          <p:cNvPr id="109" name="T109"/>
          <p:cNvSpPr txBox="1"/>
          <p:nvPr/>
        </p:nvSpPr>
        <p:spPr>
          <a:xfrm>
            <a:off x="990600" y="4546600"/>
            <a:ext cx="3695700" cy="762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1800" dirty="0">
                <a:solidFill>
                  <a:srgbClr val="55504A"/>
                </a:solidFill>
                <a:latin typeface="PingFang TC"/>
                <a:ea typeface="PingFang TC"/>
              </a:rPr>
              <a:t>頻寬與伺服器鋪開，資訊爆炸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4737100" y="3987800"/>
            <a:ext cx="40640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zh-TW" altLang="en-US" sz="2400" dirty="0">
                <a:solidFill>
                  <a:srgbClr val="C9BFAE"/>
                </a:solidFill>
                <a:latin typeface="Menlo"/>
                <a:ea typeface="Menlo"/>
              </a:rPr>
              <a:t>→</a:t>
            </a:r>
          </a:p>
        </p:txBody>
      </p:sp>
      <p:sp>
        <p:nvSpPr>
          <p:cNvPr id="111" name="R111"/>
          <p:cNvSpPr/>
          <p:nvPr/>
        </p:nvSpPr>
        <p:spPr>
          <a:xfrm>
            <a:off x="5194300" y="3276600"/>
            <a:ext cx="3695700" cy="25400"/>
          </a:xfrm>
          <a:prstGeom prst="rect">
            <a:avLst/>
          </a:prstGeom>
          <a:solidFill>
            <a:srgbClr val="C9BFA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T112"/>
          <p:cNvSpPr txBox="1"/>
          <p:nvPr/>
        </p:nvSpPr>
        <p:spPr>
          <a:xfrm>
            <a:off x="5194300" y="3479800"/>
            <a:ext cx="3695700" cy="330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1800" spc="288" dirty="0">
                <a:solidFill>
                  <a:srgbClr val="8A8378"/>
                </a:solidFill>
                <a:latin typeface="Menlo"/>
                <a:ea typeface="Menlo"/>
              </a:rPr>
              <a:t>STEP 02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5194300" y="3937000"/>
            <a:ext cx="3695700" cy="508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2600" b="1" dirty="0">
                <a:solidFill>
                  <a:srgbClr val="14151A"/>
                </a:solidFill>
                <a:latin typeface="PingFang TC"/>
                <a:ea typeface="PingFang TC"/>
              </a:rPr>
              <a:t>入口網站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5194300" y="4546600"/>
            <a:ext cx="3695700" cy="762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1800" dirty="0">
                <a:solidFill>
                  <a:srgbClr val="55504A"/>
                </a:solidFill>
                <a:latin typeface="PingFang TC"/>
                <a:ea typeface="PingFang TC"/>
              </a:rPr>
              <a:t>Google、Yahoo 把資訊變成入口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8940800" y="3987800"/>
            <a:ext cx="40640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zh-TW" altLang="en-US" sz="2400" dirty="0">
                <a:solidFill>
                  <a:srgbClr val="C9BFAE"/>
                </a:solidFill>
                <a:latin typeface="Menlo"/>
                <a:ea typeface="Menlo"/>
              </a:rPr>
              <a:t>→</a:t>
            </a:r>
          </a:p>
        </p:txBody>
      </p:sp>
      <p:sp>
        <p:nvSpPr>
          <p:cNvPr id="116" name="R116"/>
          <p:cNvSpPr/>
          <p:nvPr/>
        </p:nvSpPr>
        <p:spPr>
          <a:xfrm>
            <a:off x="9398000" y="3276600"/>
            <a:ext cx="3695700" cy="25400"/>
          </a:xfrm>
          <a:prstGeom prst="rect">
            <a:avLst/>
          </a:prstGeom>
          <a:solidFill>
            <a:srgbClr val="C9BFA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7" name="T117"/>
          <p:cNvSpPr txBox="1"/>
          <p:nvPr/>
        </p:nvSpPr>
        <p:spPr>
          <a:xfrm>
            <a:off x="9398000" y="3479800"/>
            <a:ext cx="3695700" cy="330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1800" spc="288" dirty="0">
                <a:solidFill>
                  <a:srgbClr val="8A8378"/>
                </a:solidFill>
                <a:latin typeface="Menlo"/>
                <a:ea typeface="Menlo"/>
              </a:rPr>
              <a:t>STEP 03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9398000" y="3937000"/>
            <a:ext cx="3695700" cy="508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2600" b="1" dirty="0">
                <a:solidFill>
                  <a:srgbClr val="14151A"/>
                </a:solidFill>
                <a:latin typeface="PingFang TC"/>
                <a:ea typeface="PingFang TC"/>
              </a:rPr>
              <a:t>新的載體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9398000" y="4546600"/>
            <a:ext cx="3695700" cy="762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1800" dirty="0">
                <a:solidFill>
                  <a:srgbClr val="55504A"/>
                </a:solidFill>
                <a:latin typeface="PingFang TC"/>
                <a:ea typeface="PingFang TC"/>
              </a:rPr>
              <a:t>智慧型手機與平板出現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3144500" y="3987800"/>
            <a:ext cx="40640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zh-TW" altLang="en-US" sz="2400" dirty="0">
                <a:solidFill>
                  <a:srgbClr val="C9BFAE"/>
                </a:solidFill>
                <a:latin typeface="Menlo"/>
                <a:ea typeface="Menlo"/>
              </a:rPr>
              <a:t>→</a:t>
            </a:r>
          </a:p>
        </p:txBody>
      </p:sp>
      <p:sp>
        <p:nvSpPr>
          <p:cNvPr id="121" name="R121"/>
          <p:cNvSpPr/>
          <p:nvPr/>
        </p:nvSpPr>
        <p:spPr>
          <a:xfrm>
            <a:off x="13601700" y="3276600"/>
            <a:ext cx="3695700" cy="25400"/>
          </a:xfrm>
          <a:prstGeom prst="rect">
            <a:avLst/>
          </a:prstGeom>
          <a:solidFill>
            <a:srgbClr val="C9BFA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2" name="T122"/>
          <p:cNvSpPr txBox="1"/>
          <p:nvPr/>
        </p:nvSpPr>
        <p:spPr>
          <a:xfrm>
            <a:off x="13601700" y="3479800"/>
            <a:ext cx="3695700" cy="330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1800" spc="288" dirty="0">
                <a:solidFill>
                  <a:srgbClr val="8A8378"/>
                </a:solidFill>
                <a:latin typeface="Menlo"/>
                <a:ea typeface="Menlo"/>
              </a:rPr>
              <a:t>STEP 04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13601700" y="3937000"/>
            <a:ext cx="3695700" cy="508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2600" b="1" dirty="0">
                <a:solidFill>
                  <a:srgbClr val="14151A"/>
                </a:solidFill>
                <a:latin typeface="PingFang TC"/>
                <a:ea typeface="PingFang TC"/>
              </a:rPr>
              <a:t>App 大爆發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3601700" y="4546600"/>
            <a:ext cx="3695700" cy="762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1800" dirty="0">
                <a:solidFill>
                  <a:srgbClr val="55504A"/>
                </a:solidFill>
                <a:latin typeface="PingFang TC"/>
                <a:ea typeface="PingFang TC"/>
              </a:rPr>
              <a:t>應用普及，商業模式成形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990600" y="5689600"/>
            <a:ext cx="11430000" cy="355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1800" spc="288" dirty="0">
                <a:solidFill>
                  <a:srgbClr val="B4472A"/>
                </a:solidFill>
                <a:latin typeface="Menlo"/>
                <a:ea typeface="Menlo"/>
              </a:rPr>
              <a:t>NOW　AI 時代（我們同步在走</a:t>
            </a:r>
            <a:r>
              <a:rPr lang="en-US" altLang="zh-TW" sz="1800" spc="288" dirty="0">
                <a:solidFill>
                  <a:srgbClr val="B4472A"/>
                </a:solidFill>
                <a:latin typeface="Menlo"/>
                <a:ea typeface="Menlo"/>
              </a:rPr>
              <a:t>1,2,3</a:t>
            </a:r>
            <a:r>
              <a:rPr lang="zh-TW" altLang="en-US" sz="1800" spc="288" dirty="0">
                <a:solidFill>
                  <a:srgbClr val="B4472A"/>
                </a:solidFill>
                <a:latin typeface="Menlo"/>
                <a:ea typeface="Menlo"/>
              </a:rPr>
              <a:t>格）</a:t>
            </a:r>
          </a:p>
        </p:txBody>
      </p:sp>
      <p:sp>
        <p:nvSpPr>
          <p:cNvPr id="126" name="R126"/>
          <p:cNvSpPr/>
          <p:nvPr/>
        </p:nvSpPr>
        <p:spPr>
          <a:xfrm>
            <a:off x="990600" y="6223000"/>
            <a:ext cx="3695700" cy="25400"/>
          </a:xfrm>
          <a:prstGeom prst="rect">
            <a:avLst/>
          </a:prstGeom>
          <a:solidFill>
            <a:srgbClr val="B44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7" name="T127"/>
          <p:cNvSpPr txBox="1"/>
          <p:nvPr/>
        </p:nvSpPr>
        <p:spPr>
          <a:xfrm>
            <a:off x="990600" y="6426200"/>
            <a:ext cx="3695700" cy="330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1800" spc="288" dirty="0">
                <a:solidFill>
                  <a:srgbClr val="B4472A"/>
                </a:solidFill>
                <a:latin typeface="Menlo"/>
                <a:ea typeface="Menlo"/>
              </a:rPr>
              <a:t>STEP 01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990600" y="6883400"/>
            <a:ext cx="3695700" cy="508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2600" b="1" dirty="0">
                <a:solidFill>
                  <a:srgbClr val="14151A"/>
                </a:solidFill>
                <a:latin typeface="PingFang TC"/>
                <a:ea typeface="PingFang TC"/>
              </a:rPr>
              <a:t>AI 基建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990600" y="7493000"/>
            <a:ext cx="3695700" cy="762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1800" dirty="0">
                <a:solidFill>
                  <a:srgbClr val="55504A"/>
                </a:solidFill>
                <a:latin typeface="PingFang TC"/>
                <a:ea typeface="PingFang TC"/>
              </a:rPr>
              <a:t>算力、模型與資料仍在鋪設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4737100" y="6934200"/>
            <a:ext cx="40640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zh-TW" altLang="en-US" sz="2400" dirty="0">
                <a:solidFill>
                  <a:srgbClr val="B4472A"/>
                </a:solidFill>
                <a:latin typeface="Menlo"/>
                <a:ea typeface="Menlo"/>
              </a:rPr>
              <a:t>→</a:t>
            </a:r>
          </a:p>
        </p:txBody>
      </p:sp>
      <p:sp>
        <p:nvSpPr>
          <p:cNvPr id="131" name="R131"/>
          <p:cNvSpPr/>
          <p:nvPr/>
        </p:nvSpPr>
        <p:spPr>
          <a:xfrm>
            <a:off x="5194300" y="6223000"/>
            <a:ext cx="3695700" cy="25400"/>
          </a:xfrm>
          <a:prstGeom prst="rect">
            <a:avLst/>
          </a:prstGeom>
          <a:solidFill>
            <a:srgbClr val="B44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2" name="T132"/>
          <p:cNvSpPr txBox="1"/>
          <p:nvPr/>
        </p:nvSpPr>
        <p:spPr>
          <a:xfrm>
            <a:off x="5194300" y="6426200"/>
            <a:ext cx="3695700" cy="330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1800" spc="288" dirty="0">
                <a:solidFill>
                  <a:srgbClr val="B4472A"/>
                </a:solidFill>
                <a:latin typeface="Menlo"/>
                <a:ea typeface="Menlo"/>
              </a:rPr>
              <a:t>STEP 02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5194300" y="6883400"/>
            <a:ext cx="3695700" cy="508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2600" b="1" dirty="0">
                <a:solidFill>
                  <a:srgbClr val="14151A"/>
                </a:solidFill>
                <a:latin typeface="PingFang TC"/>
                <a:ea typeface="PingFang TC"/>
              </a:rPr>
              <a:t>AI OS？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5194300" y="7493000"/>
            <a:ext cx="3695700" cy="762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1800" dirty="0">
                <a:solidFill>
                  <a:srgbClr val="55504A"/>
                </a:solidFill>
                <a:latin typeface="PingFang TC"/>
                <a:ea typeface="PingFang TC"/>
              </a:rPr>
              <a:t>普及化的 AI 作業系統還沒出現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8940800" y="6934200"/>
            <a:ext cx="40640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zh-TW" altLang="en-US" sz="2400" dirty="0">
                <a:solidFill>
                  <a:srgbClr val="B4472A"/>
                </a:solidFill>
                <a:latin typeface="Menlo"/>
                <a:ea typeface="Menlo"/>
              </a:rPr>
              <a:t>→</a:t>
            </a:r>
          </a:p>
        </p:txBody>
      </p:sp>
      <p:sp>
        <p:nvSpPr>
          <p:cNvPr id="136" name="R136"/>
          <p:cNvSpPr/>
          <p:nvPr/>
        </p:nvSpPr>
        <p:spPr>
          <a:xfrm>
            <a:off x="9398000" y="6223000"/>
            <a:ext cx="3695700" cy="25400"/>
          </a:xfrm>
          <a:prstGeom prst="rect">
            <a:avLst/>
          </a:prstGeom>
          <a:solidFill>
            <a:srgbClr val="C9BFA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7" name="T137"/>
          <p:cNvSpPr txBox="1"/>
          <p:nvPr/>
        </p:nvSpPr>
        <p:spPr>
          <a:xfrm>
            <a:off x="9398000" y="6426200"/>
            <a:ext cx="3695700" cy="330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1800" spc="288" dirty="0">
                <a:solidFill>
                  <a:srgbClr val="6E675C"/>
                </a:solidFill>
                <a:latin typeface="Menlo"/>
                <a:ea typeface="Menlo"/>
              </a:rPr>
              <a:t>STEP 03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9398000" y="6883400"/>
            <a:ext cx="3695700" cy="508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2600" b="1" dirty="0">
                <a:solidFill>
                  <a:srgbClr val="6E675C"/>
                </a:solidFill>
                <a:latin typeface="PingFang TC"/>
                <a:ea typeface="PingFang TC"/>
              </a:rPr>
              <a:t>新的載體</a:t>
            </a:r>
          </a:p>
        </p:txBody>
      </p:sp>
      <p:sp>
        <p:nvSpPr>
          <p:cNvPr id="139" name="T139"/>
          <p:cNvSpPr txBox="1"/>
          <p:nvPr/>
        </p:nvSpPr>
        <p:spPr>
          <a:xfrm>
            <a:off x="9398000" y="7493000"/>
            <a:ext cx="3695700" cy="762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1800" dirty="0">
                <a:solidFill>
                  <a:srgbClr val="6E675C"/>
                </a:solidFill>
                <a:latin typeface="PingFang TC"/>
                <a:ea typeface="PingFang TC"/>
              </a:rPr>
              <a:t>自駕車、機器人剛開始長出來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13144500" y="6934200"/>
            <a:ext cx="40640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zh-TW" altLang="en-US" sz="2400" dirty="0">
                <a:solidFill>
                  <a:srgbClr val="C9BFAE"/>
                </a:solidFill>
                <a:latin typeface="Menlo"/>
                <a:ea typeface="Menlo"/>
              </a:rPr>
              <a:t>→</a:t>
            </a:r>
          </a:p>
        </p:txBody>
      </p:sp>
      <p:sp>
        <p:nvSpPr>
          <p:cNvPr id="141" name="R141"/>
          <p:cNvSpPr/>
          <p:nvPr/>
        </p:nvSpPr>
        <p:spPr>
          <a:xfrm>
            <a:off x="13601700" y="6223000"/>
            <a:ext cx="3695700" cy="25400"/>
          </a:xfrm>
          <a:prstGeom prst="rect">
            <a:avLst/>
          </a:prstGeom>
          <a:solidFill>
            <a:srgbClr val="C9BFA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2" name="T142"/>
          <p:cNvSpPr txBox="1"/>
          <p:nvPr/>
        </p:nvSpPr>
        <p:spPr>
          <a:xfrm>
            <a:off x="13601700" y="6426200"/>
            <a:ext cx="3695700" cy="330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1800" spc="288" dirty="0">
                <a:solidFill>
                  <a:srgbClr val="6E675C"/>
                </a:solidFill>
                <a:latin typeface="Menlo"/>
                <a:ea typeface="Menlo"/>
              </a:rPr>
              <a:t>STEP 04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13601700" y="6883400"/>
            <a:ext cx="3695700" cy="508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2600" b="1" dirty="0">
                <a:solidFill>
                  <a:srgbClr val="6E675C"/>
                </a:solidFill>
                <a:latin typeface="PingFang TC"/>
                <a:ea typeface="PingFang TC"/>
              </a:rPr>
              <a:t>應用大爆發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13601700" y="7493000"/>
            <a:ext cx="3695700" cy="762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1800" dirty="0">
                <a:solidFill>
                  <a:srgbClr val="6E675C"/>
                </a:solidFill>
                <a:latin typeface="PingFang TC"/>
                <a:ea typeface="PingFang TC"/>
              </a:rPr>
              <a:t>要等規則長出來才會發生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990600" y="8483600"/>
            <a:ext cx="16306800" cy="406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2000" dirty="0">
                <a:solidFill>
                  <a:srgbClr val="14151A"/>
                </a:solidFill>
                <a:latin typeface="PingFang TC"/>
                <a:ea typeface="PingFang TC"/>
              </a:rPr>
              <a:t>還在「探索規則」的階段，世界也在摸索，所以 AI 迭代才這麼快。</a:t>
            </a:r>
            <a:endParaRPr lang="en-US" altLang="zh-TW" sz="2000" dirty="0">
              <a:solidFill>
                <a:srgbClr val="14151A"/>
              </a:solidFill>
              <a:latin typeface="PingFang TC"/>
              <a:ea typeface="PingFang TC"/>
            </a:endParaRPr>
          </a:p>
          <a:p>
            <a:pPr algn="l">
              <a:lnSpc>
                <a:spcPct val="140000"/>
              </a:lnSpc>
            </a:pPr>
            <a:r>
              <a:rPr lang="zh-TW" altLang="en-US" sz="2000" dirty="0">
                <a:solidFill>
                  <a:srgbClr val="14151A"/>
                </a:solidFill>
                <a:latin typeface="PingFang TC"/>
                <a:ea typeface="PingFang TC"/>
              </a:rPr>
              <a:t>等規則穩下來，應用大爆發才會到，然後節奏會更快。</a:t>
            </a:r>
          </a:p>
        </p:txBody>
      </p:sp>
      <p:sp>
        <p:nvSpPr>
          <p:cNvPr id="146" name="T146"/>
          <p:cNvSpPr txBox="1"/>
          <p:nvPr/>
        </p:nvSpPr>
        <p:spPr>
          <a:xfrm>
            <a:off x="2838450" y="9474200"/>
            <a:ext cx="650875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1800" dirty="0">
                <a:solidFill>
                  <a:srgbClr val="8A8378"/>
                </a:solidFill>
                <a:latin typeface="PingFang TC"/>
                <a:ea typeface="PingFang TC"/>
              </a:rPr>
              <a:t>部分參考 曾</a:t>
            </a:r>
            <a:r>
              <a:rPr lang="zh-TW" altLang="en-US" dirty="0">
                <a:solidFill>
                  <a:srgbClr val="8A8378"/>
                </a:solidFill>
                <a:latin typeface="PingFang TC"/>
                <a:ea typeface="PingFang TC"/>
              </a:rPr>
              <a:t>鳴</a:t>
            </a:r>
            <a:r>
              <a:rPr lang="zh-TW" altLang="en-US" sz="1800" dirty="0">
                <a:solidFill>
                  <a:srgbClr val="8A8378"/>
                </a:solidFill>
                <a:latin typeface="PingFang TC"/>
                <a:ea typeface="PingFang TC"/>
              </a:rPr>
              <a:t>《智能》，部分為個人觀點</a:t>
            </a:r>
          </a:p>
        </p:txBody>
      </p:sp>
      <p:sp>
        <p:nvSpPr>
          <p:cNvPr id="147" name="R147"/>
          <p:cNvSpPr/>
          <p:nvPr/>
        </p:nvSpPr>
        <p:spPr>
          <a:xfrm>
            <a:off x="990600" y="9410700"/>
            <a:ext cx="16306800" cy="12700"/>
          </a:xfrm>
          <a:prstGeom prst="rect">
            <a:avLst/>
          </a:prstGeom>
          <a:solidFill>
            <a:srgbClr val="C9BFA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8" name="T148"/>
          <p:cNvSpPr txBox="1"/>
          <p:nvPr/>
        </p:nvSpPr>
        <p:spPr>
          <a:xfrm>
            <a:off x="990600" y="9550400"/>
            <a:ext cx="5080000" cy="330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1200" spc="288" dirty="0">
                <a:solidFill>
                  <a:srgbClr val="8A8378"/>
                </a:solidFill>
                <a:latin typeface="Menlo"/>
                <a:ea typeface="Menlo"/>
              </a:rPr>
              <a:t>AIMING DATA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CB35D50-5D6D-1E92-7743-8AF807C31712}"/>
              </a:ext>
            </a:extLst>
          </p:cNvPr>
          <p:cNvSpPr txBox="1"/>
          <p:nvPr/>
        </p:nvSpPr>
        <p:spPr>
          <a:xfrm>
            <a:off x="5704513" y="2746056"/>
            <a:ext cx="318548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6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降低資訊篩選的負擔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6DDE6D3-9FD6-D7BF-7A19-DCA9AE70C3A1}"/>
              </a:ext>
            </a:extLst>
          </p:cNvPr>
          <p:cNvSpPr txBox="1"/>
          <p:nvPr/>
        </p:nvSpPr>
        <p:spPr>
          <a:xfrm>
            <a:off x="7038211" y="5641657"/>
            <a:ext cx="185178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6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增加生產力</a:t>
            </a:r>
          </a:p>
        </p:txBody>
      </p:sp>
      <p:sp>
        <p:nvSpPr>
          <p:cNvPr id="4" name="文字方塊 3">
            <a:hlinkClick r:id="rId2"/>
            <a:extLst>
              <a:ext uri="{FF2B5EF4-FFF2-40B4-BE49-F238E27FC236}">
                <a16:creationId xmlns:a16="http://schemas.microsoft.com/office/drawing/2014/main" id="{75FA2EEA-F05C-9C49-F3C6-B2D8523CA71C}"/>
              </a:ext>
            </a:extLst>
          </p:cNvPr>
          <p:cNvSpPr txBox="1"/>
          <p:nvPr/>
        </p:nvSpPr>
        <p:spPr>
          <a:xfrm>
            <a:off x="1209151" y="7975600"/>
            <a:ext cx="7462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</a:t>
            </a:r>
            <a:r>
              <a:rPr kumimoji="1" lang="en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  <a:hlinkClick r:id="rId2"/>
              </a:rPr>
              <a:t>Google Cloud</a:t>
            </a:r>
            <a:r>
              <a:rPr kumimoji="1"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  <a:hlinkClick r:id="rId2"/>
              </a:rPr>
              <a:t>攜手</a:t>
            </a:r>
            <a:r>
              <a:rPr kumimoji="1" lang="en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  <a:hlinkClick r:id="rId2"/>
              </a:rPr>
              <a:t>Accenture</a:t>
            </a:r>
            <a:r>
              <a:rPr kumimoji="1"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  <a:hlinkClick r:id="rId2"/>
              </a:rPr>
              <a:t>加速</a:t>
            </a:r>
            <a:r>
              <a:rPr kumimoji="1" lang="en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  <a:hlinkClick r:id="rId2"/>
              </a:rPr>
              <a:t>AI</a:t>
            </a:r>
            <a:r>
              <a:rPr kumimoji="1"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  <a:hlinkClick r:id="rId2"/>
              </a:rPr>
              <a:t>企業部署 培訓</a:t>
            </a:r>
            <a:r>
              <a:rPr kumimoji="1"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  <a:hlinkClick r:id="rId2"/>
              </a:rPr>
              <a:t>1000</a:t>
            </a:r>
            <a:r>
              <a:rPr kumimoji="1"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  <a:hlinkClick r:id="rId2"/>
              </a:rPr>
              <a:t>名</a:t>
            </a:r>
            <a:r>
              <a:rPr kumimoji="1" lang="en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  <a:hlinkClick r:id="rId2"/>
              </a:rPr>
              <a:t>FDE</a:t>
            </a:r>
            <a:r>
              <a:rPr kumimoji="1"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  <a:hlinkClick r:id="rId2"/>
              </a:rPr>
              <a:t>工程師</a:t>
            </a:r>
            <a:endParaRPr kumimoji="1" lang="zh-TW" altLang="en-US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D9C1D2D-E920-9D07-77A4-BDB1B8110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8553" y="8005752"/>
            <a:ext cx="7108506" cy="2166948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77C6D6E3-1BD9-5E44-8CD8-4DA555A57182}"/>
              </a:ext>
            </a:extLst>
          </p:cNvPr>
          <p:cNvSpPr txBox="1"/>
          <p:nvPr/>
        </p:nvSpPr>
        <p:spPr>
          <a:xfrm>
            <a:off x="16637000" y="94488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>
                <a:solidFill>
                  <a:srgbClr val="8A8175"/>
                </a:solidFill>
                <a:latin typeface="Courier New"/>
                <a:cs typeface="Courier New"/>
              </a:rPr>
              <a:t>14</a:t>
            </a:r>
            <a:endParaRPr lang="zh-TW" altLang="en-US" sz="1600" b="1">
              <a:solidFill>
                <a:srgbClr val="8A8175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662216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矩形 87">
            <a:extLst>
              <a:ext uri="{FF2B5EF4-FFF2-40B4-BE49-F238E27FC236}">
                <a16:creationId xmlns:a16="http://schemas.microsoft.com/office/drawing/2014/main" id="{1D7FF719-F668-6347-9F98-FD76C5032BB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EB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0" name="文字方塊 89">
            <a:extLst>
              <a:ext uri="{FF2B5EF4-FFF2-40B4-BE49-F238E27FC236}">
                <a16:creationId xmlns:a16="http://schemas.microsoft.com/office/drawing/2014/main" id="{5D3F373A-BCE0-BB4F-B035-2E8BD36741CB}"/>
              </a:ext>
            </a:extLst>
          </p:cNvPr>
          <p:cNvSpPr txBox="1"/>
          <p:nvPr/>
        </p:nvSpPr>
        <p:spPr>
          <a:xfrm>
            <a:off x="13779500" y="558800"/>
            <a:ext cx="36195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600" b="1">
                <a:solidFill>
                  <a:srgbClr val="777168"/>
                </a:solidFill>
                <a:latin typeface="Courier New"/>
                <a:cs typeface="Courier New"/>
              </a:rPr>
              <a:t>INFORMATION MULTIPLIER</a:t>
            </a:r>
            <a:endParaRPr lang="zh-TW" altLang="en-US" sz="1600" b="1">
              <a:solidFill>
                <a:srgbClr val="777168"/>
              </a:solidFill>
              <a:latin typeface="Courier New"/>
              <a:cs typeface="Courier New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3EC0E1B4-69AC-E042-BDA0-A77C2B4DB4F6}"/>
              </a:ext>
            </a:extLst>
          </p:cNvPr>
          <p:cNvSpPr/>
          <p:nvPr/>
        </p:nvSpPr>
        <p:spPr>
          <a:xfrm>
            <a:off x="889000" y="1016000"/>
            <a:ext cx="16510000" cy="12700"/>
          </a:xfrm>
          <a:prstGeom prst="rect">
            <a:avLst/>
          </a:prstGeom>
          <a:solidFill>
            <a:srgbClr val="CFC5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2" name="文字方塊 91">
            <a:extLst>
              <a:ext uri="{FF2B5EF4-FFF2-40B4-BE49-F238E27FC236}">
                <a16:creationId xmlns:a16="http://schemas.microsoft.com/office/drawing/2014/main" id="{A88C9835-14F7-FD42-98BB-1606EAD3F51E}"/>
              </a:ext>
            </a:extLst>
          </p:cNvPr>
          <p:cNvSpPr txBox="1"/>
          <p:nvPr/>
        </p:nvSpPr>
        <p:spPr>
          <a:xfrm>
            <a:off x="889000" y="1320800"/>
            <a:ext cx="16510000" cy="660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3100" b="1" dirty="0">
                <a:solidFill>
                  <a:srgbClr val="191A1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Agent </a:t>
            </a:r>
            <a:r>
              <a:rPr lang="zh-TW" altLang="en-US" sz="3100" b="1" dirty="0">
                <a:solidFill>
                  <a:srgbClr val="191A1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時代，資訊混亂不是加法，而是乘法</a:t>
            </a:r>
          </a:p>
        </p:txBody>
      </p: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BBCC6F53-21D2-8343-8F81-B2CBFFCEC6B0}"/>
              </a:ext>
            </a:extLst>
          </p:cNvPr>
          <p:cNvSpPr txBox="1"/>
          <p:nvPr/>
        </p:nvSpPr>
        <p:spPr>
          <a:xfrm>
            <a:off x="889000" y="2044700"/>
            <a:ext cx="160020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600">
                <a:solidFill>
                  <a:srgbClr val="777168"/>
                </a:solidFill>
                <a:latin typeface="Noto Sans TC"/>
              </a:rPr>
              <a:t>網路時代的內容產能受限於人的時間；</a:t>
            </a:r>
            <a:r>
              <a:rPr lang="en" altLang="zh-TW" sz="1600">
                <a:solidFill>
                  <a:srgbClr val="777168"/>
                </a:solidFill>
                <a:latin typeface="Noto Sans TC"/>
              </a:rPr>
              <a:t>Agent </a:t>
            </a:r>
            <a:r>
              <a:rPr lang="zh-TW" altLang="en-US" sz="1600">
                <a:solidFill>
                  <a:srgbClr val="777168"/>
                </a:solidFill>
                <a:latin typeface="Noto Sans TC"/>
              </a:rPr>
              <a:t>讓一個意圖分裂成多條可反覆運作的資訊鏈。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0DC515DA-AC2D-AF42-843A-16C75F224656}"/>
              </a:ext>
            </a:extLst>
          </p:cNvPr>
          <p:cNvSpPr/>
          <p:nvPr/>
        </p:nvSpPr>
        <p:spPr>
          <a:xfrm>
            <a:off x="889000" y="2794000"/>
            <a:ext cx="16510000" cy="4381500"/>
          </a:xfrm>
          <a:prstGeom prst="rect">
            <a:avLst/>
          </a:prstGeom>
          <a:solidFill>
            <a:srgbClr val="1724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 dirty="0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518EE2DA-4865-6344-B478-FEAC5790F0BC}"/>
              </a:ext>
            </a:extLst>
          </p:cNvPr>
          <p:cNvSpPr/>
          <p:nvPr/>
        </p:nvSpPr>
        <p:spPr>
          <a:xfrm>
            <a:off x="4953000" y="3098800"/>
            <a:ext cx="12700" cy="3149600"/>
          </a:xfrm>
          <a:prstGeom prst="rect">
            <a:avLst/>
          </a:prstGeom>
          <a:solidFill>
            <a:srgbClr val="43545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9D521AAF-5B82-E04D-BDB7-92E2EB3E9616}"/>
              </a:ext>
            </a:extLst>
          </p:cNvPr>
          <p:cNvSpPr/>
          <p:nvPr/>
        </p:nvSpPr>
        <p:spPr>
          <a:xfrm>
            <a:off x="12319000" y="3098800"/>
            <a:ext cx="12700" cy="3149600"/>
          </a:xfrm>
          <a:prstGeom prst="rect">
            <a:avLst/>
          </a:prstGeom>
          <a:solidFill>
            <a:srgbClr val="43545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7" name="文字方塊 96">
            <a:extLst>
              <a:ext uri="{FF2B5EF4-FFF2-40B4-BE49-F238E27FC236}">
                <a16:creationId xmlns:a16="http://schemas.microsoft.com/office/drawing/2014/main" id="{F5049AB8-CFFD-C74E-A4C8-CB515A491853}"/>
              </a:ext>
            </a:extLst>
          </p:cNvPr>
          <p:cNvSpPr txBox="1"/>
          <p:nvPr/>
        </p:nvSpPr>
        <p:spPr>
          <a:xfrm>
            <a:off x="1219200" y="3098800"/>
            <a:ext cx="2413000" cy="2667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100" b="1">
                <a:solidFill>
                  <a:srgbClr val="AEBABD"/>
                </a:solidFill>
                <a:latin typeface="Courier New"/>
                <a:cs typeface="Courier New"/>
              </a:rPr>
              <a:t>INTERNET ERA</a:t>
            </a:r>
            <a:endParaRPr lang="zh-TW" altLang="en-US" sz="1100" b="1">
              <a:solidFill>
                <a:srgbClr val="AEBABD"/>
              </a:solidFill>
              <a:latin typeface="Courier New"/>
              <a:cs typeface="Courier New"/>
            </a:endParaRPr>
          </a:p>
        </p:txBody>
      </p:sp>
      <p:sp>
        <p:nvSpPr>
          <p:cNvPr id="98" name="文字方塊 97">
            <a:extLst>
              <a:ext uri="{FF2B5EF4-FFF2-40B4-BE49-F238E27FC236}">
                <a16:creationId xmlns:a16="http://schemas.microsoft.com/office/drawing/2014/main" id="{1EDECF73-0DDE-5242-B11E-2283EC7F9A7D}"/>
              </a:ext>
            </a:extLst>
          </p:cNvPr>
          <p:cNvSpPr txBox="1"/>
          <p:nvPr/>
        </p:nvSpPr>
        <p:spPr>
          <a:xfrm>
            <a:off x="1219200" y="3479800"/>
            <a:ext cx="31750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2200" b="1">
                <a:solidFill>
                  <a:srgbClr val="FFFDF8"/>
                </a:solidFill>
                <a:latin typeface="Noto Sans TC"/>
              </a:rPr>
              <a:t>人類生產內容</a:t>
            </a:r>
          </a:p>
        </p:txBody>
      </p:sp>
      <p:sp>
        <p:nvSpPr>
          <p:cNvPr id="99" name="文字方塊 98">
            <a:extLst>
              <a:ext uri="{FF2B5EF4-FFF2-40B4-BE49-F238E27FC236}">
                <a16:creationId xmlns:a16="http://schemas.microsoft.com/office/drawing/2014/main" id="{43463D84-A15D-FE45-9EB8-F3FF56C1C734}"/>
              </a:ext>
            </a:extLst>
          </p:cNvPr>
          <p:cNvSpPr txBox="1"/>
          <p:nvPr/>
        </p:nvSpPr>
        <p:spPr>
          <a:xfrm>
            <a:off x="1219200" y="3975100"/>
            <a:ext cx="3175000" cy="533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300">
                <a:solidFill>
                  <a:srgbClr val="BFC9CC"/>
                </a:solidFill>
                <a:latin typeface="Noto Sans TC"/>
              </a:rPr>
              <a:t>人的時間與注意力，決定資訊產能上限</a:t>
            </a:r>
          </a:p>
        </p:txBody>
      </p:sp>
      <p:sp>
        <p:nvSpPr>
          <p:cNvPr id="100" name="橢圓 99">
            <a:extLst>
              <a:ext uri="{FF2B5EF4-FFF2-40B4-BE49-F238E27FC236}">
                <a16:creationId xmlns:a16="http://schemas.microsoft.com/office/drawing/2014/main" id="{B26F5E91-311C-0F42-9C8F-8447A5B792E2}"/>
              </a:ext>
            </a:extLst>
          </p:cNvPr>
          <p:cNvSpPr/>
          <p:nvPr/>
        </p:nvSpPr>
        <p:spPr>
          <a:xfrm>
            <a:off x="1320800" y="4851400"/>
            <a:ext cx="609600" cy="609600"/>
          </a:xfrm>
          <a:prstGeom prst="ellipse">
            <a:avLst/>
          </a:prstGeom>
          <a:solidFill>
            <a:srgbClr val="FFFD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zh-TW" altLang="en-US" sz="1300" b="1">
                <a:solidFill>
                  <a:srgbClr val="191A1D"/>
                </a:solidFill>
                <a:latin typeface="Noto Sans TC"/>
              </a:rPr>
              <a:t>人</a:t>
            </a:r>
          </a:p>
        </p:txBody>
      </p:sp>
      <p:sp>
        <p:nvSpPr>
          <p:cNvPr id="101" name="橢圓 100">
            <a:extLst>
              <a:ext uri="{FF2B5EF4-FFF2-40B4-BE49-F238E27FC236}">
                <a16:creationId xmlns:a16="http://schemas.microsoft.com/office/drawing/2014/main" id="{C56B0B2C-5076-DA43-8048-528BA1558059}"/>
              </a:ext>
            </a:extLst>
          </p:cNvPr>
          <p:cNvSpPr/>
          <p:nvPr/>
        </p:nvSpPr>
        <p:spPr>
          <a:xfrm>
            <a:off x="2209800" y="4851400"/>
            <a:ext cx="609600" cy="609600"/>
          </a:xfrm>
          <a:prstGeom prst="ellipse">
            <a:avLst/>
          </a:prstGeom>
          <a:solidFill>
            <a:srgbClr val="FFFD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zh-TW" altLang="en-US" sz="1300" b="1">
                <a:solidFill>
                  <a:srgbClr val="191A1D"/>
                </a:solidFill>
                <a:latin typeface="Noto Sans TC"/>
              </a:rPr>
              <a:t>人</a:t>
            </a:r>
          </a:p>
        </p:txBody>
      </p:sp>
      <p:sp>
        <p:nvSpPr>
          <p:cNvPr id="102" name="橢圓 101">
            <a:extLst>
              <a:ext uri="{FF2B5EF4-FFF2-40B4-BE49-F238E27FC236}">
                <a16:creationId xmlns:a16="http://schemas.microsoft.com/office/drawing/2014/main" id="{F3EA8545-6305-2645-818E-1F3E35F93A82}"/>
              </a:ext>
            </a:extLst>
          </p:cNvPr>
          <p:cNvSpPr/>
          <p:nvPr/>
        </p:nvSpPr>
        <p:spPr>
          <a:xfrm>
            <a:off x="3098800" y="4851400"/>
            <a:ext cx="609600" cy="609600"/>
          </a:xfrm>
          <a:prstGeom prst="ellipse">
            <a:avLst/>
          </a:prstGeom>
          <a:solidFill>
            <a:srgbClr val="FFFD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zh-TW" altLang="en-US" sz="1300" b="1">
                <a:solidFill>
                  <a:srgbClr val="191A1D"/>
                </a:solidFill>
                <a:latin typeface="Noto Sans TC"/>
              </a:rPr>
              <a:t>人</a:t>
            </a:r>
          </a:p>
        </p:txBody>
      </p:sp>
      <p:sp>
        <p:nvSpPr>
          <p:cNvPr id="103" name="向右箭號 102">
            <a:extLst>
              <a:ext uri="{FF2B5EF4-FFF2-40B4-BE49-F238E27FC236}">
                <a16:creationId xmlns:a16="http://schemas.microsoft.com/office/drawing/2014/main" id="{2460C617-8AB0-6B4E-B6D4-F1821836D646}"/>
              </a:ext>
            </a:extLst>
          </p:cNvPr>
          <p:cNvSpPr/>
          <p:nvPr/>
        </p:nvSpPr>
        <p:spPr>
          <a:xfrm>
            <a:off x="3886200" y="4991100"/>
            <a:ext cx="533400" cy="330200"/>
          </a:xfrm>
          <a:prstGeom prst="rightArrow">
            <a:avLst/>
          </a:prstGeom>
          <a:solidFill>
            <a:srgbClr val="71838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D57D763B-FB16-9B45-941A-28E26BD25C90}"/>
              </a:ext>
            </a:extLst>
          </p:cNvPr>
          <p:cNvSpPr/>
          <p:nvPr/>
        </p:nvSpPr>
        <p:spPr>
          <a:xfrm>
            <a:off x="1219200" y="5753100"/>
            <a:ext cx="3200400" cy="533400"/>
          </a:xfrm>
          <a:prstGeom prst="rect">
            <a:avLst/>
          </a:prstGeom>
          <a:solidFill>
            <a:srgbClr val="243842"/>
          </a:solidFill>
          <a:ln w="12700" cap="flat" cmpd="sng" algn="ctr">
            <a:solidFill>
              <a:srgbClr val="43545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5" name="文字方塊 104">
            <a:extLst>
              <a:ext uri="{FF2B5EF4-FFF2-40B4-BE49-F238E27FC236}">
                <a16:creationId xmlns:a16="http://schemas.microsoft.com/office/drawing/2014/main" id="{1BFACACE-9B79-414C-96F1-A6732415109E}"/>
              </a:ext>
            </a:extLst>
          </p:cNvPr>
          <p:cNvSpPr txBox="1"/>
          <p:nvPr/>
        </p:nvSpPr>
        <p:spPr>
          <a:xfrm>
            <a:off x="1371600" y="5829300"/>
            <a:ext cx="28956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300" b="1">
                <a:solidFill>
                  <a:srgbClr val="D9E0E2"/>
                </a:solidFill>
                <a:latin typeface="Courier New"/>
                <a:cs typeface="Courier New"/>
              </a:rPr>
              <a:t>人數 </a:t>
            </a:r>
            <a:r>
              <a:rPr lang="en-US" altLang="zh-TW" sz="1300" b="1">
                <a:solidFill>
                  <a:srgbClr val="D9E0E2"/>
                </a:solidFill>
                <a:latin typeface="Courier New"/>
                <a:cs typeface="Courier New"/>
              </a:rPr>
              <a:t>× </a:t>
            </a:r>
            <a:r>
              <a:rPr lang="zh-TW" altLang="en-US" sz="1300" b="1">
                <a:solidFill>
                  <a:srgbClr val="D9E0E2"/>
                </a:solidFill>
                <a:latin typeface="Courier New"/>
                <a:cs typeface="Courier New"/>
              </a:rPr>
              <a:t>時間 </a:t>
            </a:r>
            <a:r>
              <a:rPr lang="en-US" altLang="zh-TW" sz="1300" b="1">
                <a:solidFill>
                  <a:srgbClr val="D9E0E2"/>
                </a:solidFill>
                <a:latin typeface="Courier New"/>
                <a:cs typeface="Courier New"/>
              </a:rPr>
              <a:t>× </a:t>
            </a:r>
            <a:r>
              <a:rPr lang="zh-TW" altLang="en-US" sz="1300" b="1">
                <a:solidFill>
                  <a:srgbClr val="D9E0E2"/>
                </a:solidFill>
                <a:latin typeface="Courier New"/>
                <a:cs typeface="Courier New"/>
              </a:rPr>
              <a:t>注意力</a:t>
            </a:r>
          </a:p>
        </p:txBody>
      </p:sp>
      <p:sp>
        <p:nvSpPr>
          <p:cNvPr id="106" name="文字方塊 105">
            <a:extLst>
              <a:ext uri="{FF2B5EF4-FFF2-40B4-BE49-F238E27FC236}">
                <a16:creationId xmlns:a16="http://schemas.microsoft.com/office/drawing/2014/main" id="{5029B852-08FE-F049-9CCA-D95B589DEAC0}"/>
              </a:ext>
            </a:extLst>
          </p:cNvPr>
          <p:cNvSpPr txBox="1"/>
          <p:nvPr/>
        </p:nvSpPr>
        <p:spPr>
          <a:xfrm>
            <a:off x="5334000" y="3098800"/>
            <a:ext cx="2159000" cy="2667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100" b="1">
                <a:solidFill>
                  <a:srgbClr val="F0A58C"/>
                </a:solidFill>
                <a:latin typeface="Courier New"/>
                <a:cs typeface="Courier New"/>
              </a:rPr>
              <a:t>AGENT ERA</a:t>
            </a:r>
            <a:endParaRPr lang="zh-TW" altLang="en-US" sz="1100" b="1">
              <a:solidFill>
                <a:srgbClr val="F0A58C"/>
              </a:solidFill>
              <a:latin typeface="Courier New"/>
              <a:cs typeface="Courier New"/>
            </a:endParaRPr>
          </a:p>
        </p:txBody>
      </p:sp>
      <p:sp>
        <p:nvSpPr>
          <p:cNvPr id="107" name="文字方塊 106">
            <a:extLst>
              <a:ext uri="{FF2B5EF4-FFF2-40B4-BE49-F238E27FC236}">
                <a16:creationId xmlns:a16="http://schemas.microsoft.com/office/drawing/2014/main" id="{6FFA0910-B01A-D442-8D1A-B9005159B30C}"/>
              </a:ext>
            </a:extLst>
          </p:cNvPr>
          <p:cNvSpPr txBox="1"/>
          <p:nvPr/>
        </p:nvSpPr>
        <p:spPr>
          <a:xfrm>
            <a:off x="5334000" y="3479800"/>
            <a:ext cx="54610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2200" b="1">
                <a:solidFill>
                  <a:srgbClr val="FFFDF8"/>
                </a:solidFill>
                <a:latin typeface="Noto Sans TC"/>
              </a:rPr>
              <a:t>一個意圖，多條工作流</a:t>
            </a:r>
          </a:p>
        </p:txBody>
      </p:sp>
      <p:sp>
        <p:nvSpPr>
          <p:cNvPr id="108" name="文字方塊 107">
            <a:extLst>
              <a:ext uri="{FF2B5EF4-FFF2-40B4-BE49-F238E27FC236}">
                <a16:creationId xmlns:a16="http://schemas.microsoft.com/office/drawing/2014/main" id="{4A580609-68AD-9D4E-8B29-413B60D52744}"/>
              </a:ext>
            </a:extLst>
          </p:cNvPr>
          <p:cNvSpPr txBox="1"/>
          <p:nvPr/>
        </p:nvSpPr>
        <p:spPr>
          <a:xfrm>
            <a:off x="5334000" y="39751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300">
                <a:solidFill>
                  <a:srgbClr val="BFC9CC"/>
                </a:solidFill>
                <a:latin typeface="Noto Sans TC"/>
              </a:rPr>
              <a:t>Agent </a:t>
            </a:r>
            <a:r>
              <a:rPr lang="zh-TW" altLang="en-US" sz="1300">
                <a:solidFill>
                  <a:srgbClr val="BFC9CC"/>
                </a:solidFill>
                <a:latin typeface="Noto Sans TC"/>
              </a:rPr>
              <a:t>將目標拆解、分工並反覆執行</a:t>
            </a:r>
          </a:p>
        </p:txBody>
      </p:sp>
      <p:sp>
        <p:nvSpPr>
          <p:cNvPr id="109" name="橢圓 108">
            <a:extLst>
              <a:ext uri="{FF2B5EF4-FFF2-40B4-BE49-F238E27FC236}">
                <a16:creationId xmlns:a16="http://schemas.microsoft.com/office/drawing/2014/main" id="{943DA9CC-80D3-F746-A5CE-264CAAFBDBFE}"/>
              </a:ext>
            </a:extLst>
          </p:cNvPr>
          <p:cNvSpPr/>
          <p:nvPr/>
        </p:nvSpPr>
        <p:spPr>
          <a:xfrm>
            <a:off x="5397500" y="4787900"/>
            <a:ext cx="939800" cy="939800"/>
          </a:xfrm>
          <a:prstGeom prst="ellipse">
            <a:avLst/>
          </a:prstGeom>
          <a:solidFill>
            <a:srgbClr val="C947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TW" sz="2600" b="1">
                <a:solidFill>
                  <a:srgbClr val="FFFDF8"/>
                </a:solidFill>
                <a:latin typeface="Noto Sans TC"/>
              </a:rPr>
              <a:t>1</a:t>
            </a:r>
            <a:endParaRPr lang="zh-TW" altLang="en-US" sz="2600" b="1">
              <a:solidFill>
                <a:srgbClr val="FFFDF8"/>
              </a:solidFill>
              <a:latin typeface="Noto Sans TC"/>
            </a:endParaRPr>
          </a:p>
        </p:txBody>
      </p:sp>
      <p:sp>
        <p:nvSpPr>
          <p:cNvPr id="110" name="文字方塊 109">
            <a:extLst>
              <a:ext uri="{FF2B5EF4-FFF2-40B4-BE49-F238E27FC236}">
                <a16:creationId xmlns:a16="http://schemas.microsoft.com/office/drawing/2014/main" id="{F395B0A2-F5BF-4E48-8A28-C543BD8AA313}"/>
              </a:ext>
            </a:extLst>
          </p:cNvPr>
          <p:cNvSpPr txBox="1"/>
          <p:nvPr/>
        </p:nvSpPr>
        <p:spPr>
          <a:xfrm>
            <a:off x="5283200" y="5816600"/>
            <a:ext cx="11684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200" b="1">
                <a:solidFill>
                  <a:srgbClr val="F0A58C"/>
                </a:solidFill>
                <a:latin typeface="Noto Sans TC"/>
              </a:rPr>
              <a:t>人的意圖</a:t>
            </a:r>
          </a:p>
        </p:txBody>
      </p:sp>
      <p:sp>
        <p:nvSpPr>
          <p:cNvPr id="111" name="向右箭號 110">
            <a:extLst>
              <a:ext uri="{FF2B5EF4-FFF2-40B4-BE49-F238E27FC236}">
                <a16:creationId xmlns:a16="http://schemas.microsoft.com/office/drawing/2014/main" id="{002D1801-D992-6F44-8333-F69E9ADB019B}"/>
              </a:ext>
            </a:extLst>
          </p:cNvPr>
          <p:cNvSpPr/>
          <p:nvPr/>
        </p:nvSpPr>
        <p:spPr>
          <a:xfrm>
            <a:off x="6604000" y="5054600"/>
            <a:ext cx="609600" cy="330200"/>
          </a:xfrm>
          <a:prstGeom prst="rightArrow">
            <a:avLst/>
          </a:prstGeom>
          <a:solidFill>
            <a:srgbClr val="C947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DF6C6F1F-369B-AA4B-8215-A74DBF2D062D}"/>
              </a:ext>
            </a:extLst>
          </p:cNvPr>
          <p:cNvSpPr/>
          <p:nvPr/>
        </p:nvSpPr>
        <p:spPr>
          <a:xfrm>
            <a:off x="7213600" y="4484720"/>
            <a:ext cx="63500" cy="1662080"/>
          </a:xfrm>
          <a:prstGeom prst="rect">
            <a:avLst/>
          </a:prstGeom>
          <a:solidFill>
            <a:srgbClr val="C947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13" name="向右箭號 112">
            <a:extLst>
              <a:ext uri="{FF2B5EF4-FFF2-40B4-BE49-F238E27FC236}">
                <a16:creationId xmlns:a16="http://schemas.microsoft.com/office/drawing/2014/main" id="{8765C574-4367-FA45-8036-B4C003E3FF29}"/>
              </a:ext>
            </a:extLst>
          </p:cNvPr>
          <p:cNvSpPr/>
          <p:nvPr/>
        </p:nvSpPr>
        <p:spPr>
          <a:xfrm>
            <a:off x="7264400" y="4406900"/>
            <a:ext cx="431800" cy="279400"/>
          </a:xfrm>
          <a:prstGeom prst="rightArrow">
            <a:avLst/>
          </a:prstGeom>
          <a:solidFill>
            <a:srgbClr val="C947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14" name="橢圓 113">
            <a:extLst>
              <a:ext uri="{FF2B5EF4-FFF2-40B4-BE49-F238E27FC236}">
                <a16:creationId xmlns:a16="http://schemas.microsoft.com/office/drawing/2014/main" id="{93ACFD9C-F0C5-5949-B715-78412C9D59C7}"/>
              </a:ext>
            </a:extLst>
          </p:cNvPr>
          <p:cNvSpPr/>
          <p:nvPr/>
        </p:nvSpPr>
        <p:spPr>
          <a:xfrm>
            <a:off x="7759700" y="4241800"/>
            <a:ext cx="635000" cy="635000"/>
          </a:xfrm>
          <a:prstGeom prst="ellipse">
            <a:avLst/>
          </a:prstGeom>
          <a:solidFill>
            <a:srgbClr val="24384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" altLang="zh-TW" sz="1200" b="1">
                <a:solidFill>
                  <a:srgbClr val="FFFDF8"/>
                </a:solidFill>
                <a:latin typeface="Noto Sans TC"/>
              </a:rPr>
              <a:t>A1</a:t>
            </a:r>
            <a:endParaRPr lang="zh-TW" altLang="en-US" sz="1200" b="1">
              <a:solidFill>
                <a:srgbClr val="FFFDF8"/>
              </a:solidFill>
              <a:latin typeface="Noto Sans TC"/>
            </a:endParaRPr>
          </a:p>
        </p:txBody>
      </p:sp>
      <p:sp>
        <p:nvSpPr>
          <p:cNvPr id="115" name="文字方塊 114">
            <a:extLst>
              <a:ext uri="{FF2B5EF4-FFF2-40B4-BE49-F238E27FC236}">
                <a16:creationId xmlns:a16="http://schemas.microsoft.com/office/drawing/2014/main" id="{39184655-377C-DC48-BE61-ED3915BF7CA2}"/>
              </a:ext>
            </a:extLst>
          </p:cNvPr>
          <p:cNvSpPr txBox="1"/>
          <p:nvPr/>
        </p:nvSpPr>
        <p:spPr>
          <a:xfrm>
            <a:off x="8559800" y="4305300"/>
            <a:ext cx="9906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300" b="1">
                <a:solidFill>
                  <a:srgbClr val="FFFDF8"/>
                </a:solidFill>
                <a:latin typeface="Noto Sans TC"/>
              </a:rPr>
              <a:t>研究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4AE465A4-9434-A94A-8F61-560BF48D90C9}"/>
              </a:ext>
            </a:extLst>
          </p:cNvPr>
          <p:cNvSpPr/>
          <p:nvPr/>
        </p:nvSpPr>
        <p:spPr>
          <a:xfrm>
            <a:off x="8559800" y="4635500"/>
            <a:ext cx="2032000" cy="25400"/>
          </a:xfrm>
          <a:prstGeom prst="rect">
            <a:avLst/>
          </a:prstGeom>
          <a:solidFill>
            <a:srgbClr val="43545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17" name="向右箭號 116">
            <a:extLst>
              <a:ext uri="{FF2B5EF4-FFF2-40B4-BE49-F238E27FC236}">
                <a16:creationId xmlns:a16="http://schemas.microsoft.com/office/drawing/2014/main" id="{86221176-6FCA-F548-87D2-5DDC29920EDF}"/>
              </a:ext>
            </a:extLst>
          </p:cNvPr>
          <p:cNvSpPr/>
          <p:nvPr/>
        </p:nvSpPr>
        <p:spPr>
          <a:xfrm>
            <a:off x="7264400" y="5168900"/>
            <a:ext cx="431800" cy="279400"/>
          </a:xfrm>
          <a:prstGeom prst="rightArrow">
            <a:avLst/>
          </a:prstGeom>
          <a:solidFill>
            <a:srgbClr val="C947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18" name="橢圓 117">
            <a:extLst>
              <a:ext uri="{FF2B5EF4-FFF2-40B4-BE49-F238E27FC236}">
                <a16:creationId xmlns:a16="http://schemas.microsoft.com/office/drawing/2014/main" id="{0EC8684D-0F82-5F41-84D2-A46F65941C6F}"/>
              </a:ext>
            </a:extLst>
          </p:cNvPr>
          <p:cNvSpPr/>
          <p:nvPr/>
        </p:nvSpPr>
        <p:spPr>
          <a:xfrm>
            <a:off x="7759700" y="5003800"/>
            <a:ext cx="635000" cy="635000"/>
          </a:xfrm>
          <a:prstGeom prst="ellipse">
            <a:avLst/>
          </a:prstGeom>
          <a:solidFill>
            <a:srgbClr val="24384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" altLang="zh-TW" sz="1200" b="1">
                <a:solidFill>
                  <a:srgbClr val="FFFDF8"/>
                </a:solidFill>
                <a:latin typeface="Noto Sans TC"/>
              </a:rPr>
              <a:t>A2</a:t>
            </a:r>
            <a:endParaRPr lang="zh-TW" altLang="en-US" sz="1200" b="1">
              <a:solidFill>
                <a:srgbClr val="FFFDF8"/>
              </a:solidFill>
              <a:latin typeface="Noto Sans TC"/>
            </a:endParaRPr>
          </a:p>
        </p:txBody>
      </p:sp>
      <p:sp>
        <p:nvSpPr>
          <p:cNvPr id="119" name="文字方塊 118">
            <a:extLst>
              <a:ext uri="{FF2B5EF4-FFF2-40B4-BE49-F238E27FC236}">
                <a16:creationId xmlns:a16="http://schemas.microsoft.com/office/drawing/2014/main" id="{1F2A4BE9-C61A-6145-B309-D35C851A8F8B}"/>
              </a:ext>
            </a:extLst>
          </p:cNvPr>
          <p:cNvSpPr txBox="1"/>
          <p:nvPr/>
        </p:nvSpPr>
        <p:spPr>
          <a:xfrm>
            <a:off x="8559800" y="5067300"/>
            <a:ext cx="9906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300" b="1">
                <a:solidFill>
                  <a:srgbClr val="FFFDF8"/>
                </a:solidFill>
                <a:latin typeface="Noto Sans TC"/>
              </a:rPr>
              <a:t>整理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316B89AF-39CE-7F46-B63B-87F0B9B64942}"/>
              </a:ext>
            </a:extLst>
          </p:cNvPr>
          <p:cNvSpPr/>
          <p:nvPr/>
        </p:nvSpPr>
        <p:spPr>
          <a:xfrm>
            <a:off x="8559800" y="5397500"/>
            <a:ext cx="2032000" cy="25400"/>
          </a:xfrm>
          <a:prstGeom prst="rect">
            <a:avLst/>
          </a:prstGeom>
          <a:solidFill>
            <a:srgbClr val="43545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21" name="向右箭號 120">
            <a:extLst>
              <a:ext uri="{FF2B5EF4-FFF2-40B4-BE49-F238E27FC236}">
                <a16:creationId xmlns:a16="http://schemas.microsoft.com/office/drawing/2014/main" id="{4CAC5E67-D8E9-D04D-95BF-E4464A516D5B}"/>
              </a:ext>
            </a:extLst>
          </p:cNvPr>
          <p:cNvSpPr/>
          <p:nvPr/>
        </p:nvSpPr>
        <p:spPr>
          <a:xfrm>
            <a:off x="7264400" y="5930900"/>
            <a:ext cx="431800" cy="279400"/>
          </a:xfrm>
          <a:prstGeom prst="rightArrow">
            <a:avLst/>
          </a:prstGeom>
          <a:solidFill>
            <a:srgbClr val="C947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22" name="橢圓 121">
            <a:extLst>
              <a:ext uri="{FF2B5EF4-FFF2-40B4-BE49-F238E27FC236}">
                <a16:creationId xmlns:a16="http://schemas.microsoft.com/office/drawing/2014/main" id="{7EE924EA-38F4-7048-A74D-DA35FE0C0CAB}"/>
              </a:ext>
            </a:extLst>
          </p:cNvPr>
          <p:cNvSpPr/>
          <p:nvPr/>
        </p:nvSpPr>
        <p:spPr>
          <a:xfrm>
            <a:off x="7759700" y="5765800"/>
            <a:ext cx="635000" cy="635000"/>
          </a:xfrm>
          <a:prstGeom prst="ellipse">
            <a:avLst/>
          </a:prstGeom>
          <a:solidFill>
            <a:srgbClr val="24384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" altLang="zh-TW" sz="1200" b="1">
                <a:solidFill>
                  <a:srgbClr val="FFFDF8"/>
                </a:solidFill>
                <a:latin typeface="Noto Sans TC"/>
              </a:rPr>
              <a:t>A3</a:t>
            </a:r>
            <a:endParaRPr lang="zh-TW" altLang="en-US" sz="1200" b="1">
              <a:solidFill>
                <a:srgbClr val="FFFDF8"/>
              </a:solidFill>
              <a:latin typeface="Noto Sans TC"/>
            </a:endParaRPr>
          </a:p>
        </p:txBody>
      </p:sp>
      <p:sp>
        <p:nvSpPr>
          <p:cNvPr id="123" name="文字方塊 122">
            <a:extLst>
              <a:ext uri="{FF2B5EF4-FFF2-40B4-BE49-F238E27FC236}">
                <a16:creationId xmlns:a16="http://schemas.microsoft.com/office/drawing/2014/main" id="{7D4E6997-6FE1-F348-8B79-05929B1F90E4}"/>
              </a:ext>
            </a:extLst>
          </p:cNvPr>
          <p:cNvSpPr txBox="1"/>
          <p:nvPr/>
        </p:nvSpPr>
        <p:spPr>
          <a:xfrm>
            <a:off x="8559800" y="5829300"/>
            <a:ext cx="9906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300" b="1">
                <a:solidFill>
                  <a:srgbClr val="FFFDF8"/>
                </a:solidFill>
                <a:latin typeface="Noto Sans TC"/>
              </a:rPr>
              <a:t>發布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40337F40-76F8-2A4E-9985-0923FFDA3AB6}"/>
              </a:ext>
            </a:extLst>
          </p:cNvPr>
          <p:cNvSpPr/>
          <p:nvPr/>
        </p:nvSpPr>
        <p:spPr>
          <a:xfrm>
            <a:off x="8559800" y="6159500"/>
            <a:ext cx="2032000" cy="25400"/>
          </a:xfrm>
          <a:prstGeom prst="rect">
            <a:avLst/>
          </a:prstGeom>
          <a:solidFill>
            <a:srgbClr val="43545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25" name="文字方塊 124">
            <a:extLst>
              <a:ext uri="{FF2B5EF4-FFF2-40B4-BE49-F238E27FC236}">
                <a16:creationId xmlns:a16="http://schemas.microsoft.com/office/drawing/2014/main" id="{3E798C0A-F357-924D-881E-378B89133FC0}"/>
              </a:ext>
            </a:extLst>
          </p:cNvPr>
          <p:cNvSpPr txBox="1"/>
          <p:nvPr/>
        </p:nvSpPr>
        <p:spPr>
          <a:xfrm>
            <a:off x="5334000" y="6477000"/>
            <a:ext cx="635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600" b="1">
                <a:solidFill>
                  <a:srgbClr val="F0A58C"/>
                </a:solidFill>
                <a:latin typeface="Courier New"/>
                <a:cs typeface="Courier New"/>
              </a:rPr>
              <a:t>× Agent </a:t>
            </a:r>
            <a:r>
              <a:rPr lang="zh-TW" altLang="en-US" sz="1600" b="1">
                <a:solidFill>
                  <a:srgbClr val="F0A58C"/>
                </a:solidFill>
                <a:latin typeface="Courier New"/>
                <a:cs typeface="Courier New"/>
              </a:rPr>
              <a:t>數  </a:t>
            </a:r>
            <a:r>
              <a:rPr lang="en-US" altLang="zh-TW" sz="1600" b="1">
                <a:solidFill>
                  <a:srgbClr val="F0A58C"/>
                </a:solidFill>
                <a:latin typeface="Courier New"/>
                <a:cs typeface="Courier New"/>
              </a:rPr>
              <a:t>× </a:t>
            </a:r>
            <a:r>
              <a:rPr lang="zh-TW" altLang="en-US" sz="1600" b="1">
                <a:solidFill>
                  <a:srgbClr val="F0A58C"/>
                </a:solidFill>
                <a:latin typeface="Courier New"/>
                <a:cs typeface="Courier New"/>
              </a:rPr>
              <a:t>任務數  </a:t>
            </a:r>
            <a:r>
              <a:rPr lang="en-US" altLang="zh-TW" sz="1600" b="1">
                <a:solidFill>
                  <a:srgbClr val="F0A58C"/>
                </a:solidFill>
                <a:latin typeface="Courier New"/>
                <a:cs typeface="Courier New"/>
              </a:rPr>
              <a:t>× </a:t>
            </a:r>
            <a:r>
              <a:rPr lang="zh-TW" altLang="en-US" sz="1600" b="1">
                <a:solidFill>
                  <a:srgbClr val="F0A58C"/>
                </a:solidFill>
                <a:latin typeface="Courier New"/>
                <a:cs typeface="Courier New"/>
              </a:rPr>
              <a:t>迭代次數</a:t>
            </a:r>
          </a:p>
        </p:txBody>
      </p:sp>
      <p:sp>
        <p:nvSpPr>
          <p:cNvPr id="126" name="文字方塊 125">
            <a:extLst>
              <a:ext uri="{FF2B5EF4-FFF2-40B4-BE49-F238E27FC236}">
                <a16:creationId xmlns:a16="http://schemas.microsoft.com/office/drawing/2014/main" id="{B8F6B0F0-1E24-F544-9723-FB96704299B6}"/>
              </a:ext>
            </a:extLst>
          </p:cNvPr>
          <p:cNvSpPr txBox="1"/>
          <p:nvPr/>
        </p:nvSpPr>
        <p:spPr>
          <a:xfrm>
            <a:off x="12700000" y="3098800"/>
            <a:ext cx="2540000" cy="2667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100" b="1">
                <a:solidFill>
                  <a:srgbClr val="AEBABD"/>
                </a:solidFill>
                <a:latin typeface="Courier New"/>
                <a:cs typeface="Courier New"/>
              </a:rPr>
              <a:t>FEEDBACK LOOP</a:t>
            </a:r>
            <a:endParaRPr lang="zh-TW" altLang="en-US" sz="1100" b="1">
              <a:solidFill>
                <a:srgbClr val="AEBABD"/>
              </a:solidFill>
              <a:latin typeface="Courier New"/>
              <a:cs typeface="Courier New"/>
            </a:endParaRPr>
          </a:p>
        </p:txBody>
      </p:sp>
      <p:sp>
        <p:nvSpPr>
          <p:cNvPr id="127" name="文字方塊 126">
            <a:extLst>
              <a:ext uri="{FF2B5EF4-FFF2-40B4-BE49-F238E27FC236}">
                <a16:creationId xmlns:a16="http://schemas.microsoft.com/office/drawing/2014/main" id="{8AD792B3-DBA5-AF4D-866C-4DFA9962C38C}"/>
              </a:ext>
            </a:extLst>
          </p:cNvPr>
          <p:cNvSpPr txBox="1"/>
          <p:nvPr/>
        </p:nvSpPr>
        <p:spPr>
          <a:xfrm>
            <a:off x="12700000" y="3479800"/>
            <a:ext cx="39370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2200" b="1">
                <a:solidFill>
                  <a:srgbClr val="FFFDF8"/>
                </a:solidFill>
                <a:latin typeface="Noto Sans TC"/>
              </a:rPr>
              <a:t>輸出再成為輸入</a:t>
            </a:r>
          </a:p>
        </p:txBody>
      </p:sp>
      <p:sp>
        <p:nvSpPr>
          <p:cNvPr id="128" name="文字方塊 127">
            <a:extLst>
              <a:ext uri="{FF2B5EF4-FFF2-40B4-BE49-F238E27FC236}">
                <a16:creationId xmlns:a16="http://schemas.microsoft.com/office/drawing/2014/main" id="{E5BE0CEE-10A4-A443-AEE2-27DEE9F06A31}"/>
              </a:ext>
            </a:extLst>
          </p:cNvPr>
          <p:cNvSpPr txBox="1"/>
          <p:nvPr/>
        </p:nvSpPr>
        <p:spPr>
          <a:xfrm>
            <a:off x="12700000" y="3975100"/>
            <a:ext cx="3810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300">
                <a:solidFill>
                  <a:srgbClr val="BFC9CC"/>
                </a:solidFill>
                <a:latin typeface="Noto Sans TC"/>
              </a:rPr>
              <a:t>生成、重組與傳播會持續循環</a:t>
            </a: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8CA57A27-2D97-7648-B175-73F9D8BF4D0C}"/>
              </a:ext>
            </a:extLst>
          </p:cNvPr>
          <p:cNvSpPr/>
          <p:nvPr/>
        </p:nvSpPr>
        <p:spPr>
          <a:xfrm>
            <a:off x="12725400" y="4673600"/>
            <a:ext cx="609600" cy="406400"/>
          </a:xfrm>
          <a:prstGeom prst="rect">
            <a:avLst/>
          </a:prstGeom>
          <a:solidFill>
            <a:srgbClr val="C947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602A2D0A-A6B3-1646-932C-5BB7570BA4F9}"/>
              </a:ext>
            </a:extLst>
          </p:cNvPr>
          <p:cNvSpPr/>
          <p:nvPr/>
        </p:nvSpPr>
        <p:spPr>
          <a:xfrm>
            <a:off x="13512800" y="4673600"/>
            <a:ext cx="609600" cy="406400"/>
          </a:xfrm>
          <a:prstGeom prst="rect">
            <a:avLst/>
          </a:prstGeom>
          <a:solidFill>
            <a:srgbClr val="FFFD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57B7F2D3-96DC-FC42-9DC5-FE00D2FD9BFD}"/>
              </a:ext>
            </a:extLst>
          </p:cNvPr>
          <p:cNvSpPr/>
          <p:nvPr/>
        </p:nvSpPr>
        <p:spPr>
          <a:xfrm>
            <a:off x="14300200" y="4673600"/>
            <a:ext cx="609600" cy="406400"/>
          </a:xfrm>
          <a:prstGeom prst="rect">
            <a:avLst/>
          </a:prstGeom>
          <a:solidFill>
            <a:srgbClr val="FFFD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76CD5D6F-383B-644F-9246-0F8964724C2A}"/>
              </a:ext>
            </a:extLst>
          </p:cNvPr>
          <p:cNvSpPr/>
          <p:nvPr/>
        </p:nvSpPr>
        <p:spPr>
          <a:xfrm>
            <a:off x="15087600" y="4673600"/>
            <a:ext cx="609600" cy="406400"/>
          </a:xfrm>
          <a:prstGeom prst="rect">
            <a:avLst/>
          </a:prstGeom>
          <a:solidFill>
            <a:srgbClr val="FFFD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2E1C92A3-2744-244B-AFDD-5967D4833205}"/>
              </a:ext>
            </a:extLst>
          </p:cNvPr>
          <p:cNvSpPr/>
          <p:nvPr/>
        </p:nvSpPr>
        <p:spPr>
          <a:xfrm>
            <a:off x="12725400" y="5321300"/>
            <a:ext cx="609600" cy="406400"/>
          </a:xfrm>
          <a:prstGeom prst="rect">
            <a:avLst/>
          </a:prstGeom>
          <a:solidFill>
            <a:srgbClr val="FFFD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974DC877-BDCB-F74C-9FC0-CA99F63342FE}"/>
              </a:ext>
            </a:extLst>
          </p:cNvPr>
          <p:cNvSpPr/>
          <p:nvPr/>
        </p:nvSpPr>
        <p:spPr>
          <a:xfrm>
            <a:off x="13512800" y="5321300"/>
            <a:ext cx="609600" cy="406400"/>
          </a:xfrm>
          <a:prstGeom prst="rect">
            <a:avLst/>
          </a:prstGeom>
          <a:solidFill>
            <a:srgbClr val="FFFD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6A6BFA80-4F31-914C-A1E5-D3DDDF6CEC7C}"/>
              </a:ext>
            </a:extLst>
          </p:cNvPr>
          <p:cNvSpPr/>
          <p:nvPr/>
        </p:nvSpPr>
        <p:spPr>
          <a:xfrm>
            <a:off x="14300200" y="5321300"/>
            <a:ext cx="609600" cy="406400"/>
          </a:xfrm>
          <a:prstGeom prst="rect">
            <a:avLst/>
          </a:prstGeom>
          <a:solidFill>
            <a:srgbClr val="FFFD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0A8CA3D4-10FB-7940-850B-A42807384799}"/>
              </a:ext>
            </a:extLst>
          </p:cNvPr>
          <p:cNvSpPr/>
          <p:nvPr/>
        </p:nvSpPr>
        <p:spPr>
          <a:xfrm>
            <a:off x="15087600" y="5321300"/>
            <a:ext cx="609600" cy="406400"/>
          </a:xfrm>
          <a:prstGeom prst="rect">
            <a:avLst/>
          </a:prstGeom>
          <a:solidFill>
            <a:srgbClr val="FFFD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09A385CE-274F-D04E-B6F8-644535F7E27E}"/>
              </a:ext>
            </a:extLst>
          </p:cNvPr>
          <p:cNvSpPr/>
          <p:nvPr/>
        </p:nvSpPr>
        <p:spPr>
          <a:xfrm>
            <a:off x="12725400" y="5969000"/>
            <a:ext cx="609600" cy="406400"/>
          </a:xfrm>
          <a:prstGeom prst="rect">
            <a:avLst/>
          </a:prstGeom>
          <a:solidFill>
            <a:srgbClr val="FFFD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D315C8DF-5F0C-DD42-81EB-D6E779D1A63E}"/>
              </a:ext>
            </a:extLst>
          </p:cNvPr>
          <p:cNvSpPr/>
          <p:nvPr/>
        </p:nvSpPr>
        <p:spPr>
          <a:xfrm>
            <a:off x="13512800" y="5969000"/>
            <a:ext cx="609600" cy="406400"/>
          </a:xfrm>
          <a:prstGeom prst="rect">
            <a:avLst/>
          </a:prstGeom>
          <a:solidFill>
            <a:srgbClr val="FFFD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20BFAD5E-1E43-0B4B-8F40-9E9F61FD8767}"/>
              </a:ext>
            </a:extLst>
          </p:cNvPr>
          <p:cNvSpPr/>
          <p:nvPr/>
        </p:nvSpPr>
        <p:spPr>
          <a:xfrm>
            <a:off x="14300200" y="5969000"/>
            <a:ext cx="609600" cy="406400"/>
          </a:xfrm>
          <a:prstGeom prst="rect">
            <a:avLst/>
          </a:prstGeom>
          <a:solidFill>
            <a:srgbClr val="FFFD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44D0EC70-B2D5-6445-B063-605B6A8B4B91}"/>
              </a:ext>
            </a:extLst>
          </p:cNvPr>
          <p:cNvSpPr/>
          <p:nvPr/>
        </p:nvSpPr>
        <p:spPr>
          <a:xfrm>
            <a:off x="15087600" y="5969000"/>
            <a:ext cx="609600" cy="406400"/>
          </a:xfrm>
          <a:prstGeom prst="rect">
            <a:avLst/>
          </a:prstGeom>
          <a:solidFill>
            <a:srgbClr val="C947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41" name="圓形箭號 140">
            <a:extLst>
              <a:ext uri="{FF2B5EF4-FFF2-40B4-BE49-F238E27FC236}">
                <a16:creationId xmlns:a16="http://schemas.microsoft.com/office/drawing/2014/main" id="{B6083415-8C96-DF4D-AACF-E07B6E73D871}"/>
              </a:ext>
            </a:extLst>
          </p:cNvPr>
          <p:cNvSpPr/>
          <p:nvPr/>
        </p:nvSpPr>
        <p:spPr>
          <a:xfrm>
            <a:off x="15913100" y="4711700"/>
            <a:ext cx="990600" cy="990600"/>
          </a:xfrm>
          <a:prstGeom prst="circularArrow">
            <a:avLst/>
          </a:prstGeom>
          <a:solidFill>
            <a:srgbClr val="24384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42" name="文字方塊 141">
            <a:extLst>
              <a:ext uri="{FF2B5EF4-FFF2-40B4-BE49-F238E27FC236}">
                <a16:creationId xmlns:a16="http://schemas.microsoft.com/office/drawing/2014/main" id="{0F19261A-9E34-DE41-89E6-FFBEDB6E00C5}"/>
              </a:ext>
            </a:extLst>
          </p:cNvPr>
          <p:cNvSpPr txBox="1"/>
          <p:nvPr/>
        </p:nvSpPr>
        <p:spPr>
          <a:xfrm>
            <a:off x="16122650" y="508635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100" b="1" dirty="0">
                <a:solidFill>
                  <a:srgbClr val="FFFDF8"/>
                </a:solidFill>
                <a:latin typeface="Noto Sans TC"/>
              </a:rPr>
              <a:t>再生成</a:t>
            </a:r>
          </a:p>
        </p:txBody>
      </p:sp>
      <p:sp>
        <p:nvSpPr>
          <p:cNvPr id="143" name="文字方塊 142">
            <a:extLst>
              <a:ext uri="{FF2B5EF4-FFF2-40B4-BE49-F238E27FC236}">
                <a16:creationId xmlns:a16="http://schemas.microsoft.com/office/drawing/2014/main" id="{79FA5248-7926-1145-9E1D-B17A72C76DB2}"/>
              </a:ext>
            </a:extLst>
          </p:cNvPr>
          <p:cNvSpPr txBox="1"/>
          <p:nvPr/>
        </p:nvSpPr>
        <p:spPr>
          <a:xfrm>
            <a:off x="12700000" y="6540500"/>
            <a:ext cx="4191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200" b="1">
                <a:solidFill>
                  <a:srgbClr val="F0A58C"/>
                </a:solidFill>
                <a:latin typeface="Noto Sans TC"/>
              </a:rPr>
              <a:t>資訊流量增加，同時提高重複、混淆與誤導的機率</a:t>
            </a:r>
          </a:p>
        </p:txBody>
      </p:sp>
      <p:sp>
        <p:nvSpPr>
          <p:cNvPr id="144" name="文字方塊 143">
            <a:extLst>
              <a:ext uri="{FF2B5EF4-FFF2-40B4-BE49-F238E27FC236}">
                <a16:creationId xmlns:a16="http://schemas.microsoft.com/office/drawing/2014/main" id="{52CFE69A-D6D4-494E-BA73-807E2CCFD207}"/>
              </a:ext>
            </a:extLst>
          </p:cNvPr>
          <p:cNvSpPr txBox="1"/>
          <p:nvPr/>
        </p:nvSpPr>
        <p:spPr>
          <a:xfrm>
            <a:off x="889000" y="7404100"/>
            <a:ext cx="4445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zh-TW" sz="1100" b="1">
                <a:solidFill>
                  <a:srgbClr val="C9472B"/>
                </a:solidFill>
                <a:latin typeface="Courier New"/>
                <a:cs typeface="Courier New"/>
              </a:rPr>
              <a:t>01</a:t>
            </a:r>
            <a:endParaRPr lang="zh-TW" altLang="en-US" sz="1100" b="1">
              <a:solidFill>
                <a:srgbClr val="C9472B"/>
              </a:solidFill>
              <a:latin typeface="Courier New"/>
              <a:cs typeface="Courier New"/>
            </a:endParaRPr>
          </a:p>
        </p:txBody>
      </p:sp>
      <p:sp>
        <p:nvSpPr>
          <p:cNvPr id="145" name="文字方塊 144">
            <a:extLst>
              <a:ext uri="{FF2B5EF4-FFF2-40B4-BE49-F238E27FC236}">
                <a16:creationId xmlns:a16="http://schemas.microsoft.com/office/drawing/2014/main" id="{54D54B9B-C340-4147-85A8-F1280FE76DF2}"/>
              </a:ext>
            </a:extLst>
          </p:cNvPr>
          <p:cNvSpPr txBox="1"/>
          <p:nvPr/>
        </p:nvSpPr>
        <p:spPr>
          <a:xfrm>
            <a:off x="1371600" y="7378700"/>
            <a:ext cx="17145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500" b="1">
                <a:solidFill>
                  <a:srgbClr val="191A1D"/>
                </a:solidFill>
                <a:latin typeface="Noto Sans TC"/>
              </a:rPr>
              <a:t>生成更快</a:t>
            </a:r>
          </a:p>
        </p:txBody>
      </p:sp>
      <p:sp>
        <p:nvSpPr>
          <p:cNvPr id="146" name="文字方塊 145">
            <a:extLst>
              <a:ext uri="{FF2B5EF4-FFF2-40B4-BE49-F238E27FC236}">
                <a16:creationId xmlns:a16="http://schemas.microsoft.com/office/drawing/2014/main" id="{C428E4A5-3C72-934B-B0B9-69712C02F7A2}"/>
              </a:ext>
            </a:extLst>
          </p:cNvPr>
          <p:cNvSpPr txBox="1"/>
          <p:nvPr/>
        </p:nvSpPr>
        <p:spPr>
          <a:xfrm>
            <a:off x="1371600" y="7759700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200">
                <a:solidFill>
                  <a:srgbClr val="777168"/>
                </a:solidFill>
                <a:latin typeface="Noto Sans TC"/>
              </a:rPr>
              <a:t>機器速度</a:t>
            </a: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5E1C280A-8C10-0846-944D-827C2D2D3EED}"/>
              </a:ext>
            </a:extLst>
          </p:cNvPr>
          <p:cNvSpPr/>
          <p:nvPr/>
        </p:nvSpPr>
        <p:spPr>
          <a:xfrm>
            <a:off x="5016500" y="7493000"/>
            <a:ext cx="12700" cy="635000"/>
          </a:xfrm>
          <a:prstGeom prst="rect">
            <a:avLst/>
          </a:prstGeom>
          <a:solidFill>
            <a:srgbClr val="CFC5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48" name="文字方塊 147">
            <a:extLst>
              <a:ext uri="{FF2B5EF4-FFF2-40B4-BE49-F238E27FC236}">
                <a16:creationId xmlns:a16="http://schemas.microsoft.com/office/drawing/2014/main" id="{EC4CBAD8-F576-DF4C-8B4E-256978890EC8}"/>
              </a:ext>
            </a:extLst>
          </p:cNvPr>
          <p:cNvSpPr txBox="1"/>
          <p:nvPr/>
        </p:nvSpPr>
        <p:spPr>
          <a:xfrm>
            <a:off x="5270500" y="7404100"/>
            <a:ext cx="4445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zh-TW" sz="1100" b="1">
                <a:solidFill>
                  <a:srgbClr val="C9472B"/>
                </a:solidFill>
                <a:latin typeface="Courier New"/>
                <a:cs typeface="Courier New"/>
              </a:rPr>
              <a:t>02</a:t>
            </a:r>
            <a:endParaRPr lang="zh-TW" altLang="en-US" sz="1100" b="1">
              <a:solidFill>
                <a:srgbClr val="C9472B"/>
              </a:solidFill>
              <a:latin typeface="Courier New"/>
              <a:cs typeface="Courier New"/>
            </a:endParaRPr>
          </a:p>
        </p:txBody>
      </p:sp>
      <p:sp>
        <p:nvSpPr>
          <p:cNvPr id="149" name="文字方塊 148">
            <a:extLst>
              <a:ext uri="{FF2B5EF4-FFF2-40B4-BE49-F238E27FC236}">
                <a16:creationId xmlns:a16="http://schemas.microsoft.com/office/drawing/2014/main" id="{515EEC37-9969-494B-B795-B73F35DB735A}"/>
              </a:ext>
            </a:extLst>
          </p:cNvPr>
          <p:cNvSpPr txBox="1"/>
          <p:nvPr/>
        </p:nvSpPr>
        <p:spPr>
          <a:xfrm>
            <a:off x="5753100" y="7378700"/>
            <a:ext cx="17145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500" b="1">
                <a:solidFill>
                  <a:srgbClr val="191A1D"/>
                </a:solidFill>
                <a:latin typeface="Noto Sans TC"/>
              </a:rPr>
              <a:t>複製更多</a:t>
            </a:r>
          </a:p>
        </p:txBody>
      </p:sp>
      <p:sp>
        <p:nvSpPr>
          <p:cNvPr id="150" name="文字方塊 149">
            <a:extLst>
              <a:ext uri="{FF2B5EF4-FFF2-40B4-BE49-F238E27FC236}">
                <a16:creationId xmlns:a16="http://schemas.microsoft.com/office/drawing/2014/main" id="{86844CFB-B570-EE40-BEBF-5BA49DC1262C}"/>
              </a:ext>
            </a:extLst>
          </p:cNvPr>
          <p:cNvSpPr txBox="1"/>
          <p:nvPr/>
        </p:nvSpPr>
        <p:spPr>
          <a:xfrm>
            <a:off x="5753100" y="7759700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200">
                <a:solidFill>
                  <a:srgbClr val="777168"/>
                </a:solidFill>
                <a:latin typeface="Noto Sans TC"/>
              </a:rPr>
              <a:t>低成本重組</a:t>
            </a: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DC32A804-4918-3C4E-8A85-7D1CD651658A}"/>
              </a:ext>
            </a:extLst>
          </p:cNvPr>
          <p:cNvSpPr/>
          <p:nvPr/>
        </p:nvSpPr>
        <p:spPr>
          <a:xfrm>
            <a:off x="9144000" y="7493000"/>
            <a:ext cx="12700" cy="635000"/>
          </a:xfrm>
          <a:prstGeom prst="rect">
            <a:avLst/>
          </a:prstGeom>
          <a:solidFill>
            <a:srgbClr val="CFC5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52" name="文字方塊 151">
            <a:extLst>
              <a:ext uri="{FF2B5EF4-FFF2-40B4-BE49-F238E27FC236}">
                <a16:creationId xmlns:a16="http://schemas.microsoft.com/office/drawing/2014/main" id="{06DCDD03-BB0F-EA42-A2E6-E6AF7CFFA632}"/>
              </a:ext>
            </a:extLst>
          </p:cNvPr>
          <p:cNvSpPr txBox="1"/>
          <p:nvPr/>
        </p:nvSpPr>
        <p:spPr>
          <a:xfrm>
            <a:off x="9398000" y="7404100"/>
            <a:ext cx="4445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zh-TW" sz="1100" b="1">
                <a:solidFill>
                  <a:srgbClr val="C9472B"/>
                </a:solidFill>
                <a:latin typeface="Courier New"/>
                <a:cs typeface="Courier New"/>
              </a:rPr>
              <a:t>03</a:t>
            </a:r>
            <a:endParaRPr lang="zh-TW" altLang="en-US" sz="1100" b="1">
              <a:solidFill>
                <a:srgbClr val="C9472B"/>
              </a:solidFill>
              <a:latin typeface="Courier New"/>
              <a:cs typeface="Courier New"/>
            </a:endParaRPr>
          </a:p>
        </p:txBody>
      </p:sp>
      <p:sp>
        <p:nvSpPr>
          <p:cNvPr id="153" name="文字方塊 152">
            <a:extLst>
              <a:ext uri="{FF2B5EF4-FFF2-40B4-BE49-F238E27FC236}">
                <a16:creationId xmlns:a16="http://schemas.microsoft.com/office/drawing/2014/main" id="{CD3CA69E-0C9A-5144-898D-E290889528F5}"/>
              </a:ext>
            </a:extLst>
          </p:cNvPr>
          <p:cNvSpPr txBox="1"/>
          <p:nvPr/>
        </p:nvSpPr>
        <p:spPr>
          <a:xfrm>
            <a:off x="9880600" y="7378700"/>
            <a:ext cx="17145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500" b="1">
                <a:solidFill>
                  <a:srgbClr val="191A1D"/>
                </a:solidFill>
                <a:latin typeface="Noto Sans TC"/>
              </a:rPr>
              <a:t>來源更模糊</a:t>
            </a:r>
          </a:p>
        </p:txBody>
      </p:sp>
      <p:sp>
        <p:nvSpPr>
          <p:cNvPr id="154" name="文字方塊 153">
            <a:extLst>
              <a:ext uri="{FF2B5EF4-FFF2-40B4-BE49-F238E27FC236}">
                <a16:creationId xmlns:a16="http://schemas.microsoft.com/office/drawing/2014/main" id="{2470FA84-40C1-3542-8ABE-8567D94FF0D2}"/>
              </a:ext>
            </a:extLst>
          </p:cNvPr>
          <p:cNvSpPr txBox="1"/>
          <p:nvPr/>
        </p:nvSpPr>
        <p:spPr>
          <a:xfrm>
            <a:off x="9880600" y="7759700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200">
                <a:solidFill>
                  <a:srgbClr val="777168"/>
                </a:solidFill>
                <a:latin typeface="Noto Sans TC"/>
              </a:rPr>
              <a:t>人機內容交織</a:t>
            </a: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D991F6FE-7E38-104C-A222-EDEEA21B79ED}"/>
              </a:ext>
            </a:extLst>
          </p:cNvPr>
          <p:cNvSpPr/>
          <p:nvPr/>
        </p:nvSpPr>
        <p:spPr>
          <a:xfrm>
            <a:off x="13271500" y="7493000"/>
            <a:ext cx="12700" cy="635000"/>
          </a:xfrm>
          <a:prstGeom prst="rect">
            <a:avLst/>
          </a:prstGeom>
          <a:solidFill>
            <a:srgbClr val="CFC5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56" name="文字方塊 155">
            <a:extLst>
              <a:ext uri="{FF2B5EF4-FFF2-40B4-BE49-F238E27FC236}">
                <a16:creationId xmlns:a16="http://schemas.microsoft.com/office/drawing/2014/main" id="{34315648-15F3-EA44-B3CC-4303D5F92F75}"/>
              </a:ext>
            </a:extLst>
          </p:cNvPr>
          <p:cNvSpPr txBox="1"/>
          <p:nvPr/>
        </p:nvSpPr>
        <p:spPr>
          <a:xfrm>
            <a:off x="13525500" y="7404100"/>
            <a:ext cx="4445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zh-TW" sz="1100" b="1">
                <a:solidFill>
                  <a:srgbClr val="C9472B"/>
                </a:solidFill>
                <a:latin typeface="Courier New"/>
                <a:cs typeface="Courier New"/>
              </a:rPr>
              <a:t>04</a:t>
            </a:r>
            <a:endParaRPr lang="zh-TW" altLang="en-US" sz="1100" b="1">
              <a:solidFill>
                <a:srgbClr val="C9472B"/>
              </a:solidFill>
              <a:latin typeface="Courier New"/>
              <a:cs typeface="Courier New"/>
            </a:endParaRPr>
          </a:p>
        </p:txBody>
      </p:sp>
      <p:sp>
        <p:nvSpPr>
          <p:cNvPr id="157" name="文字方塊 156">
            <a:extLst>
              <a:ext uri="{FF2B5EF4-FFF2-40B4-BE49-F238E27FC236}">
                <a16:creationId xmlns:a16="http://schemas.microsoft.com/office/drawing/2014/main" id="{6A62161D-A0A0-3D47-ADDF-8E5D95A689C4}"/>
              </a:ext>
            </a:extLst>
          </p:cNvPr>
          <p:cNvSpPr txBox="1"/>
          <p:nvPr/>
        </p:nvSpPr>
        <p:spPr>
          <a:xfrm>
            <a:off x="14008100" y="7378700"/>
            <a:ext cx="17145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500" b="1">
                <a:solidFill>
                  <a:srgbClr val="191A1D"/>
                </a:solidFill>
                <a:latin typeface="Noto Sans TC"/>
              </a:rPr>
              <a:t>驗證更昂貴</a:t>
            </a:r>
          </a:p>
        </p:txBody>
      </p:sp>
      <p:sp>
        <p:nvSpPr>
          <p:cNvPr id="158" name="文字方塊 157">
            <a:extLst>
              <a:ext uri="{FF2B5EF4-FFF2-40B4-BE49-F238E27FC236}">
                <a16:creationId xmlns:a16="http://schemas.microsoft.com/office/drawing/2014/main" id="{9CBB0E39-2207-8941-A1BA-5D89020F24AA}"/>
              </a:ext>
            </a:extLst>
          </p:cNvPr>
          <p:cNvSpPr txBox="1"/>
          <p:nvPr/>
        </p:nvSpPr>
        <p:spPr>
          <a:xfrm>
            <a:off x="14008100" y="7759700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200">
                <a:solidFill>
                  <a:srgbClr val="777168"/>
                </a:solidFill>
                <a:latin typeface="Noto Sans TC"/>
              </a:rPr>
              <a:t>可信度成為稀缺資源</a:t>
            </a:r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FD6429A6-7D71-5F4B-A214-0393A8E1C800}"/>
              </a:ext>
            </a:extLst>
          </p:cNvPr>
          <p:cNvSpPr/>
          <p:nvPr/>
        </p:nvSpPr>
        <p:spPr>
          <a:xfrm>
            <a:off x="889000" y="8305800"/>
            <a:ext cx="16510000" cy="1054100"/>
          </a:xfrm>
          <a:prstGeom prst="rect">
            <a:avLst/>
          </a:prstGeom>
          <a:solidFill>
            <a:srgbClr val="191A1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34E2D725-0944-2249-8C2B-E66BAA291E40}"/>
              </a:ext>
            </a:extLst>
          </p:cNvPr>
          <p:cNvSpPr/>
          <p:nvPr/>
        </p:nvSpPr>
        <p:spPr>
          <a:xfrm>
            <a:off x="889000" y="8305800"/>
            <a:ext cx="114300" cy="1054100"/>
          </a:xfrm>
          <a:prstGeom prst="rect">
            <a:avLst/>
          </a:prstGeom>
          <a:solidFill>
            <a:srgbClr val="C947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61" name="文字方塊 160">
            <a:extLst>
              <a:ext uri="{FF2B5EF4-FFF2-40B4-BE49-F238E27FC236}">
                <a16:creationId xmlns:a16="http://schemas.microsoft.com/office/drawing/2014/main" id="{78750C91-20F2-F04B-A792-A216452F9C2D}"/>
              </a:ext>
            </a:extLst>
          </p:cNvPr>
          <p:cNvSpPr txBox="1"/>
          <p:nvPr/>
        </p:nvSpPr>
        <p:spPr>
          <a:xfrm>
            <a:off x="1270000" y="8483600"/>
            <a:ext cx="127000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2200" b="1">
                <a:solidFill>
                  <a:srgbClr val="FFFDF8"/>
                </a:solidFill>
                <a:latin typeface="Noto Sans TC"/>
              </a:rPr>
              <a:t>我們真正缺的，不再是資訊，而是判斷哪些資訊值得相信的能力。</a:t>
            </a:r>
          </a:p>
        </p:txBody>
      </p:sp>
      <p:sp>
        <p:nvSpPr>
          <p:cNvPr id="162" name="文字方塊 161">
            <a:extLst>
              <a:ext uri="{FF2B5EF4-FFF2-40B4-BE49-F238E27FC236}">
                <a16:creationId xmlns:a16="http://schemas.microsoft.com/office/drawing/2014/main" id="{765CA930-FEE3-CC41-9178-E4A2A8B3B082}"/>
              </a:ext>
            </a:extLst>
          </p:cNvPr>
          <p:cNvSpPr txBox="1"/>
          <p:nvPr/>
        </p:nvSpPr>
        <p:spPr>
          <a:xfrm>
            <a:off x="14351000" y="8509000"/>
            <a:ext cx="2667000" cy="533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100" b="1">
                <a:solidFill>
                  <a:srgbClr val="E7A68F"/>
                </a:solidFill>
                <a:latin typeface="Courier New"/>
                <a:cs typeface="Courier New"/>
              </a:rPr>
              <a:t>FROM SEARCH
TO VERIFICATION</a:t>
            </a:r>
            <a:endParaRPr lang="zh-TW" altLang="en-US" sz="1100" b="1">
              <a:solidFill>
                <a:srgbClr val="E7A68F"/>
              </a:solidFill>
              <a:latin typeface="Courier New"/>
              <a:cs typeface="Courier New"/>
            </a:endParaRP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53651C45-E6B5-2244-AFAB-EECA8C114096}"/>
              </a:ext>
            </a:extLst>
          </p:cNvPr>
          <p:cNvSpPr/>
          <p:nvPr/>
        </p:nvSpPr>
        <p:spPr>
          <a:xfrm>
            <a:off x="889000" y="9639300"/>
            <a:ext cx="16510000" cy="12700"/>
          </a:xfrm>
          <a:prstGeom prst="rect">
            <a:avLst/>
          </a:prstGeom>
          <a:solidFill>
            <a:srgbClr val="CFC5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64" name="文字方塊 163">
            <a:extLst>
              <a:ext uri="{FF2B5EF4-FFF2-40B4-BE49-F238E27FC236}">
                <a16:creationId xmlns:a16="http://schemas.microsoft.com/office/drawing/2014/main" id="{904C81D2-C5E2-D24D-BD3D-3187A7B8A1FF}"/>
              </a:ext>
            </a:extLst>
          </p:cNvPr>
          <p:cNvSpPr txBox="1"/>
          <p:nvPr/>
        </p:nvSpPr>
        <p:spPr>
          <a:xfrm>
            <a:off x="889000" y="9766300"/>
            <a:ext cx="15113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900">
                <a:solidFill>
                  <a:srgbClr val="777168"/>
                </a:solidFill>
                <a:latin typeface="Noto Sans TC"/>
              </a:rPr>
              <a:t>註：</a:t>
            </a:r>
            <a:r>
              <a:rPr lang="en-US" altLang="zh-TW" sz="900">
                <a:solidFill>
                  <a:srgbClr val="777168"/>
                </a:solidFill>
                <a:latin typeface="Noto Sans TC"/>
              </a:rPr>
              <a:t>『</a:t>
            </a:r>
            <a:r>
              <a:rPr lang="zh-TW" altLang="en-US" sz="900">
                <a:solidFill>
                  <a:srgbClr val="777168"/>
                </a:solidFill>
                <a:latin typeface="Noto Sans TC"/>
              </a:rPr>
              <a:t>碳基／矽基</a:t>
            </a:r>
            <a:r>
              <a:rPr lang="en-US" altLang="zh-TW" sz="900">
                <a:solidFill>
                  <a:srgbClr val="777168"/>
                </a:solidFill>
                <a:latin typeface="Noto Sans TC"/>
              </a:rPr>
              <a:t>』</a:t>
            </a:r>
            <a:r>
              <a:rPr lang="zh-TW" altLang="en-US" sz="900">
                <a:solidFill>
                  <a:srgbClr val="777168"/>
                </a:solidFill>
                <a:latin typeface="Noto Sans TC"/>
              </a:rPr>
              <a:t>為比喻；</a:t>
            </a:r>
            <a:r>
              <a:rPr lang="en" altLang="zh-TW" sz="900">
                <a:solidFill>
                  <a:srgbClr val="777168"/>
                </a:solidFill>
                <a:latin typeface="Noto Sans TC"/>
              </a:rPr>
              <a:t>Agent </a:t>
            </a:r>
            <a:r>
              <a:rPr lang="zh-TW" altLang="en-US" sz="900">
                <a:solidFill>
                  <a:srgbClr val="777168"/>
                </a:solidFill>
                <a:latin typeface="Noto Sans TC"/>
              </a:rPr>
              <a:t>並非生命體。參考：</a:t>
            </a:r>
            <a:r>
              <a:rPr lang="en" altLang="zh-TW" sz="900">
                <a:solidFill>
                  <a:srgbClr val="777168"/>
                </a:solidFill>
                <a:latin typeface="Noto Sans TC"/>
              </a:rPr>
              <a:t>OpenAI Agents documentation</a:t>
            </a:r>
            <a:r>
              <a:rPr lang="zh-TW" altLang="en" sz="900">
                <a:solidFill>
                  <a:srgbClr val="777168"/>
                </a:solidFill>
                <a:latin typeface="Noto Sans TC"/>
              </a:rPr>
              <a:t>；</a:t>
            </a:r>
            <a:r>
              <a:rPr lang="en" altLang="zh-TW" sz="900">
                <a:solidFill>
                  <a:srgbClr val="777168"/>
                </a:solidFill>
                <a:latin typeface="Noto Sans TC"/>
              </a:rPr>
              <a:t>NIST AI 100-4 Synthetic Content</a:t>
            </a:r>
            <a:endParaRPr lang="zh-TW" altLang="en-US" sz="900">
              <a:solidFill>
                <a:srgbClr val="777168"/>
              </a:solidFill>
              <a:latin typeface="Noto Sans TC"/>
            </a:endParaRPr>
          </a:p>
        </p:txBody>
      </p:sp>
      <p:sp>
        <p:nvSpPr>
          <p:cNvPr id="166" name="T101">
            <a:extLst>
              <a:ext uri="{FF2B5EF4-FFF2-40B4-BE49-F238E27FC236}">
                <a16:creationId xmlns:a16="http://schemas.microsoft.com/office/drawing/2014/main" id="{3863F559-EA9C-13A3-F6E5-3461410572DB}"/>
              </a:ext>
            </a:extLst>
          </p:cNvPr>
          <p:cNvSpPr txBox="1"/>
          <p:nvPr/>
        </p:nvSpPr>
        <p:spPr>
          <a:xfrm>
            <a:off x="990600" y="671648"/>
            <a:ext cx="6350000" cy="381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1800" spc="360" dirty="0">
                <a:solidFill>
                  <a:srgbClr val="8A8378"/>
                </a:solidFill>
                <a:latin typeface="Menlo"/>
                <a:ea typeface="Menlo"/>
              </a:rPr>
              <a:t>01 · WHY NOW</a:t>
            </a:r>
          </a:p>
        </p:txBody>
      </p:sp>
      <p:sp>
        <p:nvSpPr>
          <p:cNvPr id="167" name="文字方塊 166">
            <a:extLst>
              <a:ext uri="{FF2B5EF4-FFF2-40B4-BE49-F238E27FC236}">
                <a16:creationId xmlns:a16="http://schemas.microsoft.com/office/drawing/2014/main" id="{9A195576-0D72-6124-303F-E1667CDBA3D1}"/>
              </a:ext>
            </a:extLst>
          </p:cNvPr>
          <p:cNvSpPr txBox="1"/>
          <p:nvPr/>
        </p:nvSpPr>
        <p:spPr>
          <a:xfrm>
            <a:off x="12547600" y="1221938"/>
            <a:ext cx="2185214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6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人：碳基生物</a:t>
            </a:r>
            <a:endParaRPr lang="en-US" altLang="zh-TW" sz="2600" b="1" dirty="0">
              <a:solidFill>
                <a:schemeClr val="accent1">
                  <a:lumMod val="7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endParaRPr lang="en-US" altLang="zh-TW" sz="2600" b="1" dirty="0">
              <a:solidFill>
                <a:schemeClr val="accent1">
                  <a:lumMod val="7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zh-TW" altLang="en-US" sz="26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TW" sz="26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AI:</a:t>
            </a:r>
            <a:r>
              <a:rPr lang="zh-TW" altLang="en-US" sz="26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矽基生物</a:t>
            </a:r>
          </a:p>
        </p:txBody>
      </p:sp>
      <p:sp>
        <p:nvSpPr>
          <p:cNvPr id="169" name="文字方塊 168">
            <a:extLst>
              <a:ext uri="{FF2B5EF4-FFF2-40B4-BE49-F238E27FC236}">
                <a16:creationId xmlns:a16="http://schemas.microsoft.com/office/drawing/2014/main" id="{8A91B8B5-E038-C345-8F24-5BB6BBE23353}"/>
              </a:ext>
            </a:extLst>
          </p:cNvPr>
          <p:cNvSpPr txBox="1"/>
          <p:nvPr/>
        </p:nvSpPr>
        <p:spPr>
          <a:xfrm>
            <a:off x="16637000" y="94488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>
                <a:solidFill>
                  <a:srgbClr val="8A8175"/>
                </a:solidFill>
                <a:latin typeface="Courier New"/>
                <a:cs typeface="Courier New"/>
              </a:rPr>
              <a:t>15</a:t>
            </a:r>
            <a:endParaRPr lang="zh-TW" altLang="en-US" sz="1600" b="1">
              <a:solidFill>
                <a:srgbClr val="8A8175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403909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990600" y="723900"/>
            <a:ext cx="2420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WHY NOW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859000" y="723900"/>
            <a:ext cx="2438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MENTAL MODEL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600200"/>
            <a:ext cx="104470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zh-TW" alt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知識是一張網，學習只能先走一條線</a:t>
            </a:r>
            <a:endParaRPr lang="en-US" sz="4800" dirty="0"/>
          </a:p>
        </p:txBody>
      </p:sp>
      <p:sp>
        <p:nvSpPr>
          <p:cNvPr id="34" name="Shape 32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97498335-92A7-D34A-8991-3B013864B936}"/>
              </a:ext>
            </a:extLst>
          </p:cNvPr>
          <p:cNvSpPr txBox="1"/>
          <p:nvPr/>
        </p:nvSpPr>
        <p:spPr>
          <a:xfrm>
            <a:off x="990600" y="2768600"/>
            <a:ext cx="6604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500">
                <a:solidFill>
                  <a:srgbClr val="776F64"/>
                </a:solidFill>
                <a:latin typeface="Courier New"/>
                <a:cs typeface="Courier New"/>
              </a:rPr>
              <a:t>KNOWLEDGE  /  </a:t>
            </a:r>
            <a:r>
              <a:rPr lang="zh-TW" altLang="en-US" sz="1500">
                <a:solidFill>
                  <a:srgbClr val="776F64"/>
                </a:solidFill>
                <a:latin typeface="Courier New"/>
                <a:cs typeface="Courier New"/>
              </a:rPr>
              <a:t>網狀結構</a:t>
            </a: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4880F504-202D-BE42-97AA-5F0167078686}"/>
              </a:ext>
            </a:extLst>
          </p:cNvPr>
          <p:cNvSpPr txBox="1"/>
          <p:nvPr/>
        </p:nvSpPr>
        <p:spPr>
          <a:xfrm>
            <a:off x="990600" y="3175000"/>
            <a:ext cx="7620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zh-TW" altLang="en-US" sz="1900">
                <a:solidFill>
                  <a:srgbClr val="171719"/>
                </a:solidFill>
                <a:latin typeface="Microsoft JhengHei"/>
                <a:ea typeface="Microsoft JhengHei"/>
              </a:rPr>
              <a:t>概念彼此牽連，沒有固定的起點與終點。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53B381C-1766-9849-813A-745CE5E3CD34}"/>
              </a:ext>
            </a:extLst>
          </p:cNvPr>
          <p:cNvSpPr/>
          <p:nvPr/>
        </p:nvSpPr>
        <p:spPr>
          <a:xfrm>
            <a:off x="12090400" y="2768600"/>
            <a:ext cx="19050" cy="5334000"/>
          </a:xfrm>
          <a:prstGeom prst="rect">
            <a:avLst/>
          </a:prstGeom>
          <a:solidFill>
            <a:srgbClr val="CBBF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8E587883-C724-494A-8ABB-19CE692FF157}"/>
              </a:ext>
            </a:extLst>
          </p:cNvPr>
          <p:cNvSpPr txBox="1"/>
          <p:nvPr/>
        </p:nvSpPr>
        <p:spPr>
          <a:xfrm>
            <a:off x="12700000" y="2768600"/>
            <a:ext cx="381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500">
                <a:solidFill>
                  <a:srgbClr val="C8492E"/>
                </a:solidFill>
                <a:latin typeface="Courier New"/>
                <a:cs typeface="Courier New"/>
              </a:rPr>
              <a:t>LEARNING</a:t>
            </a:r>
            <a:endParaRPr lang="zh-TW" altLang="en-US" sz="1500">
              <a:solidFill>
                <a:srgbClr val="C8492E"/>
              </a:solidFill>
              <a:latin typeface="Courier New"/>
              <a:cs typeface="Courier New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82D64A4B-CDCC-5641-9B9B-60A73C2BF2E5}"/>
              </a:ext>
            </a:extLst>
          </p:cNvPr>
          <p:cNvSpPr txBox="1"/>
          <p:nvPr/>
        </p:nvSpPr>
        <p:spPr>
          <a:xfrm>
            <a:off x="12700000" y="3200400"/>
            <a:ext cx="4064000" cy="1219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3400" b="1">
                <a:solidFill>
                  <a:srgbClr val="171719"/>
                </a:solidFill>
                <a:latin typeface="Microsoft JhengHei"/>
                <a:ea typeface="Microsoft JhengHei"/>
              </a:rPr>
              <a:t>一次只走
一條路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5964DD9-90B6-A44B-A513-1D7AB08F04E4}"/>
              </a:ext>
            </a:extLst>
          </p:cNvPr>
          <p:cNvSpPr/>
          <p:nvPr/>
        </p:nvSpPr>
        <p:spPr>
          <a:xfrm>
            <a:off x="12700000" y="4724400"/>
            <a:ext cx="3683000" cy="25400"/>
          </a:xfrm>
          <a:prstGeom prst="rect">
            <a:avLst/>
          </a:prstGeom>
          <a:solidFill>
            <a:srgbClr val="17171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F8FE3D6F-E9DF-8542-BE51-700437462E05}"/>
              </a:ext>
            </a:extLst>
          </p:cNvPr>
          <p:cNvSpPr txBox="1"/>
          <p:nvPr/>
        </p:nvSpPr>
        <p:spPr>
          <a:xfrm>
            <a:off x="12700000" y="5041900"/>
            <a:ext cx="3810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zh-TW">
                <a:solidFill>
                  <a:srgbClr val="171719"/>
                </a:solidFill>
                <a:latin typeface="Microsoft JhengHei"/>
                <a:ea typeface="Microsoft JhengHei"/>
              </a:rPr>
              <a:t>01  </a:t>
            </a:r>
            <a:r>
              <a:rPr lang="zh-TW" altLang="en-US">
                <a:solidFill>
                  <a:srgbClr val="171719"/>
                </a:solidFill>
                <a:latin typeface="Microsoft JhengHei"/>
                <a:ea typeface="Microsoft JhengHei"/>
              </a:rPr>
              <a:t>選一個起點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4083A47F-F28F-C945-BEC0-02C6E847BDBB}"/>
              </a:ext>
            </a:extLst>
          </p:cNvPr>
          <p:cNvSpPr txBox="1"/>
          <p:nvPr/>
        </p:nvSpPr>
        <p:spPr>
          <a:xfrm>
            <a:off x="12700000" y="5600700"/>
            <a:ext cx="3810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zh-TW">
                <a:solidFill>
                  <a:srgbClr val="171719"/>
                </a:solidFill>
                <a:latin typeface="Microsoft JhengHei"/>
                <a:ea typeface="Microsoft JhengHei"/>
              </a:rPr>
              <a:t>02  </a:t>
            </a:r>
            <a:r>
              <a:rPr lang="zh-TW" altLang="en-US">
                <a:solidFill>
                  <a:srgbClr val="171719"/>
                </a:solidFill>
                <a:latin typeface="Microsoft JhengHei"/>
                <a:ea typeface="Microsoft JhengHei"/>
              </a:rPr>
              <a:t>沿著問題前進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CE28B164-5470-E647-BA60-597CD8992B58}"/>
              </a:ext>
            </a:extLst>
          </p:cNvPr>
          <p:cNvSpPr txBox="1"/>
          <p:nvPr/>
        </p:nvSpPr>
        <p:spPr>
          <a:xfrm>
            <a:off x="12700000" y="6159500"/>
            <a:ext cx="3810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zh-TW">
                <a:solidFill>
                  <a:srgbClr val="171719"/>
                </a:solidFill>
                <a:latin typeface="Microsoft JhengHei"/>
                <a:ea typeface="Microsoft JhengHei"/>
              </a:rPr>
              <a:t>03  </a:t>
            </a:r>
            <a:r>
              <a:rPr lang="zh-TW" altLang="en-US">
                <a:solidFill>
                  <a:srgbClr val="171719"/>
                </a:solidFill>
                <a:latin typeface="Microsoft JhengHei"/>
                <a:ea typeface="Microsoft JhengHei"/>
              </a:rPr>
              <a:t>建立局部理解</a:t>
            </a: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7371BC8A-202C-9246-872B-65A88C0C14D8}"/>
              </a:ext>
            </a:extLst>
          </p:cNvPr>
          <p:cNvSpPr txBox="1"/>
          <p:nvPr/>
        </p:nvSpPr>
        <p:spPr>
          <a:xfrm>
            <a:off x="12700000" y="6718300"/>
            <a:ext cx="3810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zh-TW" b="1">
                <a:solidFill>
                  <a:srgbClr val="C8492E"/>
                </a:solidFill>
                <a:latin typeface="Microsoft JhengHei"/>
                <a:ea typeface="Microsoft JhengHei"/>
              </a:rPr>
              <a:t>04  </a:t>
            </a:r>
            <a:r>
              <a:rPr lang="zh-TW" altLang="en-US" b="1">
                <a:solidFill>
                  <a:srgbClr val="C8492E"/>
                </a:solidFill>
                <a:latin typeface="Microsoft JhengHei"/>
                <a:ea typeface="Microsoft JhengHei"/>
              </a:rPr>
              <a:t>回頭補上連結</a:t>
            </a: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E673FF0C-188E-C94E-9CA8-11CA93E986A5}"/>
              </a:ext>
            </a:extLst>
          </p:cNvPr>
          <p:cNvSpPr txBox="1"/>
          <p:nvPr/>
        </p:nvSpPr>
        <p:spPr>
          <a:xfrm>
            <a:off x="12700000" y="7391400"/>
            <a:ext cx="4191000" cy="736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700">
                <a:solidFill>
                  <a:srgbClr val="776F64"/>
                </a:solidFill>
                <a:latin typeface="Microsoft JhengHei"/>
                <a:ea typeface="Microsoft JhengHei"/>
              </a:rPr>
              <a:t>我們只能沿著時間一步步走，
再回頭把走過的線織成網。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A80CAA7-6B0B-4047-8B2A-ADC072C48ECD}"/>
              </a:ext>
            </a:extLst>
          </p:cNvPr>
          <p:cNvSpPr/>
          <p:nvPr/>
        </p:nvSpPr>
        <p:spPr>
          <a:xfrm rot="-1784693">
            <a:off x="1427983" y="4486910"/>
            <a:ext cx="1843032" cy="17780"/>
          </a:xfrm>
          <a:prstGeom prst="rect">
            <a:avLst/>
          </a:prstGeom>
          <a:solidFill>
            <a:srgbClr val="CBBF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0830684-EBFB-094E-B15D-A4BDCB768F0B}"/>
              </a:ext>
            </a:extLst>
          </p:cNvPr>
          <p:cNvSpPr/>
          <p:nvPr/>
        </p:nvSpPr>
        <p:spPr>
          <a:xfrm rot="5698184">
            <a:off x="752894" y="5674360"/>
            <a:ext cx="1466011" cy="17780"/>
          </a:xfrm>
          <a:prstGeom prst="rect">
            <a:avLst/>
          </a:prstGeom>
          <a:solidFill>
            <a:srgbClr val="CBBF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596D80B-AAF8-1040-A4A4-83B95477D7EC}"/>
              </a:ext>
            </a:extLst>
          </p:cNvPr>
          <p:cNvSpPr/>
          <p:nvPr/>
        </p:nvSpPr>
        <p:spPr>
          <a:xfrm rot="1532703">
            <a:off x="1455833" y="5356860"/>
            <a:ext cx="1914332" cy="17780"/>
          </a:xfrm>
          <a:prstGeom prst="rect">
            <a:avLst/>
          </a:prstGeom>
          <a:solidFill>
            <a:srgbClr val="CBBF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07A969A-046A-4C4A-A4C8-FBE2E9862BC0}"/>
              </a:ext>
            </a:extLst>
          </p:cNvPr>
          <p:cNvSpPr/>
          <p:nvPr/>
        </p:nvSpPr>
        <p:spPr>
          <a:xfrm rot="1272554">
            <a:off x="3087777" y="4359910"/>
            <a:ext cx="1825445" cy="17780"/>
          </a:xfrm>
          <a:prstGeom prst="rect">
            <a:avLst/>
          </a:prstGeom>
          <a:solidFill>
            <a:srgbClr val="CBBF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097A898B-3266-3345-A5A9-41CF89DD4704}"/>
              </a:ext>
            </a:extLst>
          </p:cNvPr>
          <p:cNvSpPr/>
          <p:nvPr/>
        </p:nvSpPr>
        <p:spPr>
          <a:xfrm rot="5149514">
            <a:off x="2340835" y="4899660"/>
            <a:ext cx="1744528" cy="17780"/>
          </a:xfrm>
          <a:prstGeom prst="rect">
            <a:avLst/>
          </a:prstGeom>
          <a:solidFill>
            <a:srgbClr val="CBBF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BA5A1D0-E9FF-5D45-8A01-2DC11F265EA4}"/>
              </a:ext>
            </a:extLst>
          </p:cNvPr>
          <p:cNvSpPr/>
          <p:nvPr/>
        </p:nvSpPr>
        <p:spPr>
          <a:xfrm rot="-337478">
            <a:off x="3141489" y="3864610"/>
            <a:ext cx="3369020" cy="17780"/>
          </a:xfrm>
          <a:prstGeom prst="rect">
            <a:avLst/>
          </a:prstGeom>
          <a:solidFill>
            <a:srgbClr val="CBBF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AF68063-AD22-1C4B-A161-8A0CBA051A37}"/>
              </a:ext>
            </a:extLst>
          </p:cNvPr>
          <p:cNvSpPr/>
          <p:nvPr/>
        </p:nvSpPr>
        <p:spPr>
          <a:xfrm rot="-1857825">
            <a:off x="4714209" y="4194810"/>
            <a:ext cx="1925380" cy="17780"/>
          </a:xfrm>
          <a:prstGeom prst="rect">
            <a:avLst/>
          </a:prstGeom>
          <a:solidFill>
            <a:srgbClr val="CBBF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D31A5910-1E09-4A49-A494-2D202865FF47}"/>
              </a:ext>
            </a:extLst>
          </p:cNvPr>
          <p:cNvSpPr/>
          <p:nvPr/>
        </p:nvSpPr>
        <p:spPr>
          <a:xfrm rot="8734199">
            <a:off x="3109364" y="5229860"/>
            <a:ext cx="1909270" cy="17780"/>
          </a:xfrm>
          <a:prstGeom prst="rect">
            <a:avLst/>
          </a:prstGeom>
          <a:solidFill>
            <a:srgbClr val="CBBF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928DC837-88C3-DA4C-B2A0-8EB750269470}"/>
              </a:ext>
            </a:extLst>
          </p:cNvPr>
          <p:cNvSpPr/>
          <p:nvPr/>
        </p:nvSpPr>
        <p:spPr>
          <a:xfrm rot="4989434">
            <a:off x="4006366" y="5642610"/>
            <a:ext cx="1918666" cy="17780"/>
          </a:xfrm>
          <a:prstGeom prst="rect">
            <a:avLst/>
          </a:prstGeom>
          <a:solidFill>
            <a:srgbClr val="CBBF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FEF0D813-8E18-184E-831C-6BE1FAA0725A}"/>
              </a:ext>
            </a:extLst>
          </p:cNvPr>
          <p:cNvSpPr/>
          <p:nvPr/>
        </p:nvSpPr>
        <p:spPr>
          <a:xfrm rot="1358689">
            <a:off x="4764942" y="5121910"/>
            <a:ext cx="2243015" cy="17780"/>
          </a:xfrm>
          <a:prstGeom prst="rect">
            <a:avLst/>
          </a:prstGeom>
          <a:solidFill>
            <a:srgbClr val="CBBF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2ACE0550-BCFA-1041-A0A9-89358633C339}"/>
              </a:ext>
            </a:extLst>
          </p:cNvPr>
          <p:cNvSpPr/>
          <p:nvPr/>
        </p:nvSpPr>
        <p:spPr>
          <a:xfrm rot="1409914">
            <a:off x="6423156" y="4080510"/>
            <a:ext cx="1911086" cy="17780"/>
          </a:xfrm>
          <a:prstGeom prst="rect">
            <a:avLst/>
          </a:prstGeom>
          <a:solidFill>
            <a:srgbClr val="CBBF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514C51F2-EC63-2248-89EC-CA3050B5733C}"/>
              </a:ext>
            </a:extLst>
          </p:cNvPr>
          <p:cNvSpPr/>
          <p:nvPr/>
        </p:nvSpPr>
        <p:spPr>
          <a:xfrm rot="4635816">
            <a:off x="5761462" y="4626610"/>
            <a:ext cx="1900974" cy="17780"/>
          </a:xfrm>
          <a:prstGeom prst="rect">
            <a:avLst/>
          </a:prstGeom>
          <a:solidFill>
            <a:srgbClr val="CBBF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6CA540F3-105E-E44D-8494-19EC6351216F}"/>
              </a:ext>
            </a:extLst>
          </p:cNvPr>
          <p:cNvSpPr/>
          <p:nvPr/>
        </p:nvSpPr>
        <p:spPr>
          <a:xfrm rot="92266">
            <a:off x="6501718" y="3750310"/>
            <a:ext cx="3785963" cy="17780"/>
          </a:xfrm>
          <a:prstGeom prst="rect">
            <a:avLst/>
          </a:prstGeom>
          <a:solidFill>
            <a:srgbClr val="CBBF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97DB185-FAD5-3A4D-AD55-EF8A6F7F2D5C}"/>
              </a:ext>
            </a:extLst>
          </p:cNvPr>
          <p:cNvSpPr/>
          <p:nvPr/>
        </p:nvSpPr>
        <p:spPr>
          <a:xfrm rot="-1080250">
            <a:off x="8202689" y="4131310"/>
            <a:ext cx="2136621" cy="17780"/>
          </a:xfrm>
          <a:prstGeom prst="rect">
            <a:avLst/>
          </a:prstGeom>
          <a:solidFill>
            <a:srgbClr val="CBBF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39A84FEB-4106-4745-B18B-C3535C2A25AA}"/>
              </a:ext>
            </a:extLst>
          </p:cNvPr>
          <p:cNvSpPr/>
          <p:nvPr/>
        </p:nvSpPr>
        <p:spPr>
          <a:xfrm rot="8440853">
            <a:off x="6726402" y="5007610"/>
            <a:ext cx="1723694" cy="17780"/>
          </a:xfrm>
          <a:prstGeom prst="rect">
            <a:avLst/>
          </a:prstGeom>
          <a:solidFill>
            <a:srgbClr val="CBBF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5D3D9BAD-4104-0D45-93CA-65A9100627A0}"/>
              </a:ext>
            </a:extLst>
          </p:cNvPr>
          <p:cNvSpPr/>
          <p:nvPr/>
        </p:nvSpPr>
        <p:spPr>
          <a:xfrm rot="4588610">
            <a:off x="7464390" y="5464810"/>
            <a:ext cx="2063818" cy="17780"/>
          </a:xfrm>
          <a:prstGeom prst="rect">
            <a:avLst/>
          </a:prstGeom>
          <a:solidFill>
            <a:srgbClr val="CBBF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BE8D84E7-4CFE-144C-B92E-88DE8D17D418}"/>
              </a:ext>
            </a:extLst>
          </p:cNvPr>
          <p:cNvSpPr/>
          <p:nvPr/>
        </p:nvSpPr>
        <p:spPr>
          <a:xfrm rot="1403113">
            <a:off x="8149866" y="4969510"/>
            <a:ext cx="2559766" cy="17780"/>
          </a:xfrm>
          <a:prstGeom prst="rect">
            <a:avLst/>
          </a:prstGeom>
          <a:solidFill>
            <a:srgbClr val="CBBF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BE4FB390-B6A3-3B4F-ABEC-614F2FB63E03}"/>
              </a:ext>
            </a:extLst>
          </p:cNvPr>
          <p:cNvSpPr/>
          <p:nvPr/>
        </p:nvSpPr>
        <p:spPr>
          <a:xfrm rot="4756533">
            <a:off x="9592649" y="4639310"/>
            <a:ext cx="1706201" cy="17780"/>
          </a:xfrm>
          <a:prstGeom prst="rect">
            <a:avLst/>
          </a:prstGeom>
          <a:solidFill>
            <a:srgbClr val="CBBF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F99BCEB2-AAE4-2241-AADA-60BE368D7A91}"/>
              </a:ext>
            </a:extLst>
          </p:cNvPr>
          <p:cNvSpPr/>
          <p:nvPr/>
        </p:nvSpPr>
        <p:spPr>
          <a:xfrm rot="-1134275">
            <a:off x="1369540" y="6087110"/>
            <a:ext cx="1959919" cy="17780"/>
          </a:xfrm>
          <a:prstGeom prst="rect">
            <a:avLst/>
          </a:prstGeom>
          <a:solidFill>
            <a:srgbClr val="CBBF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7ECCB5FD-C8F9-8340-965C-E352DF9B8C67}"/>
              </a:ext>
            </a:extLst>
          </p:cNvPr>
          <p:cNvSpPr/>
          <p:nvPr/>
        </p:nvSpPr>
        <p:spPr>
          <a:xfrm rot="3362934">
            <a:off x="1081036" y="7045959"/>
            <a:ext cx="1546326" cy="17780"/>
          </a:xfrm>
          <a:prstGeom prst="rect">
            <a:avLst/>
          </a:prstGeom>
          <a:solidFill>
            <a:srgbClr val="CBBF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698EAC52-5EA3-C843-AC2C-70C0D0AFA65C}"/>
              </a:ext>
            </a:extLst>
          </p:cNvPr>
          <p:cNvSpPr/>
          <p:nvPr/>
        </p:nvSpPr>
        <p:spPr>
          <a:xfrm rot="1475746">
            <a:off x="3186621" y="6182360"/>
            <a:ext cx="1983356" cy="17780"/>
          </a:xfrm>
          <a:prstGeom prst="rect">
            <a:avLst/>
          </a:prstGeom>
          <a:solidFill>
            <a:srgbClr val="CBBF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E8A92A48-5535-8141-A147-A17B376E2308}"/>
              </a:ext>
            </a:extLst>
          </p:cNvPr>
          <p:cNvSpPr/>
          <p:nvPr/>
        </p:nvSpPr>
        <p:spPr>
          <a:xfrm rot="7039134">
            <a:off x="1702080" y="6728459"/>
            <a:ext cx="2158439" cy="17780"/>
          </a:xfrm>
          <a:prstGeom prst="rect">
            <a:avLst/>
          </a:prstGeom>
          <a:solidFill>
            <a:srgbClr val="CBBF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AB5CC3F2-A59F-4048-9896-FA31A960AD22}"/>
              </a:ext>
            </a:extLst>
          </p:cNvPr>
          <p:cNvSpPr/>
          <p:nvPr/>
        </p:nvSpPr>
        <p:spPr>
          <a:xfrm rot="3609573">
            <a:off x="2802141" y="6588759"/>
            <a:ext cx="1888716" cy="17780"/>
          </a:xfrm>
          <a:prstGeom prst="rect">
            <a:avLst/>
          </a:prstGeom>
          <a:solidFill>
            <a:srgbClr val="CBBF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60DF9675-11DC-524B-94CA-925B3EFEE339}"/>
              </a:ext>
            </a:extLst>
          </p:cNvPr>
          <p:cNvSpPr/>
          <p:nvPr/>
        </p:nvSpPr>
        <p:spPr>
          <a:xfrm rot="-1769334">
            <a:off x="4942965" y="6074410"/>
            <a:ext cx="2115569" cy="17780"/>
          </a:xfrm>
          <a:prstGeom prst="rect">
            <a:avLst/>
          </a:prstGeom>
          <a:solidFill>
            <a:srgbClr val="CBBF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9FE68D02-51B6-7D4E-8A34-D8AC96D8562B}"/>
              </a:ext>
            </a:extLst>
          </p:cNvPr>
          <p:cNvSpPr/>
          <p:nvPr/>
        </p:nvSpPr>
        <p:spPr>
          <a:xfrm rot="8204142">
            <a:off x="4055231" y="7001509"/>
            <a:ext cx="1185937" cy="17780"/>
          </a:xfrm>
          <a:prstGeom prst="rect">
            <a:avLst/>
          </a:prstGeom>
          <a:solidFill>
            <a:srgbClr val="CBBF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A0E60954-3B52-944D-91DE-D1161D7F9DF7}"/>
              </a:ext>
            </a:extLst>
          </p:cNvPr>
          <p:cNvSpPr/>
          <p:nvPr/>
        </p:nvSpPr>
        <p:spPr>
          <a:xfrm rot="3209914">
            <a:off x="4759943" y="7230109"/>
            <a:ext cx="1579912" cy="17780"/>
          </a:xfrm>
          <a:prstGeom prst="rect">
            <a:avLst/>
          </a:prstGeom>
          <a:solidFill>
            <a:srgbClr val="CBBF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5B875410-5A6F-D94E-91D9-DA66D0EFF8BC}"/>
              </a:ext>
            </a:extLst>
          </p:cNvPr>
          <p:cNvSpPr/>
          <p:nvPr/>
        </p:nvSpPr>
        <p:spPr>
          <a:xfrm rot="1603506">
            <a:off x="6812895" y="6010910"/>
            <a:ext cx="2033309" cy="17780"/>
          </a:xfrm>
          <a:prstGeom prst="rect">
            <a:avLst/>
          </a:prstGeom>
          <a:solidFill>
            <a:srgbClr val="CBBF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EBE7B2B7-3533-7F4A-8309-276F802A1619}"/>
              </a:ext>
            </a:extLst>
          </p:cNvPr>
          <p:cNvSpPr/>
          <p:nvPr/>
        </p:nvSpPr>
        <p:spPr>
          <a:xfrm rot="6678675">
            <a:off x="5230122" y="6709409"/>
            <a:ext cx="2481054" cy="17780"/>
          </a:xfrm>
          <a:prstGeom prst="rect">
            <a:avLst/>
          </a:prstGeom>
          <a:solidFill>
            <a:srgbClr val="CBBF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E91942D4-203D-A849-A343-8F2EE70D533E}"/>
              </a:ext>
            </a:extLst>
          </p:cNvPr>
          <p:cNvSpPr/>
          <p:nvPr/>
        </p:nvSpPr>
        <p:spPr>
          <a:xfrm rot="3729502">
            <a:off x="6378006" y="6455410"/>
            <a:ext cx="2039487" cy="17780"/>
          </a:xfrm>
          <a:prstGeom prst="rect">
            <a:avLst/>
          </a:prstGeom>
          <a:solidFill>
            <a:srgbClr val="CBBF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318C797E-D3AC-F44A-9151-6ECD9F88B427}"/>
              </a:ext>
            </a:extLst>
          </p:cNvPr>
          <p:cNvSpPr/>
          <p:nvPr/>
        </p:nvSpPr>
        <p:spPr>
          <a:xfrm rot="-1677058">
            <a:off x="8614332" y="5972810"/>
            <a:ext cx="2113434" cy="17780"/>
          </a:xfrm>
          <a:prstGeom prst="rect">
            <a:avLst/>
          </a:prstGeom>
          <a:solidFill>
            <a:srgbClr val="CBBF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A1619345-7062-BE47-B62E-D1906B66BEEA}"/>
              </a:ext>
            </a:extLst>
          </p:cNvPr>
          <p:cNvSpPr/>
          <p:nvPr/>
        </p:nvSpPr>
        <p:spPr>
          <a:xfrm rot="8050181">
            <a:off x="7686097" y="6912609"/>
            <a:ext cx="1239405" cy="17780"/>
          </a:xfrm>
          <a:prstGeom prst="rect">
            <a:avLst/>
          </a:prstGeom>
          <a:solidFill>
            <a:srgbClr val="CBBF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E9768936-C329-444F-94DC-92A7BD0DD75F}"/>
              </a:ext>
            </a:extLst>
          </p:cNvPr>
          <p:cNvSpPr/>
          <p:nvPr/>
        </p:nvSpPr>
        <p:spPr>
          <a:xfrm rot="3254767">
            <a:off x="8412331" y="7103109"/>
            <a:ext cx="1564936" cy="17780"/>
          </a:xfrm>
          <a:prstGeom prst="rect">
            <a:avLst/>
          </a:prstGeom>
          <a:solidFill>
            <a:srgbClr val="CBBF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D0FF0DF0-096A-2F4F-8DFC-26B19425A77F}"/>
              </a:ext>
            </a:extLst>
          </p:cNvPr>
          <p:cNvSpPr/>
          <p:nvPr/>
        </p:nvSpPr>
        <p:spPr>
          <a:xfrm rot="4126581">
            <a:off x="10156860" y="6131560"/>
            <a:ext cx="1403278" cy="17780"/>
          </a:xfrm>
          <a:prstGeom prst="rect">
            <a:avLst/>
          </a:prstGeom>
          <a:solidFill>
            <a:srgbClr val="CBBF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FEA50574-80C7-EE43-A404-54CDBF6C3888}"/>
              </a:ext>
            </a:extLst>
          </p:cNvPr>
          <p:cNvSpPr/>
          <p:nvPr/>
        </p:nvSpPr>
        <p:spPr>
          <a:xfrm rot="-494137">
            <a:off x="2275942" y="7547609"/>
            <a:ext cx="1950514" cy="17780"/>
          </a:xfrm>
          <a:prstGeom prst="rect">
            <a:avLst/>
          </a:prstGeom>
          <a:solidFill>
            <a:srgbClr val="CBBF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78327B2A-D59B-8A41-8794-0E0F76C20206}"/>
              </a:ext>
            </a:extLst>
          </p:cNvPr>
          <p:cNvSpPr/>
          <p:nvPr/>
        </p:nvSpPr>
        <p:spPr>
          <a:xfrm rot="853558">
            <a:off x="4187873" y="7636509"/>
            <a:ext cx="1860452" cy="17780"/>
          </a:xfrm>
          <a:prstGeom prst="rect">
            <a:avLst/>
          </a:prstGeom>
          <a:solidFill>
            <a:srgbClr val="CBBF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2CD41526-1100-524F-BB45-8CF6EF5EA703}"/>
              </a:ext>
            </a:extLst>
          </p:cNvPr>
          <p:cNvSpPr/>
          <p:nvPr/>
        </p:nvSpPr>
        <p:spPr>
          <a:xfrm rot="-919291">
            <a:off x="5985634" y="7611109"/>
            <a:ext cx="1922530" cy="17780"/>
          </a:xfrm>
          <a:prstGeom prst="rect">
            <a:avLst/>
          </a:prstGeom>
          <a:solidFill>
            <a:srgbClr val="CBBF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3B334CFC-76AE-8448-AC46-D8B5EB0BAFE0}"/>
              </a:ext>
            </a:extLst>
          </p:cNvPr>
          <p:cNvSpPr/>
          <p:nvPr/>
        </p:nvSpPr>
        <p:spPr>
          <a:xfrm rot="725685">
            <a:off x="7853818" y="7547609"/>
            <a:ext cx="1818363" cy="17780"/>
          </a:xfrm>
          <a:prstGeom prst="rect">
            <a:avLst/>
          </a:prstGeom>
          <a:solidFill>
            <a:srgbClr val="CBBF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52D9A1D0-2967-1448-90E4-D696D48114B1}"/>
              </a:ext>
            </a:extLst>
          </p:cNvPr>
          <p:cNvSpPr/>
          <p:nvPr/>
        </p:nvSpPr>
        <p:spPr>
          <a:xfrm rot="-1986681">
            <a:off x="9510424" y="7261859"/>
            <a:ext cx="1743650" cy="17780"/>
          </a:xfrm>
          <a:prstGeom prst="rect">
            <a:avLst/>
          </a:prstGeom>
          <a:solidFill>
            <a:srgbClr val="CBBF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03D85021-C5B4-8C44-83CA-75B2FE3AAD03}"/>
              </a:ext>
            </a:extLst>
          </p:cNvPr>
          <p:cNvSpPr/>
          <p:nvPr/>
        </p:nvSpPr>
        <p:spPr>
          <a:xfrm rot="-1134275">
            <a:off x="1369540" y="6070600"/>
            <a:ext cx="1959919" cy="50800"/>
          </a:xfrm>
          <a:prstGeom prst="rect">
            <a:avLst/>
          </a:prstGeom>
          <a:solidFill>
            <a:srgbClr val="C849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9B88C3E6-A70B-6842-BBF9-2A05AD557584}"/>
              </a:ext>
            </a:extLst>
          </p:cNvPr>
          <p:cNvSpPr/>
          <p:nvPr/>
        </p:nvSpPr>
        <p:spPr>
          <a:xfrm rot="-2065801">
            <a:off x="3109364" y="5213350"/>
            <a:ext cx="1909270" cy="50800"/>
          </a:xfrm>
          <a:prstGeom prst="rect">
            <a:avLst/>
          </a:prstGeom>
          <a:solidFill>
            <a:srgbClr val="C849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46483EBC-ABF1-4D4B-A77F-6A07EE9B03B2}"/>
              </a:ext>
            </a:extLst>
          </p:cNvPr>
          <p:cNvSpPr/>
          <p:nvPr/>
        </p:nvSpPr>
        <p:spPr>
          <a:xfrm rot="-1857825">
            <a:off x="4714209" y="4178300"/>
            <a:ext cx="1925380" cy="50800"/>
          </a:xfrm>
          <a:prstGeom prst="rect">
            <a:avLst/>
          </a:prstGeom>
          <a:solidFill>
            <a:srgbClr val="C849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9459337D-FD3E-114F-B1D5-3DC8B9CA46E5}"/>
              </a:ext>
            </a:extLst>
          </p:cNvPr>
          <p:cNvSpPr/>
          <p:nvPr/>
        </p:nvSpPr>
        <p:spPr>
          <a:xfrm rot="1409914">
            <a:off x="6423156" y="4064000"/>
            <a:ext cx="1911086" cy="50800"/>
          </a:xfrm>
          <a:prstGeom prst="rect">
            <a:avLst/>
          </a:prstGeom>
          <a:solidFill>
            <a:srgbClr val="C849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5A1FA90F-996A-5A4D-ACD6-EAB8B2DC3113}"/>
              </a:ext>
            </a:extLst>
          </p:cNvPr>
          <p:cNvSpPr/>
          <p:nvPr/>
        </p:nvSpPr>
        <p:spPr>
          <a:xfrm rot="1403113">
            <a:off x="8149866" y="4953000"/>
            <a:ext cx="2559766" cy="50800"/>
          </a:xfrm>
          <a:prstGeom prst="rect">
            <a:avLst/>
          </a:prstGeom>
          <a:solidFill>
            <a:srgbClr val="C849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2268408B-2D86-E244-8B2A-B82CEE1E7C26}"/>
              </a:ext>
            </a:extLst>
          </p:cNvPr>
          <p:cNvSpPr/>
          <p:nvPr/>
        </p:nvSpPr>
        <p:spPr>
          <a:xfrm rot="4126581">
            <a:off x="10156860" y="6115050"/>
            <a:ext cx="1403278" cy="50800"/>
          </a:xfrm>
          <a:prstGeom prst="rect">
            <a:avLst/>
          </a:prstGeom>
          <a:solidFill>
            <a:srgbClr val="C849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2" name="橢圓 91">
            <a:extLst>
              <a:ext uri="{FF2B5EF4-FFF2-40B4-BE49-F238E27FC236}">
                <a16:creationId xmlns:a16="http://schemas.microsoft.com/office/drawing/2014/main" id="{855136E2-1A9C-6449-B6DD-13295D0585CC}"/>
              </a:ext>
            </a:extLst>
          </p:cNvPr>
          <p:cNvSpPr/>
          <p:nvPr/>
        </p:nvSpPr>
        <p:spPr>
          <a:xfrm>
            <a:off x="1473200" y="4876800"/>
            <a:ext cx="152400" cy="152400"/>
          </a:xfrm>
          <a:prstGeom prst="ellipse">
            <a:avLst/>
          </a:prstGeom>
          <a:solidFill>
            <a:srgbClr val="F2EBDD"/>
          </a:solidFill>
          <a:ln w="17780" cap="flat" cmpd="sng" algn="ctr">
            <a:solidFill>
              <a:srgbClr val="776F6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3" name="橢圓 92">
            <a:extLst>
              <a:ext uri="{FF2B5EF4-FFF2-40B4-BE49-F238E27FC236}">
                <a16:creationId xmlns:a16="http://schemas.microsoft.com/office/drawing/2014/main" id="{1F0B930E-3652-994E-8E5F-CBD26C7F893D}"/>
              </a:ext>
            </a:extLst>
          </p:cNvPr>
          <p:cNvSpPr/>
          <p:nvPr/>
        </p:nvSpPr>
        <p:spPr>
          <a:xfrm>
            <a:off x="3073400" y="3962400"/>
            <a:ext cx="152400" cy="152400"/>
          </a:xfrm>
          <a:prstGeom prst="ellipse">
            <a:avLst/>
          </a:prstGeom>
          <a:solidFill>
            <a:srgbClr val="F2EBDD"/>
          </a:solidFill>
          <a:ln w="17780" cap="flat" cmpd="sng" algn="ctr">
            <a:solidFill>
              <a:srgbClr val="776F6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4" name="橢圓 93">
            <a:extLst>
              <a:ext uri="{FF2B5EF4-FFF2-40B4-BE49-F238E27FC236}">
                <a16:creationId xmlns:a16="http://schemas.microsoft.com/office/drawing/2014/main" id="{DFAD6864-95BB-B348-A767-C4F7ED69955E}"/>
              </a:ext>
            </a:extLst>
          </p:cNvPr>
          <p:cNvSpPr/>
          <p:nvPr/>
        </p:nvSpPr>
        <p:spPr>
          <a:xfrm>
            <a:off x="4737100" y="4584700"/>
            <a:ext cx="228600" cy="228600"/>
          </a:xfrm>
          <a:prstGeom prst="ellipse">
            <a:avLst/>
          </a:prstGeom>
          <a:solidFill>
            <a:srgbClr val="F2EBDD"/>
          </a:solidFill>
          <a:ln w="38100" cap="flat" cmpd="sng" algn="ctr">
            <a:solidFill>
              <a:srgbClr val="C849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5" name="橢圓 94">
            <a:extLst>
              <a:ext uri="{FF2B5EF4-FFF2-40B4-BE49-F238E27FC236}">
                <a16:creationId xmlns:a16="http://schemas.microsoft.com/office/drawing/2014/main" id="{720F5F74-85CC-564E-9EE7-8217B18CE34B}"/>
              </a:ext>
            </a:extLst>
          </p:cNvPr>
          <p:cNvSpPr/>
          <p:nvPr/>
        </p:nvSpPr>
        <p:spPr>
          <a:xfrm>
            <a:off x="6388100" y="3594100"/>
            <a:ext cx="228600" cy="228600"/>
          </a:xfrm>
          <a:prstGeom prst="ellipse">
            <a:avLst/>
          </a:prstGeom>
          <a:solidFill>
            <a:srgbClr val="F2EBDD"/>
          </a:solidFill>
          <a:ln w="38100" cap="flat" cmpd="sng" algn="ctr">
            <a:solidFill>
              <a:srgbClr val="C849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6" name="橢圓 95">
            <a:extLst>
              <a:ext uri="{FF2B5EF4-FFF2-40B4-BE49-F238E27FC236}">
                <a16:creationId xmlns:a16="http://schemas.microsoft.com/office/drawing/2014/main" id="{09633DE4-657B-1340-A0C0-1E31A0618612}"/>
              </a:ext>
            </a:extLst>
          </p:cNvPr>
          <p:cNvSpPr/>
          <p:nvPr/>
        </p:nvSpPr>
        <p:spPr>
          <a:xfrm>
            <a:off x="8140700" y="4356100"/>
            <a:ext cx="228600" cy="228600"/>
          </a:xfrm>
          <a:prstGeom prst="ellipse">
            <a:avLst/>
          </a:prstGeom>
          <a:solidFill>
            <a:srgbClr val="F2EBDD"/>
          </a:solidFill>
          <a:ln w="38100" cap="flat" cmpd="sng" algn="ctr">
            <a:solidFill>
              <a:srgbClr val="C849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7" name="橢圓 96">
            <a:extLst>
              <a:ext uri="{FF2B5EF4-FFF2-40B4-BE49-F238E27FC236}">
                <a16:creationId xmlns:a16="http://schemas.microsoft.com/office/drawing/2014/main" id="{E921DCFF-BB2C-F447-BAAD-5F3AD9E7A856}"/>
              </a:ext>
            </a:extLst>
          </p:cNvPr>
          <p:cNvSpPr/>
          <p:nvPr/>
        </p:nvSpPr>
        <p:spPr>
          <a:xfrm>
            <a:off x="10210800" y="3733800"/>
            <a:ext cx="152400" cy="152400"/>
          </a:xfrm>
          <a:prstGeom prst="ellipse">
            <a:avLst/>
          </a:prstGeom>
          <a:solidFill>
            <a:srgbClr val="F2EBDD"/>
          </a:solidFill>
          <a:ln w="17780" cap="flat" cmpd="sng" algn="ctr">
            <a:solidFill>
              <a:srgbClr val="776F6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8" name="橢圓 97">
            <a:extLst>
              <a:ext uri="{FF2B5EF4-FFF2-40B4-BE49-F238E27FC236}">
                <a16:creationId xmlns:a16="http://schemas.microsoft.com/office/drawing/2014/main" id="{5DD36C84-0BE2-884B-BBC2-7948C450A668}"/>
              </a:ext>
            </a:extLst>
          </p:cNvPr>
          <p:cNvSpPr/>
          <p:nvPr/>
        </p:nvSpPr>
        <p:spPr>
          <a:xfrm>
            <a:off x="1308100" y="6299200"/>
            <a:ext cx="228600" cy="228600"/>
          </a:xfrm>
          <a:prstGeom prst="ellipse">
            <a:avLst/>
          </a:prstGeom>
          <a:solidFill>
            <a:srgbClr val="F2EBDD"/>
          </a:solidFill>
          <a:ln w="38100" cap="flat" cmpd="sng" algn="ctr">
            <a:solidFill>
              <a:srgbClr val="C849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9" name="橢圓 98">
            <a:extLst>
              <a:ext uri="{FF2B5EF4-FFF2-40B4-BE49-F238E27FC236}">
                <a16:creationId xmlns:a16="http://schemas.microsoft.com/office/drawing/2014/main" id="{D724239F-4B53-6449-83B2-3F29DC9B0B4E}"/>
              </a:ext>
            </a:extLst>
          </p:cNvPr>
          <p:cNvSpPr/>
          <p:nvPr/>
        </p:nvSpPr>
        <p:spPr>
          <a:xfrm>
            <a:off x="3162300" y="5664200"/>
            <a:ext cx="228600" cy="228600"/>
          </a:xfrm>
          <a:prstGeom prst="ellipse">
            <a:avLst/>
          </a:prstGeom>
          <a:solidFill>
            <a:srgbClr val="F2EBDD"/>
          </a:solidFill>
          <a:ln w="38100" cap="flat" cmpd="sng" algn="ctr">
            <a:solidFill>
              <a:srgbClr val="C849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0" name="橢圓 99">
            <a:extLst>
              <a:ext uri="{FF2B5EF4-FFF2-40B4-BE49-F238E27FC236}">
                <a16:creationId xmlns:a16="http://schemas.microsoft.com/office/drawing/2014/main" id="{7290ECF1-1D43-614A-AA52-504F29493092}"/>
              </a:ext>
            </a:extLst>
          </p:cNvPr>
          <p:cNvSpPr/>
          <p:nvPr/>
        </p:nvSpPr>
        <p:spPr>
          <a:xfrm>
            <a:off x="5003800" y="6527800"/>
            <a:ext cx="152400" cy="152400"/>
          </a:xfrm>
          <a:prstGeom prst="ellipse">
            <a:avLst/>
          </a:prstGeom>
          <a:solidFill>
            <a:srgbClr val="F2EBDD"/>
          </a:solidFill>
          <a:ln w="17780" cap="flat" cmpd="sng" algn="ctr">
            <a:solidFill>
              <a:srgbClr val="776F6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1" name="橢圓 100">
            <a:extLst>
              <a:ext uri="{FF2B5EF4-FFF2-40B4-BE49-F238E27FC236}">
                <a16:creationId xmlns:a16="http://schemas.microsoft.com/office/drawing/2014/main" id="{F0C470BD-5E64-A943-92AA-8505B837BA1D}"/>
              </a:ext>
            </a:extLst>
          </p:cNvPr>
          <p:cNvSpPr/>
          <p:nvPr/>
        </p:nvSpPr>
        <p:spPr>
          <a:xfrm>
            <a:off x="6845300" y="5486400"/>
            <a:ext cx="152400" cy="152400"/>
          </a:xfrm>
          <a:prstGeom prst="ellipse">
            <a:avLst/>
          </a:prstGeom>
          <a:solidFill>
            <a:srgbClr val="F2EBDD"/>
          </a:solidFill>
          <a:ln w="17780" cap="flat" cmpd="sng" algn="ctr">
            <a:solidFill>
              <a:srgbClr val="776F6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2" name="橢圓 101">
            <a:extLst>
              <a:ext uri="{FF2B5EF4-FFF2-40B4-BE49-F238E27FC236}">
                <a16:creationId xmlns:a16="http://schemas.microsoft.com/office/drawing/2014/main" id="{B5A57B0A-DFBB-CE47-A6A6-0941361EA00B}"/>
              </a:ext>
            </a:extLst>
          </p:cNvPr>
          <p:cNvSpPr/>
          <p:nvPr/>
        </p:nvSpPr>
        <p:spPr>
          <a:xfrm>
            <a:off x="8661400" y="6400800"/>
            <a:ext cx="152400" cy="152400"/>
          </a:xfrm>
          <a:prstGeom prst="ellipse">
            <a:avLst/>
          </a:prstGeom>
          <a:solidFill>
            <a:srgbClr val="F2EBDD"/>
          </a:solidFill>
          <a:ln w="17780" cap="flat" cmpd="sng" algn="ctr">
            <a:solidFill>
              <a:srgbClr val="776F6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3" name="橢圓 102">
            <a:extLst>
              <a:ext uri="{FF2B5EF4-FFF2-40B4-BE49-F238E27FC236}">
                <a16:creationId xmlns:a16="http://schemas.microsoft.com/office/drawing/2014/main" id="{FBB61C8A-37ED-BA40-BC54-2ACE133BA98C}"/>
              </a:ext>
            </a:extLst>
          </p:cNvPr>
          <p:cNvSpPr/>
          <p:nvPr/>
        </p:nvSpPr>
        <p:spPr>
          <a:xfrm>
            <a:off x="10490200" y="5372100"/>
            <a:ext cx="228600" cy="228600"/>
          </a:xfrm>
          <a:prstGeom prst="ellipse">
            <a:avLst/>
          </a:prstGeom>
          <a:solidFill>
            <a:srgbClr val="F2EBDD"/>
          </a:solidFill>
          <a:ln w="38100" cap="flat" cmpd="sng" algn="ctr">
            <a:solidFill>
              <a:srgbClr val="C849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4" name="橢圓 103">
            <a:extLst>
              <a:ext uri="{FF2B5EF4-FFF2-40B4-BE49-F238E27FC236}">
                <a16:creationId xmlns:a16="http://schemas.microsoft.com/office/drawing/2014/main" id="{CE3A1D16-5F0C-B244-93DF-551461DA33EC}"/>
              </a:ext>
            </a:extLst>
          </p:cNvPr>
          <p:cNvSpPr/>
          <p:nvPr/>
        </p:nvSpPr>
        <p:spPr>
          <a:xfrm>
            <a:off x="2209800" y="7620000"/>
            <a:ext cx="152400" cy="152400"/>
          </a:xfrm>
          <a:prstGeom prst="ellipse">
            <a:avLst/>
          </a:prstGeom>
          <a:solidFill>
            <a:srgbClr val="F2EBDD"/>
          </a:solidFill>
          <a:ln w="17780" cap="flat" cmpd="sng" algn="ctr">
            <a:solidFill>
              <a:srgbClr val="776F6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5" name="橢圓 104">
            <a:extLst>
              <a:ext uri="{FF2B5EF4-FFF2-40B4-BE49-F238E27FC236}">
                <a16:creationId xmlns:a16="http://schemas.microsoft.com/office/drawing/2014/main" id="{1915B9A4-E043-2442-AE07-6AF42A6977E1}"/>
              </a:ext>
            </a:extLst>
          </p:cNvPr>
          <p:cNvSpPr/>
          <p:nvPr/>
        </p:nvSpPr>
        <p:spPr>
          <a:xfrm>
            <a:off x="4140200" y="7340600"/>
            <a:ext cx="152400" cy="152400"/>
          </a:xfrm>
          <a:prstGeom prst="ellipse">
            <a:avLst/>
          </a:prstGeom>
          <a:solidFill>
            <a:srgbClr val="F2EBDD"/>
          </a:solidFill>
          <a:ln w="17780" cap="flat" cmpd="sng" algn="ctr">
            <a:solidFill>
              <a:srgbClr val="776F6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6" name="橢圓 105">
            <a:extLst>
              <a:ext uri="{FF2B5EF4-FFF2-40B4-BE49-F238E27FC236}">
                <a16:creationId xmlns:a16="http://schemas.microsoft.com/office/drawing/2014/main" id="{24ECC8C0-BC9F-1049-9662-23C5D5911EE0}"/>
              </a:ext>
            </a:extLst>
          </p:cNvPr>
          <p:cNvSpPr/>
          <p:nvPr/>
        </p:nvSpPr>
        <p:spPr>
          <a:xfrm>
            <a:off x="5943600" y="7797800"/>
            <a:ext cx="152400" cy="152400"/>
          </a:xfrm>
          <a:prstGeom prst="ellipse">
            <a:avLst/>
          </a:prstGeom>
          <a:solidFill>
            <a:srgbClr val="F2EBDD"/>
          </a:solidFill>
          <a:ln w="17780" cap="flat" cmpd="sng" algn="ctr">
            <a:solidFill>
              <a:srgbClr val="776F6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7" name="橢圓 106">
            <a:extLst>
              <a:ext uri="{FF2B5EF4-FFF2-40B4-BE49-F238E27FC236}">
                <a16:creationId xmlns:a16="http://schemas.microsoft.com/office/drawing/2014/main" id="{079A5B36-89FB-5148-9CDC-563771155A32}"/>
              </a:ext>
            </a:extLst>
          </p:cNvPr>
          <p:cNvSpPr/>
          <p:nvPr/>
        </p:nvSpPr>
        <p:spPr>
          <a:xfrm>
            <a:off x="7797800" y="7289800"/>
            <a:ext cx="152400" cy="152400"/>
          </a:xfrm>
          <a:prstGeom prst="ellipse">
            <a:avLst/>
          </a:prstGeom>
          <a:solidFill>
            <a:srgbClr val="F2EBDD"/>
          </a:solidFill>
          <a:ln w="17780" cap="flat" cmpd="sng" algn="ctr">
            <a:solidFill>
              <a:srgbClr val="776F6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8" name="橢圓 107">
            <a:extLst>
              <a:ext uri="{FF2B5EF4-FFF2-40B4-BE49-F238E27FC236}">
                <a16:creationId xmlns:a16="http://schemas.microsoft.com/office/drawing/2014/main" id="{04A1F53B-DA99-8348-A4DA-539A3BF86DB7}"/>
              </a:ext>
            </a:extLst>
          </p:cNvPr>
          <p:cNvSpPr/>
          <p:nvPr/>
        </p:nvSpPr>
        <p:spPr>
          <a:xfrm>
            <a:off x="9575800" y="7670800"/>
            <a:ext cx="152400" cy="152400"/>
          </a:xfrm>
          <a:prstGeom prst="ellipse">
            <a:avLst/>
          </a:prstGeom>
          <a:solidFill>
            <a:srgbClr val="F2EBDD"/>
          </a:solidFill>
          <a:ln w="17780" cap="flat" cmpd="sng" algn="ctr">
            <a:solidFill>
              <a:srgbClr val="776F6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9" name="橢圓 108">
            <a:extLst>
              <a:ext uri="{FF2B5EF4-FFF2-40B4-BE49-F238E27FC236}">
                <a16:creationId xmlns:a16="http://schemas.microsoft.com/office/drawing/2014/main" id="{C29506C5-581E-8049-A74F-6CFDD0A03939}"/>
              </a:ext>
            </a:extLst>
          </p:cNvPr>
          <p:cNvSpPr/>
          <p:nvPr/>
        </p:nvSpPr>
        <p:spPr>
          <a:xfrm>
            <a:off x="10998200" y="6680200"/>
            <a:ext cx="228600" cy="228600"/>
          </a:xfrm>
          <a:prstGeom prst="ellipse">
            <a:avLst/>
          </a:prstGeom>
          <a:solidFill>
            <a:srgbClr val="F2EBDD"/>
          </a:solidFill>
          <a:ln w="38100" cap="flat" cmpd="sng" algn="ctr">
            <a:solidFill>
              <a:srgbClr val="C849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10" name="文字方塊 109">
            <a:extLst>
              <a:ext uri="{FF2B5EF4-FFF2-40B4-BE49-F238E27FC236}">
                <a16:creationId xmlns:a16="http://schemas.microsoft.com/office/drawing/2014/main" id="{4E14FC7A-944A-994C-B622-3EC66CD01024}"/>
              </a:ext>
            </a:extLst>
          </p:cNvPr>
          <p:cNvSpPr txBox="1"/>
          <p:nvPr/>
        </p:nvSpPr>
        <p:spPr>
          <a:xfrm>
            <a:off x="1016000" y="6680200"/>
            <a:ext cx="1143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300" b="1">
                <a:solidFill>
                  <a:srgbClr val="C8492E"/>
                </a:solidFill>
                <a:latin typeface="Courier New"/>
                <a:cs typeface="Courier New"/>
              </a:rPr>
              <a:t>START</a:t>
            </a:r>
            <a:endParaRPr lang="zh-TW" altLang="en-US" sz="1300" b="1">
              <a:solidFill>
                <a:srgbClr val="C8492E"/>
              </a:solidFill>
              <a:latin typeface="Courier New"/>
              <a:cs typeface="Courier New"/>
            </a:endParaRPr>
          </a:p>
        </p:txBody>
      </p:sp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1CD44964-1AA3-9240-9727-E78C4469F8A5}"/>
              </a:ext>
            </a:extLst>
          </p:cNvPr>
          <p:cNvSpPr txBox="1"/>
          <p:nvPr/>
        </p:nvSpPr>
        <p:spPr>
          <a:xfrm>
            <a:off x="9969500" y="7086600"/>
            <a:ext cx="1651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600" b="1">
                <a:solidFill>
                  <a:srgbClr val="C8492E"/>
                </a:solidFill>
                <a:latin typeface="Microsoft JhengHei"/>
                <a:ea typeface="Microsoft JhengHei"/>
              </a:rPr>
              <a:t>回頭補網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2980BC5E-6C86-F746-9D01-0EB265A8D8A3}"/>
              </a:ext>
            </a:extLst>
          </p:cNvPr>
          <p:cNvSpPr/>
          <p:nvPr/>
        </p:nvSpPr>
        <p:spPr>
          <a:xfrm>
            <a:off x="990600" y="8483600"/>
            <a:ext cx="16306800" cy="19050"/>
          </a:xfrm>
          <a:prstGeom prst="rect">
            <a:avLst/>
          </a:prstGeom>
          <a:solidFill>
            <a:srgbClr val="17171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13" name="文字方塊 112">
            <a:extLst>
              <a:ext uri="{FF2B5EF4-FFF2-40B4-BE49-F238E27FC236}">
                <a16:creationId xmlns:a16="http://schemas.microsoft.com/office/drawing/2014/main" id="{FB9B6BB8-5205-0941-8F7E-E57995E8643F}"/>
              </a:ext>
            </a:extLst>
          </p:cNvPr>
          <p:cNvSpPr txBox="1"/>
          <p:nvPr/>
        </p:nvSpPr>
        <p:spPr>
          <a:xfrm>
            <a:off x="990600" y="8686800"/>
            <a:ext cx="99060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2400" b="1" dirty="0">
                <a:solidFill>
                  <a:srgbClr val="171719"/>
                </a:solidFill>
                <a:latin typeface="Microsoft JhengHei"/>
                <a:ea typeface="Microsoft JhengHei"/>
              </a:rPr>
              <a:t>先走一條線，再把線織成網。 學完之後你可能會得硬技能，那軟技能呢？</a:t>
            </a:r>
          </a:p>
        </p:txBody>
      </p:sp>
      <p:sp>
        <p:nvSpPr>
          <p:cNvPr id="114" name="文字方塊 113">
            <a:extLst>
              <a:ext uri="{FF2B5EF4-FFF2-40B4-BE49-F238E27FC236}">
                <a16:creationId xmlns:a16="http://schemas.microsoft.com/office/drawing/2014/main" id="{21C4E14E-F10B-4048-AEF4-DC9CD34376FA}"/>
              </a:ext>
            </a:extLst>
          </p:cNvPr>
          <p:cNvSpPr txBox="1"/>
          <p:nvPr/>
        </p:nvSpPr>
        <p:spPr>
          <a:xfrm>
            <a:off x="13817600" y="8737600"/>
            <a:ext cx="34798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400" b="1">
                <a:solidFill>
                  <a:srgbClr val="C8492E"/>
                </a:solidFill>
                <a:latin typeface="Courier New"/>
                <a:cs typeface="Courier New"/>
              </a:rPr>
              <a:t>LINE → NETWORK</a:t>
            </a:r>
            <a:endParaRPr lang="zh-TW" altLang="en-US" sz="1400" b="1">
              <a:solidFill>
                <a:srgbClr val="C8492E"/>
              </a:solidFill>
              <a:latin typeface="Courier New"/>
              <a:cs typeface="Courier New"/>
            </a:endParaRPr>
          </a:p>
        </p:txBody>
      </p:sp>
      <p:pic>
        <p:nvPicPr>
          <p:cNvPr id="115" name="圖片 114">
            <a:extLst>
              <a:ext uri="{FF2B5EF4-FFF2-40B4-BE49-F238E27FC236}">
                <a16:creationId xmlns:a16="http://schemas.microsoft.com/office/drawing/2014/main" id="{97EF9694-042F-E9A3-711B-3E7AD669D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5250" y="1282700"/>
            <a:ext cx="2540000" cy="2476500"/>
          </a:xfrm>
          <a:prstGeom prst="rect">
            <a:avLst/>
          </a:prstGeom>
        </p:spPr>
      </p:pic>
      <p:sp>
        <p:nvSpPr>
          <p:cNvPr id="116" name="文字方塊 115">
            <a:extLst>
              <a:ext uri="{FF2B5EF4-FFF2-40B4-BE49-F238E27FC236}">
                <a16:creationId xmlns:a16="http://schemas.microsoft.com/office/drawing/2014/main" id="{B22D9F43-667C-87E5-D7B6-22DB31D383BD}"/>
              </a:ext>
            </a:extLst>
          </p:cNvPr>
          <p:cNvSpPr txBox="1"/>
          <p:nvPr/>
        </p:nvSpPr>
        <p:spPr>
          <a:xfrm>
            <a:off x="16011978" y="3889057"/>
            <a:ext cx="11865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600" b="1" dirty="0" err="1">
                <a:solidFill>
                  <a:schemeClr val="accent1">
                    <a:lumMod val="75000"/>
                  </a:schemeClr>
                </a:solidFill>
                <a:latin typeface="PingFang TC"/>
              </a:rPr>
              <a:t>Ithome</a:t>
            </a:r>
            <a:endParaRPr lang="zh-TW" altLang="en-US" sz="2600" b="1" dirty="0">
              <a:solidFill>
                <a:schemeClr val="accent1">
                  <a:lumMod val="75000"/>
                </a:schemeClr>
              </a:solidFill>
              <a:latin typeface="PingFang TC"/>
            </a:endParaRPr>
          </a:p>
        </p:txBody>
      </p:sp>
      <p:sp>
        <p:nvSpPr>
          <p:cNvPr id="117" name="文字方塊 116">
            <a:extLst>
              <a:ext uri="{FF2B5EF4-FFF2-40B4-BE49-F238E27FC236}">
                <a16:creationId xmlns:a16="http://schemas.microsoft.com/office/drawing/2014/main" id="{6E2E0E42-D8F0-C923-82B1-892A0CA53BF9}"/>
              </a:ext>
            </a:extLst>
          </p:cNvPr>
          <p:cNvSpPr txBox="1"/>
          <p:nvPr/>
        </p:nvSpPr>
        <p:spPr>
          <a:xfrm>
            <a:off x="3444556" y="5589302"/>
            <a:ext cx="59170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節點又會隨著時間增加</a:t>
            </a:r>
            <a:r>
              <a:rPr kumimoji="1" lang="en-US" altLang="zh-TW" sz="3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/</a:t>
            </a:r>
            <a:r>
              <a:rPr kumimoji="1" lang="zh-TW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消失</a:t>
            </a:r>
            <a:endParaRPr kumimoji="1" lang="en-US" altLang="zh-TW" sz="3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9" name="文字方塊 118">
            <a:extLst>
              <a:ext uri="{FF2B5EF4-FFF2-40B4-BE49-F238E27FC236}">
                <a16:creationId xmlns:a16="http://schemas.microsoft.com/office/drawing/2014/main" id="{0E3D1446-0B6F-074E-BD46-A7F088278FAF}"/>
              </a:ext>
            </a:extLst>
          </p:cNvPr>
          <p:cNvSpPr txBox="1"/>
          <p:nvPr/>
        </p:nvSpPr>
        <p:spPr>
          <a:xfrm>
            <a:off x="16637000" y="94488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>
                <a:solidFill>
                  <a:srgbClr val="8A8175"/>
                </a:solidFill>
                <a:latin typeface="Courier New"/>
                <a:cs typeface="Courier New"/>
              </a:rPr>
              <a:t>16</a:t>
            </a:r>
            <a:endParaRPr lang="zh-TW" altLang="en-US" sz="1600" b="1">
              <a:solidFill>
                <a:srgbClr val="8A8175"/>
              </a:solidFill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990600" y="723900"/>
            <a:ext cx="2420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WHY NOW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730487" y="723900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DURABLE SKILLS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384724"/>
            <a:ext cx="1056132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未來人才的技能地圖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90600" y="4451524"/>
            <a:ext cx="10160000" cy="1074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26"/>
              </a:lnSpc>
              <a:buNone/>
            </a:pPr>
            <a:r>
              <a:rPr lang="en-US" sz="25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10 大能力領域、將近 100 個子技能——溝通、協作、品格、正念、元認知、領導、成長心態、堅韌、批判性思考、創造力。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90600" y="5792614"/>
            <a:ext cx="9601200" cy="28575"/>
          </a:xfrm>
          <a:prstGeom prst="rect">
            <a:avLst/>
          </a:prstGeom>
          <a:solidFill>
            <a:srgbClr val="14151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90600" y="6049789"/>
            <a:ext cx="1527996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66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2570187" y="6454601"/>
            <a:ext cx="44005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個關鍵字，彙整自全體職場需求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90600" y="7192789"/>
            <a:ext cx="1056132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8A83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來源：Pathsmith™ Durable Skills Framework, America Succeeds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1277600" y="2452688"/>
            <a:ext cx="6019800" cy="6019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600" y="2452688"/>
            <a:ext cx="6019800" cy="60198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1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6" name="Lead In"/>
          <p:cNvSpPr txBox="1"/>
          <p:nvPr/>
        </p:nvSpPr>
        <p:spPr>
          <a:xfrm>
            <a:off x="990600" y="2362200"/>
            <a:ext cx="10566400" cy="762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40000"/>
              </a:lnSpc>
            </a:pPr>
            <a:r>
              <a:rPr lang="zh-TW" altLang="en-US" sz="2600" dirty="0">
                <a:solidFill>
                  <a:srgbClr val="55504A"/>
                </a:solidFill>
                <a:latin typeface="PingFang TC"/>
                <a:ea typeface="PingFang TC"/>
              </a:rPr>
              <a:t>未來的時代，硬技能不再代表一切。我們來看看，需要多少軟技能。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0A69A2D-DFFC-CC46-AB9F-BFA3ACAF79F0}"/>
              </a:ext>
            </a:extLst>
          </p:cNvPr>
          <p:cNvSpPr txBox="1"/>
          <p:nvPr/>
        </p:nvSpPr>
        <p:spPr>
          <a:xfrm>
            <a:off x="16637000" y="94488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>
                <a:solidFill>
                  <a:srgbClr val="8A8175"/>
                </a:solidFill>
                <a:latin typeface="Courier New"/>
                <a:cs typeface="Courier New"/>
              </a:rPr>
              <a:t>17</a:t>
            </a:r>
            <a:endParaRPr lang="zh-TW" altLang="en-US" sz="1600" b="1">
              <a:solidFill>
                <a:srgbClr val="8A8175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7716814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990600" y="723900"/>
            <a:ext cx="2420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WHY NOW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463912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FOUR PICKS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628775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我只挑了四個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2809875"/>
            <a:ext cx="7886700" cy="19050"/>
          </a:xfrm>
          <a:prstGeom prst="rect">
            <a:avLst/>
          </a:prstGeom>
          <a:solidFill>
            <a:srgbClr val="14151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90600" y="3057525"/>
            <a:ext cx="63281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42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813917" y="3057525"/>
            <a:ext cx="4840605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批判性思考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813917" y="3662362"/>
            <a:ext cx="484060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28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不照單全收，會問「真的是這樣嗎」。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410700" y="2809875"/>
            <a:ext cx="7886700" cy="19050"/>
          </a:xfrm>
          <a:prstGeom prst="rect">
            <a:avLst/>
          </a:prstGeom>
          <a:solidFill>
            <a:srgbClr val="14151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9410700" y="3057525"/>
            <a:ext cx="70157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42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0302776" y="3057525"/>
            <a:ext cx="5574030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元認知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0302776" y="3662362"/>
            <a:ext cx="557403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28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知道自己是怎麼學會的，也知道卡在哪裡。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90600" y="4418633"/>
            <a:ext cx="7886700" cy="19050"/>
          </a:xfrm>
          <a:prstGeom prst="rect">
            <a:avLst/>
          </a:prstGeom>
          <a:solidFill>
            <a:srgbClr val="14151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990600" y="4666283"/>
            <a:ext cx="69792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42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1879029" y="4666283"/>
            <a:ext cx="4400550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成長心態＋好奇心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1879029" y="5271120"/>
            <a:ext cx="440055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28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願意一直試錯，不怕答案是錯的。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410700" y="4418633"/>
            <a:ext cx="7886700" cy="19050"/>
          </a:xfrm>
          <a:prstGeom prst="rect">
            <a:avLst/>
          </a:prstGeom>
          <a:solidFill>
            <a:srgbClr val="14151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9410700" y="4666283"/>
            <a:ext cx="70492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42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0306124" y="4666283"/>
            <a:ext cx="4107180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一點點堅韌</a:t>
            </a:r>
            <a:endParaRPr lang="en-US" sz="2850" dirty="0"/>
          </a:p>
        </p:txBody>
      </p:sp>
      <p:sp>
        <p:nvSpPr>
          <p:cNvPr id="21" name="Text 19"/>
          <p:cNvSpPr/>
          <p:nvPr/>
        </p:nvSpPr>
        <p:spPr>
          <a:xfrm>
            <a:off x="10306124" y="5271120"/>
            <a:ext cx="410718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28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能忍受不確定，也能忍受失敗。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A0A789D2-6F1B-76EE-947F-20223BF52210}"/>
              </a:ext>
            </a:extLst>
          </p:cNvPr>
          <p:cNvSpPr/>
          <p:nvPr/>
        </p:nvSpPr>
        <p:spPr>
          <a:xfrm>
            <a:off x="914400" y="6275040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觀察、反思、迭代</a:t>
            </a:r>
            <a:endParaRPr lang="en-US" sz="4800" dirty="0"/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29FF7138-6B50-5A8A-D4B2-3D832CA58079}"/>
              </a:ext>
            </a:extLst>
          </p:cNvPr>
          <p:cNvSpPr/>
          <p:nvPr/>
        </p:nvSpPr>
        <p:spPr>
          <a:xfrm>
            <a:off x="914400" y="7106618"/>
            <a:ext cx="5181600" cy="2127870"/>
          </a:xfrm>
          <a:prstGeom prst="rect">
            <a:avLst/>
          </a:prstGeom>
          <a:solidFill>
            <a:srgbClr val="14151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4F390204-E3DE-C8F4-45AA-62F7FB50601E}"/>
              </a:ext>
            </a:extLst>
          </p:cNvPr>
          <p:cNvSpPr/>
          <p:nvPr/>
        </p:nvSpPr>
        <p:spPr>
          <a:xfrm>
            <a:off x="1257300" y="7430468"/>
            <a:ext cx="49453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OBSERVE</a:t>
            </a:r>
            <a:endParaRPr lang="en-US" sz="1800" dirty="0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9D802EDD-3AB5-2968-01EC-ED5ACE5182E9}"/>
              </a:ext>
            </a:extLst>
          </p:cNvPr>
          <p:cNvSpPr/>
          <p:nvPr/>
        </p:nvSpPr>
        <p:spPr>
          <a:xfrm>
            <a:off x="1257300" y="7830518"/>
            <a:ext cx="494538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觀察</a:t>
            </a:r>
            <a:endParaRPr lang="en-US" sz="3000" dirty="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E32597D3-590B-11BF-0964-D512C88BD4AF}"/>
              </a:ext>
            </a:extLst>
          </p:cNvPr>
          <p:cNvSpPr/>
          <p:nvPr/>
        </p:nvSpPr>
        <p:spPr>
          <a:xfrm>
            <a:off x="1257300" y="8497268"/>
            <a:ext cx="494538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282"/>
              </a:lnSpc>
              <a:buNone/>
            </a:pPr>
            <a:r>
              <a:rPr lang="en-US" sz="210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檢查 AI 給的回答 · 批判性思考</a:t>
            </a:r>
            <a:endParaRPr lang="en-US" sz="2100" dirty="0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5E0EE742-F41F-1845-EF59-DCC7B039A510}"/>
              </a:ext>
            </a:extLst>
          </p:cNvPr>
          <p:cNvSpPr/>
          <p:nvPr/>
        </p:nvSpPr>
        <p:spPr>
          <a:xfrm>
            <a:off x="6057900" y="7106618"/>
            <a:ext cx="457200" cy="2165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3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300" dirty="0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62BF711A-A3B6-17A4-44F1-F285B9AD105E}"/>
              </a:ext>
            </a:extLst>
          </p:cNvPr>
          <p:cNvSpPr/>
          <p:nvPr/>
        </p:nvSpPr>
        <p:spPr>
          <a:xfrm>
            <a:off x="6477000" y="7106618"/>
            <a:ext cx="5181600" cy="2127870"/>
          </a:xfrm>
          <a:prstGeom prst="rect">
            <a:avLst/>
          </a:prstGeom>
          <a:solidFill>
            <a:srgbClr val="E5DBC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0B791691-D59F-2DE4-7C1B-BCD08FA0D4F4}"/>
              </a:ext>
            </a:extLst>
          </p:cNvPr>
          <p:cNvSpPr/>
          <p:nvPr/>
        </p:nvSpPr>
        <p:spPr>
          <a:xfrm>
            <a:off x="6819900" y="7430468"/>
            <a:ext cx="49453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REFLECT</a:t>
            </a:r>
            <a:endParaRPr lang="en-US" sz="1800" dirty="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52C02057-DCAD-F359-3980-E1A3F5AFA1D3}"/>
              </a:ext>
            </a:extLst>
          </p:cNvPr>
          <p:cNvSpPr/>
          <p:nvPr/>
        </p:nvSpPr>
        <p:spPr>
          <a:xfrm>
            <a:off x="6819900" y="7830518"/>
            <a:ext cx="494538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反思</a:t>
            </a:r>
            <a:endParaRPr lang="en-US" sz="3000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1C373A89-8628-EC12-B6FE-606256473BB4}"/>
              </a:ext>
            </a:extLst>
          </p:cNvPr>
          <p:cNvSpPr/>
          <p:nvPr/>
        </p:nvSpPr>
        <p:spPr>
          <a:xfrm>
            <a:off x="6819900" y="8497268"/>
            <a:ext cx="494538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28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定位自己卡在哪裡 · 元認知</a:t>
            </a:r>
            <a:endParaRPr lang="en-US" sz="2100" dirty="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79FBE3CC-38F6-EEE8-7B21-4073DAA61D6F}"/>
              </a:ext>
            </a:extLst>
          </p:cNvPr>
          <p:cNvSpPr/>
          <p:nvPr/>
        </p:nvSpPr>
        <p:spPr>
          <a:xfrm>
            <a:off x="11620500" y="7106618"/>
            <a:ext cx="457200" cy="2165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3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300" dirty="0"/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242F9DF5-E35C-CCC0-BFCE-CFB9BCA69106}"/>
              </a:ext>
            </a:extLst>
          </p:cNvPr>
          <p:cNvSpPr/>
          <p:nvPr/>
        </p:nvSpPr>
        <p:spPr>
          <a:xfrm>
            <a:off x="12039600" y="7106618"/>
            <a:ext cx="5181600" cy="2127870"/>
          </a:xfrm>
          <a:prstGeom prst="rect">
            <a:avLst/>
          </a:prstGeom>
          <a:solidFill>
            <a:srgbClr val="E5DBC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1C9238A4-5D02-34E7-A8F4-99C145CEF49B}"/>
              </a:ext>
            </a:extLst>
          </p:cNvPr>
          <p:cNvSpPr/>
          <p:nvPr/>
        </p:nvSpPr>
        <p:spPr>
          <a:xfrm>
            <a:off x="12382500" y="7430468"/>
            <a:ext cx="49453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ITERATE</a:t>
            </a:r>
            <a:endParaRPr lang="en-US" sz="1800" dirty="0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82AA8E06-B7F5-AADF-9BDB-C909858345AC}"/>
              </a:ext>
            </a:extLst>
          </p:cNvPr>
          <p:cNvSpPr/>
          <p:nvPr/>
        </p:nvSpPr>
        <p:spPr>
          <a:xfrm>
            <a:off x="12382500" y="7830518"/>
            <a:ext cx="494538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迭代</a:t>
            </a:r>
            <a:endParaRPr lang="en-US" sz="3000" dirty="0"/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B3483FC6-9C93-793F-6886-001FE394CD90}"/>
              </a:ext>
            </a:extLst>
          </p:cNvPr>
          <p:cNvSpPr/>
          <p:nvPr/>
        </p:nvSpPr>
        <p:spPr>
          <a:xfrm>
            <a:off x="12382500" y="8497268"/>
            <a:ext cx="494538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28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換個問法再試一次 · 成長心態</a:t>
            </a:r>
            <a:endParaRPr lang="en-US" sz="2100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1327073C-372B-C243-A4D6-87A00AD751AA}"/>
              </a:ext>
            </a:extLst>
          </p:cNvPr>
          <p:cNvSpPr txBox="1"/>
          <p:nvPr/>
        </p:nvSpPr>
        <p:spPr>
          <a:xfrm>
            <a:off x="16637000" y="94488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>
                <a:solidFill>
                  <a:srgbClr val="8A8175"/>
                </a:solidFill>
                <a:latin typeface="Courier New"/>
                <a:cs typeface="Courier New"/>
              </a:rPr>
              <a:t>18</a:t>
            </a:r>
            <a:endParaRPr lang="zh-TW" altLang="en-US" sz="1600" b="1">
              <a:solidFill>
                <a:srgbClr val="8A8175"/>
              </a:solidFill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B49CF62-D0D6-F344-87A1-79160DF8970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EB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70ABF9C-3281-6E4B-8944-A4B82241C0A7}"/>
              </a:ext>
            </a:extLst>
          </p:cNvPr>
          <p:cNvSpPr/>
          <p:nvPr/>
        </p:nvSpPr>
        <p:spPr>
          <a:xfrm>
            <a:off x="838200" y="2895600"/>
            <a:ext cx="8991600" cy="6965950"/>
          </a:xfrm>
          <a:prstGeom prst="rect">
            <a:avLst/>
          </a:prstGeom>
          <a:solidFill>
            <a:srgbClr val="FFFDF8"/>
          </a:solidFill>
          <a:ln w="12700" cap="flat" cmpd="sng" algn="ctr">
            <a:solidFill>
              <a:srgbClr val="CFC3B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C8B28E1-CECE-5B19-BA52-685D115F25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8576" b="14859"/>
          <a:stretch>
            <a:fillRect/>
          </a:stretch>
        </p:blipFill>
        <p:spPr>
          <a:xfrm>
            <a:off x="889000" y="2946400"/>
            <a:ext cx="8890000" cy="6931025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ECE36EDA-C1AA-DF40-99D3-094BB7544ECA}"/>
              </a:ext>
            </a:extLst>
          </p:cNvPr>
          <p:cNvSpPr txBox="1"/>
          <p:nvPr/>
        </p:nvSpPr>
        <p:spPr>
          <a:xfrm>
            <a:off x="889000" y="6350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500">
                <a:solidFill>
                  <a:srgbClr val="C8492E"/>
                </a:solidFill>
                <a:latin typeface="Courier New"/>
                <a:cs typeface="Courier New"/>
              </a:rPr>
              <a:t>COURSE OPERATIONS</a:t>
            </a:r>
            <a:endParaRPr lang="zh-TW" altLang="en-US" sz="1500">
              <a:solidFill>
                <a:srgbClr val="C8492E"/>
              </a:solidFill>
              <a:latin typeface="Courier New"/>
              <a:cs typeface="Courier New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43CECFB-2825-4C47-85C2-F891841E653B}"/>
              </a:ext>
            </a:extLst>
          </p:cNvPr>
          <p:cNvSpPr txBox="1"/>
          <p:nvPr/>
        </p:nvSpPr>
        <p:spPr>
          <a:xfrm>
            <a:off x="13208000" y="635000"/>
            <a:ext cx="4191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500">
                <a:solidFill>
                  <a:srgbClr val="746D64"/>
                </a:solidFill>
                <a:latin typeface="Courier New"/>
                <a:cs typeface="Courier New"/>
              </a:rPr>
              <a:t>DISCORD × CLASSROOM</a:t>
            </a:r>
            <a:endParaRPr lang="zh-TW" altLang="en-US" sz="1500">
              <a:solidFill>
                <a:srgbClr val="746D64"/>
              </a:solidFill>
              <a:latin typeface="Courier New"/>
              <a:cs typeface="Courier New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0510D01-B560-FF4A-8B89-6F48D1F2A1A8}"/>
              </a:ext>
            </a:extLst>
          </p:cNvPr>
          <p:cNvSpPr/>
          <p:nvPr/>
        </p:nvSpPr>
        <p:spPr>
          <a:xfrm>
            <a:off x="889000" y="1384300"/>
            <a:ext cx="16510000" cy="19050"/>
          </a:xfrm>
          <a:prstGeom prst="rect">
            <a:avLst/>
          </a:prstGeom>
          <a:solidFill>
            <a:srgbClr val="17171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E7B30F5-6D87-F74E-B171-AEF0D1A568ED}"/>
              </a:ext>
            </a:extLst>
          </p:cNvPr>
          <p:cNvSpPr txBox="1"/>
          <p:nvPr/>
        </p:nvSpPr>
        <p:spPr>
          <a:xfrm>
            <a:off x="889000" y="1625600"/>
            <a:ext cx="83820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3400" b="1">
                <a:solidFill>
                  <a:srgbClr val="171719"/>
                </a:solidFill>
                <a:latin typeface="Microsoft JhengHei"/>
                <a:ea typeface="Microsoft JhengHei"/>
              </a:rPr>
              <a:t>課堂不只發生在直播的一小時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E1DB1DC-1652-1047-AB16-E8A5B0DCEF27}"/>
              </a:ext>
            </a:extLst>
          </p:cNvPr>
          <p:cNvSpPr txBox="1"/>
          <p:nvPr/>
        </p:nvSpPr>
        <p:spPr>
          <a:xfrm>
            <a:off x="889000" y="2336800"/>
            <a:ext cx="86360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>
                <a:solidFill>
                  <a:srgbClr val="746D64"/>
                </a:solidFill>
                <a:latin typeface="Microsoft JhengHei"/>
                <a:ea typeface="Microsoft JhengHei"/>
              </a:rPr>
              <a:t>Discord </a:t>
            </a:r>
            <a:r>
              <a:rPr lang="zh-TW" altLang="en-US">
                <a:solidFill>
                  <a:srgbClr val="746D64"/>
                </a:solidFill>
                <a:latin typeface="Microsoft JhengHei"/>
                <a:ea typeface="Microsoft JhengHei"/>
              </a:rPr>
              <a:t>是課程中樞：承接公告、資料、提問，也讓學習者在焦慮的時刻彼此連結。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AD53409-90A3-154A-AB5E-E1DE86DAE268}"/>
              </a:ext>
            </a:extLst>
          </p:cNvPr>
          <p:cNvSpPr txBox="1"/>
          <p:nvPr/>
        </p:nvSpPr>
        <p:spPr>
          <a:xfrm>
            <a:off x="10414000" y="30480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400" b="1">
                <a:solidFill>
                  <a:srgbClr val="C8492E"/>
                </a:solidFill>
                <a:latin typeface="Courier New"/>
                <a:cs typeface="Courier New"/>
              </a:rPr>
              <a:t>DISCORD GROUP</a:t>
            </a:r>
            <a:endParaRPr lang="zh-TW" altLang="en-US" sz="1400" b="1">
              <a:solidFill>
                <a:srgbClr val="C8492E"/>
              </a:solidFill>
              <a:latin typeface="Courier New"/>
              <a:cs typeface="Courier New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A1ED700-1258-CB47-AAD2-1FE95715ED3B}"/>
              </a:ext>
            </a:extLst>
          </p:cNvPr>
          <p:cNvSpPr txBox="1"/>
          <p:nvPr/>
        </p:nvSpPr>
        <p:spPr>
          <a:xfrm>
            <a:off x="10414000" y="3429000"/>
            <a:ext cx="6604000" cy="990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2800" b="1">
                <a:solidFill>
                  <a:srgbClr val="171719"/>
                </a:solidFill>
                <a:latin typeface="Microsoft JhengHei"/>
                <a:ea typeface="Microsoft JhengHei"/>
              </a:rPr>
              <a:t>把 </a:t>
            </a:r>
            <a:r>
              <a:rPr lang="en-US" altLang="zh-TW" sz="2800" b="1">
                <a:solidFill>
                  <a:srgbClr val="171719"/>
                </a:solidFill>
                <a:latin typeface="Microsoft JhengHei"/>
                <a:ea typeface="Microsoft JhengHei"/>
              </a:rPr>
              <a:t>20 </a:t>
            </a:r>
            <a:r>
              <a:rPr lang="zh-TW" altLang="en-US" sz="2800" b="1">
                <a:solidFill>
                  <a:srgbClr val="171719"/>
                </a:solidFill>
                <a:latin typeface="Microsoft JhengHei"/>
                <a:ea typeface="Microsoft JhengHei"/>
              </a:rPr>
              <a:t>週課程
串成一條線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FE4E9A-D1F6-154B-B7A8-E76A12C8D090}"/>
              </a:ext>
            </a:extLst>
          </p:cNvPr>
          <p:cNvSpPr/>
          <p:nvPr/>
        </p:nvSpPr>
        <p:spPr>
          <a:xfrm>
            <a:off x="10414000" y="4572000"/>
            <a:ext cx="6985000" cy="19050"/>
          </a:xfrm>
          <a:prstGeom prst="rect">
            <a:avLst/>
          </a:prstGeom>
          <a:solidFill>
            <a:srgbClr val="17171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6B8C48C-FFD3-994A-8AD8-5CC3065B973A}"/>
              </a:ext>
            </a:extLst>
          </p:cNvPr>
          <p:cNvSpPr txBox="1"/>
          <p:nvPr/>
        </p:nvSpPr>
        <p:spPr>
          <a:xfrm>
            <a:off x="10414000" y="4851400"/>
            <a:ext cx="5842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zh-TW" b="1">
                <a:solidFill>
                  <a:srgbClr val="C8492E"/>
                </a:solidFill>
                <a:latin typeface="Georgia"/>
              </a:rPr>
              <a:t>01</a:t>
            </a:r>
            <a:endParaRPr lang="zh-TW" altLang="en-US" b="1">
              <a:solidFill>
                <a:srgbClr val="C8492E"/>
              </a:solidFill>
              <a:latin typeface="Georgia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AB2B929-377A-6945-83BE-52A663FB7332}"/>
              </a:ext>
            </a:extLst>
          </p:cNvPr>
          <p:cNvSpPr txBox="1"/>
          <p:nvPr/>
        </p:nvSpPr>
        <p:spPr>
          <a:xfrm>
            <a:off x="11112500" y="4851400"/>
            <a:ext cx="57785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b="1">
                <a:solidFill>
                  <a:srgbClr val="171719"/>
                </a:solidFill>
                <a:latin typeface="Microsoft JhengHei"/>
                <a:ea typeface="Microsoft JhengHei"/>
              </a:rPr>
              <a:t>公告與上課連結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DEFB535-AFEA-FD44-8C42-F5510C9DE944}"/>
              </a:ext>
            </a:extLst>
          </p:cNvPr>
          <p:cNvSpPr txBox="1"/>
          <p:nvPr/>
        </p:nvSpPr>
        <p:spPr>
          <a:xfrm>
            <a:off x="11112500" y="5219700"/>
            <a:ext cx="60325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400">
                <a:solidFill>
                  <a:srgbClr val="746D64"/>
                </a:solidFill>
                <a:latin typeface="Microsoft JhengHei"/>
                <a:ea typeface="Microsoft JhengHei"/>
              </a:rPr>
              <a:t>每週時間、直播入口與異動通知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F0952DA-68A6-B748-9B9B-A4C9D9D69B5B}"/>
              </a:ext>
            </a:extLst>
          </p:cNvPr>
          <p:cNvSpPr txBox="1"/>
          <p:nvPr/>
        </p:nvSpPr>
        <p:spPr>
          <a:xfrm>
            <a:off x="10414000" y="5765800"/>
            <a:ext cx="5842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zh-TW" b="1">
                <a:solidFill>
                  <a:srgbClr val="C8492E"/>
                </a:solidFill>
                <a:latin typeface="Georgia"/>
              </a:rPr>
              <a:t>02</a:t>
            </a:r>
            <a:endParaRPr lang="zh-TW" altLang="en-US" b="1">
              <a:solidFill>
                <a:srgbClr val="C8492E"/>
              </a:solidFill>
              <a:latin typeface="Georgia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6D44779C-826B-464F-807B-FC1C5EFC1E59}"/>
              </a:ext>
            </a:extLst>
          </p:cNvPr>
          <p:cNvSpPr txBox="1"/>
          <p:nvPr/>
        </p:nvSpPr>
        <p:spPr>
          <a:xfrm>
            <a:off x="11112500" y="5765800"/>
            <a:ext cx="57785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b="1">
                <a:solidFill>
                  <a:srgbClr val="171719"/>
                </a:solidFill>
                <a:latin typeface="Microsoft JhengHei"/>
                <a:ea typeface="Microsoft JhengHei"/>
              </a:rPr>
              <a:t>教材與延伸資源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0721B474-8812-5046-9168-2BBFDF86D0A7}"/>
              </a:ext>
            </a:extLst>
          </p:cNvPr>
          <p:cNvSpPr txBox="1"/>
          <p:nvPr/>
        </p:nvSpPr>
        <p:spPr>
          <a:xfrm>
            <a:off x="11112500" y="6134100"/>
            <a:ext cx="60325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400">
                <a:solidFill>
                  <a:srgbClr val="746D64"/>
                </a:solidFill>
                <a:latin typeface="Microsoft JhengHei"/>
                <a:ea typeface="Microsoft JhengHei"/>
              </a:rPr>
              <a:t>投影片、錄影、範例與補充連結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F1FBA2B-3D3C-6B41-B061-947F8CCA698B}"/>
              </a:ext>
            </a:extLst>
          </p:cNvPr>
          <p:cNvSpPr txBox="1"/>
          <p:nvPr/>
        </p:nvSpPr>
        <p:spPr>
          <a:xfrm>
            <a:off x="10414000" y="6680200"/>
            <a:ext cx="5842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zh-TW" b="1">
                <a:solidFill>
                  <a:srgbClr val="C8492E"/>
                </a:solidFill>
                <a:latin typeface="Georgia"/>
              </a:rPr>
              <a:t>03</a:t>
            </a:r>
            <a:endParaRPr lang="zh-TW" altLang="en-US" b="1">
              <a:solidFill>
                <a:srgbClr val="C8492E"/>
              </a:solidFill>
              <a:latin typeface="Georgia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26783326-EFD3-CF4B-AF47-B943A3E7D298}"/>
              </a:ext>
            </a:extLst>
          </p:cNvPr>
          <p:cNvSpPr txBox="1"/>
          <p:nvPr/>
        </p:nvSpPr>
        <p:spPr>
          <a:xfrm>
            <a:off x="11112500" y="6680200"/>
            <a:ext cx="57785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b="1">
                <a:solidFill>
                  <a:srgbClr val="171719"/>
                </a:solidFill>
                <a:latin typeface="Microsoft JhengHei"/>
                <a:ea typeface="Microsoft JhengHei"/>
              </a:rPr>
              <a:t>提問與同學交流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51A4DE21-D4F4-C64B-ACCB-3F57E3FEC206}"/>
              </a:ext>
            </a:extLst>
          </p:cNvPr>
          <p:cNvSpPr txBox="1"/>
          <p:nvPr/>
        </p:nvSpPr>
        <p:spPr>
          <a:xfrm>
            <a:off x="11112500" y="7048500"/>
            <a:ext cx="60325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400">
                <a:solidFill>
                  <a:srgbClr val="746D64"/>
                </a:solidFill>
                <a:latin typeface="Microsoft JhengHei"/>
                <a:ea typeface="Microsoft JhengHei"/>
              </a:rPr>
              <a:t>問題不必等到下週，上完課繼續討論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BAFF8CBC-8910-D84A-8534-7172904F82BD}"/>
              </a:ext>
            </a:extLst>
          </p:cNvPr>
          <p:cNvSpPr txBox="1"/>
          <p:nvPr/>
        </p:nvSpPr>
        <p:spPr>
          <a:xfrm>
            <a:off x="10414000" y="7658100"/>
            <a:ext cx="3302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400" b="1">
                <a:solidFill>
                  <a:srgbClr val="C8492E"/>
                </a:solidFill>
                <a:latin typeface="Courier New"/>
                <a:cs typeface="Courier New"/>
              </a:rPr>
              <a:t>WEEKLY LOOP</a:t>
            </a:r>
            <a:endParaRPr lang="zh-TW" altLang="en-US" sz="1400" b="1">
              <a:solidFill>
                <a:srgbClr val="C8492E"/>
              </a:solidFill>
              <a:latin typeface="Courier New"/>
              <a:cs typeface="Courier New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32EFA7C-3D3F-3140-8014-DF429FD5298B}"/>
              </a:ext>
            </a:extLst>
          </p:cNvPr>
          <p:cNvSpPr/>
          <p:nvPr/>
        </p:nvSpPr>
        <p:spPr>
          <a:xfrm>
            <a:off x="10414000" y="8077200"/>
            <a:ext cx="2032000" cy="990600"/>
          </a:xfrm>
          <a:prstGeom prst="rect">
            <a:avLst/>
          </a:prstGeom>
          <a:solidFill>
            <a:srgbClr val="E8DE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B4F003C-930D-204F-A2DF-1D715782656B}"/>
              </a:ext>
            </a:extLst>
          </p:cNvPr>
          <p:cNvSpPr txBox="1"/>
          <p:nvPr/>
        </p:nvSpPr>
        <p:spPr>
          <a:xfrm>
            <a:off x="10566400" y="8153400"/>
            <a:ext cx="17272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200" b="1">
                <a:solidFill>
                  <a:srgbClr val="746D64"/>
                </a:solidFill>
                <a:latin typeface="Courier New"/>
                <a:cs typeface="Courier New"/>
              </a:rPr>
              <a:t>BEFORE</a:t>
            </a:r>
            <a:endParaRPr lang="zh-TW" altLang="en-US" sz="1200" b="1">
              <a:solidFill>
                <a:srgbClr val="746D64"/>
              </a:solidFill>
              <a:latin typeface="Courier New"/>
              <a:cs typeface="Courier New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E57C955F-DCF8-B542-B7C6-091510D24511}"/>
              </a:ext>
            </a:extLst>
          </p:cNvPr>
          <p:cNvSpPr txBox="1"/>
          <p:nvPr/>
        </p:nvSpPr>
        <p:spPr>
          <a:xfrm>
            <a:off x="10566400" y="8407400"/>
            <a:ext cx="1727200" cy="317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b="1">
                <a:solidFill>
                  <a:srgbClr val="171719"/>
                </a:solidFill>
                <a:latin typeface="Microsoft JhengHei"/>
                <a:ea typeface="Microsoft JhengHei"/>
              </a:rPr>
              <a:t>課前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DFC684D-9DB6-274D-963C-0860222FD07E}"/>
              </a:ext>
            </a:extLst>
          </p:cNvPr>
          <p:cNvSpPr txBox="1"/>
          <p:nvPr/>
        </p:nvSpPr>
        <p:spPr>
          <a:xfrm>
            <a:off x="10566400" y="8750300"/>
            <a:ext cx="17272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200">
                <a:solidFill>
                  <a:srgbClr val="746D64"/>
                </a:solidFill>
                <a:latin typeface="Microsoft JhengHei"/>
                <a:ea typeface="Microsoft JhengHei"/>
              </a:rPr>
              <a:t>公告・預習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08AA2177-5BED-E542-BF8D-95D60E8DBFE3}"/>
              </a:ext>
            </a:extLst>
          </p:cNvPr>
          <p:cNvSpPr txBox="1"/>
          <p:nvPr/>
        </p:nvSpPr>
        <p:spPr>
          <a:xfrm>
            <a:off x="12496800" y="8331200"/>
            <a:ext cx="2286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b="1">
                <a:solidFill>
                  <a:srgbClr val="C8492E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AEE6B07-F0A9-CD46-843A-1A52150D2B40}"/>
              </a:ext>
            </a:extLst>
          </p:cNvPr>
          <p:cNvSpPr/>
          <p:nvPr/>
        </p:nvSpPr>
        <p:spPr>
          <a:xfrm>
            <a:off x="12763500" y="8077200"/>
            <a:ext cx="2032000" cy="990600"/>
          </a:xfrm>
          <a:prstGeom prst="rect">
            <a:avLst/>
          </a:prstGeom>
          <a:solidFill>
            <a:srgbClr val="17171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6813B930-1BC9-2E46-A10B-3B2FD70716F0}"/>
              </a:ext>
            </a:extLst>
          </p:cNvPr>
          <p:cNvSpPr txBox="1"/>
          <p:nvPr/>
        </p:nvSpPr>
        <p:spPr>
          <a:xfrm>
            <a:off x="12915900" y="8153400"/>
            <a:ext cx="17272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200" b="1">
                <a:solidFill>
                  <a:srgbClr val="C8492E"/>
                </a:solidFill>
                <a:latin typeface="Courier New"/>
                <a:cs typeface="Courier New"/>
              </a:rPr>
              <a:t>LIVE</a:t>
            </a:r>
            <a:endParaRPr lang="zh-TW" altLang="en-US" sz="1200" b="1">
              <a:solidFill>
                <a:srgbClr val="C8492E"/>
              </a:solidFill>
              <a:latin typeface="Courier New"/>
              <a:cs typeface="Courier New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537F9EAE-3136-0F41-9F02-7B3E46E61C45}"/>
              </a:ext>
            </a:extLst>
          </p:cNvPr>
          <p:cNvSpPr txBox="1"/>
          <p:nvPr/>
        </p:nvSpPr>
        <p:spPr>
          <a:xfrm>
            <a:off x="12915900" y="8407400"/>
            <a:ext cx="1727200" cy="317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b="1">
                <a:solidFill>
                  <a:srgbClr val="F3EBDD"/>
                </a:solidFill>
                <a:latin typeface="Microsoft JhengHei"/>
                <a:ea typeface="Microsoft JhengHei"/>
              </a:rPr>
              <a:t>課中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689A5E5A-0C1E-574A-BCE8-752A643565CE}"/>
              </a:ext>
            </a:extLst>
          </p:cNvPr>
          <p:cNvSpPr txBox="1"/>
          <p:nvPr/>
        </p:nvSpPr>
        <p:spPr>
          <a:xfrm>
            <a:off x="12915900" y="8750300"/>
            <a:ext cx="17272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200">
                <a:solidFill>
                  <a:srgbClr val="F3EBDD"/>
                </a:solidFill>
                <a:latin typeface="Microsoft JhengHei"/>
                <a:ea typeface="Microsoft JhengHei"/>
              </a:rPr>
              <a:t>講解・示範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AE8B1DE7-43CF-BF43-977E-BCEF1DE3BAD4}"/>
              </a:ext>
            </a:extLst>
          </p:cNvPr>
          <p:cNvSpPr txBox="1"/>
          <p:nvPr/>
        </p:nvSpPr>
        <p:spPr>
          <a:xfrm>
            <a:off x="14846300" y="8331200"/>
            <a:ext cx="2286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b="1">
                <a:solidFill>
                  <a:srgbClr val="C8492E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7E407AF-74D1-C848-A8C4-04D7B89A3F6D}"/>
              </a:ext>
            </a:extLst>
          </p:cNvPr>
          <p:cNvSpPr/>
          <p:nvPr/>
        </p:nvSpPr>
        <p:spPr>
          <a:xfrm>
            <a:off x="15113000" y="8077200"/>
            <a:ext cx="2032000" cy="990600"/>
          </a:xfrm>
          <a:prstGeom prst="rect">
            <a:avLst/>
          </a:prstGeom>
          <a:solidFill>
            <a:srgbClr val="E8DE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415C6421-88D4-0243-B283-698A2ACA1122}"/>
              </a:ext>
            </a:extLst>
          </p:cNvPr>
          <p:cNvSpPr txBox="1"/>
          <p:nvPr/>
        </p:nvSpPr>
        <p:spPr>
          <a:xfrm>
            <a:off x="15265400" y="8153400"/>
            <a:ext cx="17272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200" b="1">
                <a:solidFill>
                  <a:srgbClr val="746D64"/>
                </a:solidFill>
                <a:latin typeface="Courier New"/>
                <a:cs typeface="Courier New"/>
              </a:rPr>
              <a:t>AFTER</a:t>
            </a:r>
            <a:endParaRPr lang="zh-TW" altLang="en-US" sz="1200" b="1">
              <a:solidFill>
                <a:srgbClr val="746D64"/>
              </a:solidFill>
              <a:latin typeface="Courier New"/>
              <a:cs typeface="Courier New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43B50AEF-51D0-FD40-98E9-9023ADBBC923}"/>
              </a:ext>
            </a:extLst>
          </p:cNvPr>
          <p:cNvSpPr txBox="1"/>
          <p:nvPr/>
        </p:nvSpPr>
        <p:spPr>
          <a:xfrm>
            <a:off x="15265400" y="8407400"/>
            <a:ext cx="1727200" cy="317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b="1">
                <a:solidFill>
                  <a:srgbClr val="171719"/>
                </a:solidFill>
                <a:latin typeface="Microsoft JhengHei"/>
                <a:ea typeface="Microsoft JhengHei"/>
              </a:rPr>
              <a:t>課後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58FD5DBB-FF3D-8F45-B098-6924891D897A}"/>
              </a:ext>
            </a:extLst>
          </p:cNvPr>
          <p:cNvSpPr txBox="1"/>
          <p:nvPr/>
        </p:nvSpPr>
        <p:spPr>
          <a:xfrm>
            <a:off x="15265400" y="8750300"/>
            <a:ext cx="17272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200">
                <a:solidFill>
                  <a:srgbClr val="746D64"/>
                </a:solidFill>
                <a:latin typeface="Microsoft JhengHei"/>
                <a:ea typeface="Microsoft JhengHei"/>
              </a:rPr>
              <a:t>回放・討論</a:t>
            </a: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4331F3FF-BD1E-2E46-8E04-B4797483B52E}"/>
              </a:ext>
            </a:extLst>
          </p:cNvPr>
          <p:cNvSpPr txBox="1"/>
          <p:nvPr/>
        </p:nvSpPr>
        <p:spPr>
          <a:xfrm>
            <a:off x="10414000" y="9258300"/>
            <a:ext cx="69850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600" b="1">
                <a:solidFill>
                  <a:srgbClr val="171719"/>
                </a:solidFill>
                <a:latin typeface="Microsoft JhengHei"/>
                <a:ea typeface="Microsoft JhengHei"/>
              </a:rPr>
              <a:t>直播是每週的節點，</a:t>
            </a:r>
            <a:r>
              <a:rPr lang="en" altLang="zh-TW" sz="1600" b="1">
                <a:solidFill>
                  <a:srgbClr val="171719"/>
                </a:solidFill>
                <a:latin typeface="Microsoft JhengHei"/>
                <a:ea typeface="Microsoft JhengHei"/>
              </a:rPr>
              <a:t>Discord </a:t>
            </a:r>
            <a:r>
              <a:rPr lang="zh-TW" altLang="en-US" sz="1600" b="1">
                <a:solidFill>
                  <a:srgbClr val="171719"/>
                </a:solidFill>
                <a:latin typeface="Microsoft JhengHei"/>
                <a:ea typeface="Microsoft JhengHei"/>
              </a:rPr>
              <a:t>讓學習在節點之間持續發生。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E6DDEAE-5583-8D4E-9945-BB0EB94109E5}"/>
              </a:ext>
            </a:extLst>
          </p:cNvPr>
          <p:cNvSpPr/>
          <p:nvPr/>
        </p:nvSpPr>
        <p:spPr>
          <a:xfrm>
            <a:off x="889000" y="9906000"/>
            <a:ext cx="16510000" cy="12700"/>
          </a:xfrm>
          <a:prstGeom prst="rect">
            <a:avLst/>
          </a:prstGeom>
          <a:solidFill>
            <a:srgbClr val="CFC3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980540F4-8F87-234C-8B20-5BCC783B1381}"/>
              </a:ext>
            </a:extLst>
          </p:cNvPr>
          <p:cNvSpPr txBox="1"/>
          <p:nvPr/>
        </p:nvSpPr>
        <p:spPr>
          <a:xfrm>
            <a:off x="889000" y="9994900"/>
            <a:ext cx="5461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000">
                <a:solidFill>
                  <a:srgbClr val="746D64"/>
                </a:solidFill>
                <a:latin typeface="Courier New"/>
                <a:cs typeface="Courier New"/>
              </a:rPr>
              <a:t>AIMING DATA  /  AI EARTH EDUCATION</a:t>
            </a:r>
            <a:endParaRPr lang="zh-TW" altLang="en-US" sz="1000">
              <a:solidFill>
                <a:srgbClr val="746D64"/>
              </a:solidFill>
              <a:latin typeface="Courier New"/>
              <a:cs typeface="Courier New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CE7BEEB-C8E5-CC4C-B3E4-C2E63A7E7387}"/>
              </a:ext>
            </a:extLst>
          </p:cNvPr>
          <p:cNvSpPr/>
          <p:nvPr/>
        </p:nvSpPr>
        <p:spPr>
          <a:xfrm>
            <a:off x="10223500" y="1600200"/>
            <a:ext cx="7175500" cy="1270000"/>
          </a:xfrm>
          <a:prstGeom prst="rect">
            <a:avLst/>
          </a:prstGeom>
          <a:solidFill>
            <a:srgbClr val="E8DE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2BECEF8-39A3-0247-A0AA-A3BC343BCF66}"/>
              </a:ext>
            </a:extLst>
          </p:cNvPr>
          <p:cNvSpPr/>
          <p:nvPr/>
        </p:nvSpPr>
        <p:spPr>
          <a:xfrm>
            <a:off x="10223500" y="1600200"/>
            <a:ext cx="76200" cy="1270000"/>
          </a:xfrm>
          <a:prstGeom prst="rect">
            <a:avLst/>
          </a:prstGeom>
          <a:solidFill>
            <a:srgbClr val="C849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FF1DC085-2D90-AA41-8A4C-1E0C4B4681E3}"/>
              </a:ext>
            </a:extLst>
          </p:cNvPr>
          <p:cNvSpPr txBox="1"/>
          <p:nvPr/>
        </p:nvSpPr>
        <p:spPr>
          <a:xfrm>
            <a:off x="10541000" y="1689100"/>
            <a:ext cx="6350000" cy="2159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100" b="1">
                <a:solidFill>
                  <a:srgbClr val="C8492E"/>
                </a:solidFill>
                <a:latin typeface="Courier New"/>
                <a:cs typeface="Courier New"/>
              </a:rPr>
              <a:t>HARVARD STUDY OF ADULT DEVELOPMENT</a:t>
            </a:r>
            <a:endParaRPr lang="zh-TW" altLang="en-US" sz="1100" b="1">
              <a:solidFill>
                <a:srgbClr val="C8492E"/>
              </a:solidFill>
              <a:latin typeface="Courier New"/>
              <a:cs typeface="Courier New"/>
            </a:endParaRP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410816EF-B688-964C-834C-A4F285CFDEE5}"/>
              </a:ext>
            </a:extLst>
          </p:cNvPr>
          <p:cNvSpPr txBox="1"/>
          <p:nvPr/>
        </p:nvSpPr>
        <p:spPr>
          <a:xfrm>
            <a:off x="10541000" y="1917700"/>
            <a:ext cx="64770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600" b="1">
                <a:solidFill>
                  <a:srgbClr val="171719"/>
                </a:solidFill>
                <a:latin typeface="Microsoft JhengHei"/>
                <a:ea typeface="Microsoft JhengHei"/>
              </a:rPr>
              <a:t>幸福與健康，最重要的不是名利，
而是良好的人際關係。</a:t>
            </a: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088BF187-EF87-7544-A9E1-CFCA44946895}"/>
              </a:ext>
            </a:extLst>
          </p:cNvPr>
          <p:cNvSpPr txBox="1"/>
          <p:nvPr/>
        </p:nvSpPr>
        <p:spPr>
          <a:xfrm>
            <a:off x="10541000" y="2387600"/>
            <a:ext cx="6477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200">
                <a:solidFill>
                  <a:srgbClr val="746D64"/>
                </a:solidFill>
                <a:latin typeface="Microsoft JhengHei"/>
                <a:ea typeface="Microsoft JhengHei"/>
              </a:rPr>
              <a:t>群體學習不只交換知識，也讓我們在焦慮時刻保持連結。</a:t>
            </a: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D77227C4-2A7A-5B4A-93F0-3FCF141D493E}"/>
              </a:ext>
            </a:extLst>
          </p:cNvPr>
          <p:cNvSpPr txBox="1"/>
          <p:nvPr/>
        </p:nvSpPr>
        <p:spPr>
          <a:xfrm>
            <a:off x="10541000" y="2667000"/>
            <a:ext cx="6540500" cy="139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800">
                <a:solidFill>
                  <a:srgbClr val="746D64"/>
                </a:solidFill>
                <a:latin typeface="Arial"/>
                <a:cs typeface="Arial"/>
              </a:rPr>
              <a:t>來源：</a:t>
            </a:r>
            <a:r>
              <a:rPr lang="en" altLang="zh-TW" sz="800">
                <a:solidFill>
                  <a:srgbClr val="746D64"/>
                </a:solidFill>
                <a:latin typeface="Arial"/>
                <a:cs typeface="Arial"/>
              </a:rPr>
              <a:t>NYTimes </a:t>
            </a:r>
            <a:r>
              <a:rPr lang="zh-TW" altLang="en-US" sz="800">
                <a:solidFill>
                  <a:srgbClr val="746D64"/>
                </a:solidFill>
                <a:latin typeface="Arial"/>
                <a:cs typeface="Arial"/>
              </a:rPr>
              <a:t>中文網（</a:t>
            </a:r>
            <a:r>
              <a:rPr lang="en-US" altLang="zh-TW" sz="800">
                <a:solidFill>
                  <a:srgbClr val="746D64"/>
                </a:solidFill>
                <a:latin typeface="Arial"/>
                <a:cs typeface="Arial"/>
              </a:rPr>
              <a:t>2016</a:t>
            </a:r>
            <a:r>
              <a:rPr lang="zh-TW" altLang="en-US" sz="800">
                <a:solidFill>
                  <a:srgbClr val="746D64"/>
                </a:solidFill>
                <a:latin typeface="Arial"/>
                <a:cs typeface="Arial"/>
              </a:rPr>
              <a:t>）  </a:t>
            </a:r>
            <a:r>
              <a:rPr lang="en" altLang="zh-TW" sz="800">
                <a:solidFill>
                  <a:srgbClr val="746D64"/>
                </a:solidFill>
                <a:latin typeface="Arial"/>
                <a:cs typeface="Arial"/>
              </a:rPr>
              <a:t>cn.nytimes.com/health/20160404/t04well-happy-life/zh-hant/</a:t>
            </a:r>
            <a:endParaRPr lang="zh-TW" altLang="en-US" sz="800">
              <a:solidFill>
                <a:srgbClr val="746D64"/>
              </a:solidFill>
              <a:latin typeface="Arial"/>
              <a:cs typeface="Arial"/>
            </a:endParaRP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9588C240-498C-F341-9371-D3DF34CD7B99}"/>
              </a:ext>
            </a:extLst>
          </p:cNvPr>
          <p:cNvSpPr txBox="1"/>
          <p:nvPr/>
        </p:nvSpPr>
        <p:spPr>
          <a:xfrm>
            <a:off x="17399000" y="98425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>
                <a:solidFill>
                  <a:srgbClr val="8A8175"/>
                </a:solidFill>
                <a:latin typeface="Courier New"/>
                <a:cs typeface="Courier New"/>
              </a:rPr>
              <a:t>19</a:t>
            </a:r>
            <a:endParaRPr lang="zh-TW" altLang="en-US" sz="1600" b="1">
              <a:solidFill>
                <a:srgbClr val="8A8175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7832808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CHAPTER 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80619" y="723900"/>
            <a:ext cx="9929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INPUT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4052888"/>
            <a:ext cx="3193755" cy="251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986"/>
              </a:lnSpc>
              <a:buNone/>
            </a:pPr>
            <a:r>
              <a:rPr lang="en-US" sz="19500" dirty="0">
                <a:solidFill>
                  <a:srgbClr val="F2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9500" dirty="0"/>
          </a:p>
        </p:txBody>
      </p:sp>
      <p:sp>
        <p:nvSpPr>
          <p:cNvPr id="6" name="Text 4"/>
          <p:cNvSpPr/>
          <p:nvPr/>
        </p:nvSpPr>
        <p:spPr>
          <a:xfrm>
            <a:off x="4503613" y="4205288"/>
            <a:ext cx="7166610" cy="9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634"/>
              </a:lnSpc>
              <a:buNone/>
            </a:pPr>
            <a:r>
              <a:rPr lang="en-US" sz="57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文字怎麼進到模型裡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4503613" y="5340623"/>
            <a:ext cx="6671310" cy="1074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26"/>
              </a:lnSpc>
              <a:buNone/>
            </a:pPr>
            <a:r>
              <a:rPr lang="en-US" sz="255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以下談到 AI，主要指以大型語言模型（LLM）為核心的生成式工具。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34042E5-B5D6-6947-BB02-5738EAD51883}"/>
              </a:ext>
            </a:extLst>
          </p:cNvPr>
          <p:cNvSpPr/>
          <p:nvPr/>
        </p:nvSpPr>
        <p:spPr>
          <a:xfrm>
            <a:off x="16046450" y="8215313"/>
            <a:ext cx="2241550" cy="787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r"/>
            <a:r>
              <a:rPr lang="en" altLang="zh-TW" sz="2000" b="1" dirty="0">
                <a:solidFill>
                  <a:srgbClr val="C947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buy me a coffee</a:t>
            </a:r>
          </a:p>
          <a:p>
            <a:pPr algn="r"/>
            <a:r>
              <a:rPr lang="zh-TW" altLang="en-US" sz="2000" b="1" dirty="0">
                <a:solidFill>
                  <a:srgbClr val="C947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需開街口支付掃描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D3E8F03-4205-5E49-A56D-49BFBA80B680}"/>
              </a:ext>
            </a:extLst>
          </p:cNvPr>
          <p:cNvSpPr txBox="1"/>
          <p:nvPr/>
        </p:nvSpPr>
        <p:spPr>
          <a:xfrm>
            <a:off x="16389350" y="94488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 dirty="0">
                <a:solidFill>
                  <a:srgbClr val="8A8175"/>
                </a:solidFill>
                <a:latin typeface="Courier New"/>
                <a:cs typeface="Courier New"/>
              </a:rPr>
              <a:t>20</a:t>
            </a:r>
            <a:endParaRPr lang="zh-TW" altLang="en-US" sz="1600" b="1" dirty="0">
              <a:solidFill>
                <a:srgbClr val="8A8175"/>
              </a:solidFill>
              <a:latin typeface="Courier New"/>
              <a:cs typeface="Courier New"/>
            </a:endParaRP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45A80130-0B3A-6647-5987-E0E46AF24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09100"/>
            <a:ext cx="965200" cy="965200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11C66404-EB43-68A2-205B-1B6C797ED3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67200" y="8966200"/>
            <a:ext cx="13208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INPUT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13906" y="723900"/>
            <a:ext cx="14118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THE GAP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666875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兩個常見答案，少了中間那一段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2886075"/>
            <a:ext cx="7924800" cy="1938337"/>
          </a:xfrm>
          <a:prstGeom prst="rect">
            <a:avLst/>
          </a:prstGeom>
          <a:ln w="19050">
            <a:solidFill>
              <a:srgbClr val="14151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390650" y="3248025"/>
            <a:ext cx="7837170" cy="623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「文字接龍」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390650" y="4005262"/>
            <a:ext cx="733844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2250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那文字究竟是怎麼「接」的？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372600" y="2886075"/>
            <a:ext cx="7924800" cy="1938337"/>
          </a:xfrm>
          <a:prstGeom prst="rect">
            <a:avLst/>
          </a:prstGeom>
          <a:ln w="19050">
            <a:solidFill>
              <a:srgbClr val="14151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9772650" y="3248025"/>
            <a:ext cx="7837170" cy="623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「預測下一個 Token」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9772650" y="4005262"/>
            <a:ext cx="733844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2250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下一個 Token 又是怎麼被「預測」出來的？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90600" y="5281613"/>
            <a:ext cx="11301984" cy="1546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理解文字如何進入模型、又如何被輸出，是使用生成式 AI 相當底層的一塊。掌握流程後，之後談 Prompt、Context，甚至模型為什麼會胡說八道，都會比較好理解。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3178045E-B393-2443-837F-E1AC62019348}"/>
              </a:ext>
            </a:extLst>
          </p:cNvPr>
          <p:cNvSpPr txBox="1"/>
          <p:nvPr/>
        </p:nvSpPr>
        <p:spPr>
          <a:xfrm>
            <a:off x="16643350" y="9439275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 dirty="0">
                <a:solidFill>
                  <a:srgbClr val="8A8175"/>
                </a:solidFill>
                <a:latin typeface="Courier New"/>
                <a:cs typeface="Courier New"/>
              </a:rPr>
              <a:t>21</a:t>
            </a:r>
            <a:endParaRPr lang="zh-TW" altLang="en-US" sz="1600" b="1" dirty="0">
              <a:solidFill>
                <a:srgbClr val="8A8175"/>
              </a:solidFill>
              <a:latin typeface="Courier New"/>
              <a:cs typeface="Courier New"/>
            </a:endParaRPr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1C59553B-3CEB-9C75-6913-84155A412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09100"/>
            <a:ext cx="965200" cy="965200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20A72408-EAA3-BF23-A99C-040BE5DCFAAA}"/>
              </a:ext>
            </a:extLst>
          </p:cNvPr>
          <p:cNvSpPr/>
          <p:nvPr/>
        </p:nvSpPr>
        <p:spPr>
          <a:xfrm>
            <a:off x="16046450" y="8216900"/>
            <a:ext cx="2241550" cy="787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r"/>
            <a:r>
              <a:rPr lang="en" altLang="zh-TW" sz="2000" b="1" dirty="0">
                <a:solidFill>
                  <a:srgbClr val="C947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buy me a coffee</a:t>
            </a:r>
          </a:p>
          <a:p>
            <a:pPr algn="r"/>
            <a:r>
              <a:rPr lang="zh-TW" altLang="en-US" sz="2000" b="1" dirty="0">
                <a:solidFill>
                  <a:srgbClr val="C947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需開街口支付掃描</a:t>
            </a:r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02A99768-6084-F88E-8E6F-F0209373A0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67200" y="8966200"/>
            <a:ext cx="13208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INPUT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197263" y="723900"/>
            <a:ext cx="11763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ORIGIN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628775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Transformer 來自 2017 年的一篇論文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90600" y="2809875"/>
            <a:ext cx="4409963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9121"/>
              </a:lnSpc>
              <a:buNone/>
            </a:pPr>
            <a:r>
              <a:rPr lang="en-US" sz="150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2017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5533058" y="3281363"/>
            <a:ext cx="7576215" cy="557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i="1" dirty="0">
                <a:solidFill>
                  <a:srgbClr val="141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Attention Is All You Need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533058" y="3952875"/>
            <a:ext cx="75762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Vaswani et al., Google Research · arXiv:1706.03762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90600" y="4943475"/>
            <a:ext cx="11929872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它最初主要用於機器翻譯，後來成為多數大型語言模型的重要基礎。第一次看到那張經典架構圖時，我的感想很直接：這比較像是在測試一個人會不會立刻關掉分頁。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593FB89-61A5-974C-BA71-3023B2B1E2A4}"/>
              </a:ext>
            </a:extLst>
          </p:cNvPr>
          <p:cNvSpPr/>
          <p:nvPr/>
        </p:nvSpPr>
        <p:spPr>
          <a:xfrm>
            <a:off x="16052800" y="8216900"/>
            <a:ext cx="2247900" cy="787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r"/>
            <a:r>
              <a:rPr lang="en" altLang="zh-TW" sz="2000" b="1" dirty="0">
                <a:solidFill>
                  <a:srgbClr val="C9472B"/>
                </a:solidFill>
                <a:latin typeface="Microsoft JhengHei"/>
                <a:ea typeface="Microsoft JhengHei"/>
              </a:rPr>
              <a:t>buy me a coffee
</a:t>
            </a:r>
            <a:r>
              <a:rPr lang="zh-TW" altLang="en-US" sz="2000" b="1" dirty="0">
                <a:solidFill>
                  <a:srgbClr val="C947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需開街口支付掃描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229396FF-7BA2-944C-BEA7-C5DC35094DEE}"/>
              </a:ext>
            </a:extLst>
          </p:cNvPr>
          <p:cNvSpPr txBox="1"/>
          <p:nvPr/>
        </p:nvSpPr>
        <p:spPr>
          <a:xfrm>
            <a:off x="16637000" y="94488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>
                <a:solidFill>
                  <a:srgbClr val="8A8175"/>
                </a:solidFill>
                <a:latin typeface="Courier New"/>
                <a:cs typeface="Courier New"/>
              </a:rPr>
              <a:t>22</a:t>
            </a:r>
            <a:endParaRPr lang="zh-TW" altLang="en-US" sz="1600" b="1">
              <a:solidFill>
                <a:srgbClr val="8A8175"/>
              </a:solidFill>
              <a:latin typeface="Courier New"/>
              <a:cs typeface="Courier New"/>
            </a:endParaRP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5775D63E-1F87-2953-40D5-9AA4541CE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09100"/>
            <a:ext cx="965200" cy="965200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CBD961AA-9C17-C018-8812-B6F1E711B6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67200" y="8966200"/>
            <a:ext cx="13208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INPUT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647194" y="723900"/>
            <a:ext cx="18152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FRAMEWORK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666875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先抓住三件事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2924175"/>
            <a:ext cx="5156150" cy="28575"/>
          </a:xfrm>
          <a:prstGeom prst="rect">
            <a:avLst/>
          </a:prstGeom>
          <a:solidFill>
            <a:srgbClr val="C444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90600" y="3200400"/>
            <a:ext cx="56717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0600" y="3657600"/>
            <a:ext cx="5671765" cy="623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文字怎麼進去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990600" y="4433888"/>
            <a:ext cx="531083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Tokenizer 把文字切成 Token，換成 ID，再變成 Embedding。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565850" y="2924175"/>
            <a:ext cx="5156225" cy="28575"/>
          </a:xfrm>
          <a:prstGeom prst="rect">
            <a:avLst/>
          </a:prstGeom>
          <a:solidFill>
            <a:srgbClr val="C444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6565850" y="3200400"/>
            <a:ext cx="56718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MIDDLE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65850" y="3657600"/>
            <a:ext cx="5671847" cy="623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中間發生什麼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6565850" y="4433888"/>
            <a:ext cx="5310912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加上位置資訊，再由多層 Attention 反覆整理上下文。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2141175" y="2924175"/>
            <a:ext cx="5156150" cy="28575"/>
          </a:xfrm>
          <a:prstGeom prst="rect">
            <a:avLst/>
          </a:prstGeom>
          <a:solidFill>
            <a:srgbClr val="C444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12141175" y="3200400"/>
            <a:ext cx="56717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OUT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141175" y="3657600"/>
            <a:ext cx="5671765" cy="623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文字怎麼出來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2141175" y="4433888"/>
            <a:ext cx="531083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替所有 Token 算分數，取樣出一個，再接回前文。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90600" y="5782568"/>
            <a:ext cx="28575" cy="457200"/>
          </a:xfrm>
          <a:prstGeom prst="rect">
            <a:avLst/>
          </a:prstGeom>
          <a:solidFill>
            <a:srgbClr val="C444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1247775" y="5782568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不需要一路算矩陣算到懷疑人生，先掌握流程就好。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96B3597-6318-5040-8847-7B538F64CC01}"/>
              </a:ext>
            </a:extLst>
          </p:cNvPr>
          <p:cNvSpPr/>
          <p:nvPr/>
        </p:nvSpPr>
        <p:spPr>
          <a:xfrm>
            <a:off x="16052800" y="8216900"/>
            <a:ext cx="2247900" cy="787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r"/>
            <a:r>
              <a:rPr lang="en" altLang="zh-TW" sz="2000" b="1" dirty="0">
                <a:solidFill>
                  <a:srgbClr val="C9472B"/>
                </a:solidFill>
                <a:latin typeface="Microsoft JhengHei"/>
                <a:ea typeface="Microsoft JhengHei"/>
              </a:rPr>
              <a:t>buy me a coffee
</a:t>
            </a:r>
            <a:r>
              <a:rPr lang="zh-TW" altLang="en-US" sz="2000" b="1" dirty="0">
                <a:solidFill>
                  <a:srgbClr val="C947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需開街口支付掃描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3DD5675F-A798-3C40-AC1D-467E4140619A}"/>
              </a:ext>
            </a:extLst>
          </p:cNvPr>
          <p:cNvSpPr txBox="1"/>
          <p:nvPr/>
        </p:nvSpPr>
        <p:spPr>
          <a:xfrm>
            <a:off x="16637000" y="94488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>
                <a:solidFill>
                  <a:srgbClr val="8A8175"/>
                </a:solidFill>
                <a:latin typeface="Courier New"/>
                <a:cs typeface="Courier New"/>
              </a:rPr>
              <a:t>23</a:t>
            </a:r>
            <a:endParaRPr lang="zh-TW" altLang="en-US" sz="1600" b="1">
              <a:solidFill>
                <a:srgbClr val="8A8175"/>
              </a:solidFill>
              <a:latin typeface="Courier New"/>
              <a:cs typeface="Courier New"/>
            </a:endParaRPr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B80F1B46-C3BF-227A-E7BA-742FD1BF2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09100"/>
            <a:ext cx="965200" cy="965200"/>
          </a:xfrm>
          <a:prstGeom prst="rect">
            <a:avLst/>
          </a:prstGeom>
        </p:spPr>
      </p:pic>
      <p:pic>
        <p:nvPicPr>
          <p:cNvPr id="30" name="圖片 29">
            <a:extLst>
              <a:ext uri="{FF2B5EF4-FFF2-40B4-BE49-F238E27FC236}">
                <a16:creationId xmlns:a16="http://schemas.microsoft.com/office/drawing/2014/main" id="{ACF6C286-1C77-F713-A232-8BC816E792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67200" y="8966200"/>
            <a:ext cx="13208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INPUT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647194" y="723900"/>
            <a:ext cx="18152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TOKENIZER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628775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電腦看不懂文字，要先找一位翻譯員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2809875"/>
            <a:ext cx="16306800" cy="2824163"/>
          </a:xfrm>
          <a:prstGeom prst="rect">
            <a:avLst/>
          </a:prstGeom>
          <a:solidFill>
            <a:srgbClr val="E5DBC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409700" y="3190875"/>
            <a:ext cx="170154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INPUT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09700" y="3705225"/>
            <a:ext cx="17015460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我想開始學習人工智慧</a:t>
            </a:r>
            <a:endParaRPr lang="en-US" sz="3900" dirty="0"/>
          </a:p>
        </p:txBody>
      </p:sp>
      <p:sp>
        <p:nvSpPr>
          <p:cNvPr id="9" name="Shape 7"/>
          <p:cNvSpPr/>
          <p:nvPr/>
        </p:nvSpPr>
        <p:spPr>
          <a:xfrm>
            <a:off x="1409700" y="4643438"/>
            <a:ext cx="647700" cy="609600"/>
          </a:xfrm>
          <a:prstGeom prst="rect">
            <a:avLst/>
          </a:prstGeom>
          <a:solidFill>
            <a:srgbClr val="EFE7DA"/>
          </a:solidFill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1590675" y="4748213"/>
            <a:ext cx="3619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我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2171700" y="4643438"/>
            <a:ext cx="647700" cy="609600"/>
          </a:xfrm>
          <a:prstGeom prst="rect">
            <a:avLst/>
          </a:prstGeom>
          <a:solidFill>
            <a:srgbClr val="EFE7DA"/>
          </a:solidFill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2352675" y="4748213"/>
            <a:ext cx="3619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想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2933700" y="4643438"/>
            <a:ext cx="933450" cy="609600"/>
          </a:xfrm>
          <a:prstGeom prst="rect">
            <a:avLst/>
          </a:prstGeom>
          <a:solidFill>
            <a:srgbClr val="EFE7DA"/>
          </a:solidFill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3114675" y="4748213"/>
            <a:ext cx="6477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開始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3981450" y="4643438"/>
            <a:ext cx="933450" cy="609600"/>
          </a:xfrm>
          <a:prstGeom prst="rect">
            <a:avLst/>
          </a:prstGeom>
          <a:solidFill>
            <a:srgbClr val="EFE7DA"/>
          </a:solidFill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162425" y="4748213"/>
            <a:ext cx="6477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學習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5029200" y="4643438"/>
            <a:ext cx="933450" cy="609600"/>
          </a:xfrm>
          <a:prstGeom prst="rect">
            <a:avLst/>
          </a:prstGeom>
          <a:solidFill>
            <a:srgbClr val="EFE7DA"/>
          </a:solidFill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5210175" y="4748213"/>
            <a:ext cx="6477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人工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6076950" y="4643438"/>
            <a:ext cx="933450" cy="609600"/>
          </a:xfrm>
          <a:prstGeom prst="rect">
            <a:avLst/>
          </a:prstGeom>
          <a:solidFill>
            <a:srgbClr val="EFE7DA"/>
          </a:solidFill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257925" y="4748213"/>
            <a:ext cx="6477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智慧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90600" y="6053138"/>
            <a:ext cx="11929872" cy="1546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Token 不一定等於一個英文單字，也不一定等於一個中文字。它可能是單字、單字的一部分、中文字或標點，甚至把前面的空白一起包進來——實際怎麼切，取決於模型的 Tokenizer 與詞彙表。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72683DD-4208-ED40-8B85-ADFD33038E1E}"/>
              </a:ext>
            </a:extLst>
          </p:cNvPr>
          <p:cNvSpPr/>
          <p:nvPr/>
        </p:nvSpPr>
        <p:spPr>
          <a:xfrm>
            <a:off x="16052800" y="8216900"/>
            <a:ext cx="2247900" cy="787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r"/>
            <a:r>
              <a:rPr lang="en" altLang="zh-TW" sz="2000" b="1" dirty="0">
                <a:solidFill>
                  <a:srgbClr val="C9472B"/>
                </a:solidFill>
                <a:latin typeface="Microsoft JhengHei"/>
                <a:ea typeface="Microsoft JhengHei"/>
              </a:rPr>
              <a:t>buy me a coffee
</a:t>
            </a:r>
            <a:r>
              <a:rPr lang="zh-TW" altLang="en-US" sz="2000" b="1" dirty="0">
                <a:solidFill>
                  <a:srgbClr val="C947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需開街口支付掃描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24C1F12A-F8A9-C741-9A95-A54F7F093993}"/>
              </a:ext>
            </a:extLst>
          </p:cNvPr>
          <p:cNvSpPr txBox="1"/>
          <p:nvPr/>
        </p:nvSpPr>
        <p:spPr>
          <a:xfrm>
            <a:off x="16637000" y="94488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>
                <a:solidFill>
                  <a:srgbClr val="8A8175"/>
                </a:solidFill>
                <a:latin typeface="Courier New"/>
                <a:cs typeface="Courier New"/>
              </a:rPr>
              <a:t>24</a:t>
            </a:r>
            <a:endParaRPr lang="zh-TW" altLang="en-US" sz="1600" b="1">
              <a:solidFill>
                <a:srgbClr val="8A8175"/>
              </a:solidFill>
              <a:latin typeface="Courier New"/>
              <a:cs typeface="Courier New"/>
            </a:endParaRPr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0EAEA18C-4242-D07B-1E31-7082B5E50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21800"/>
            <a:ext cx="965200" cy="965200"/>
          </a:xfrm>
          <a:prstGeom prst="rect">
            <a:avLst/>
          </a:prstGeom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9D4DFE03-2369-5289-C880-56030E681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67200" y="8966200"/>
            <a:ext cx="13208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INPUT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13906" y="723900"/>
            <a:ext cx="14118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SUBWORD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628775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Token 像一套樂高零件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2809875"/>
            <a:ext cx="3775472" cy="885825"/>
          </a:xfrm>
          <a:prstGeom prst="rect">
            <a:avLst/>
          </a:prstGeom>
          <a:solidFill>
            <a:srgbClr val="E5DBC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238250" y="2962275"/>
            <a:ext cx="3393436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transformer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5108972" y="2943225"/>
            <a:ext cx="60960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5985272" y="2809875"/>
            <a:ext cx="3179118" cy="885825"/>
          </a:xfrm>
          <a:prstGeom prst="rect">
            <a:avLst/>
          </a:prstGeom>
          <a:solidFill>
            <a:srgbClr val="14151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232922" y="2962275"/>
            <a:ext cx="2779191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transform</a:t>
            </a:r>
            <a:endParaRPr lang="en-US" sz="3900" dirty="0"/>
          </a:p>
        </p:txBody>
      </p:sp>
      <p:sp>
        <p:nvSpPr>
          <p:cNvPr id="11" name="Shape 9"/>
          <p:cNvSpPr/>
          <p:nvPr/>
        </p:nvSpPr>
        <p:spPr>
          <a:xfrm>
            <a:off x="9507289" y="2809875"/>
            <a:ext cx="1091729" cy="885825"/>
          </a:xfrm>
          <a:prstGeom prst="rect">
            <a:avLst/>
          </a:prstGeom>
          <a:solidFill>
            <a:srgbClr val="C444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754939" y="2962275"/>
            <a:ext cx="672629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er</a:t>
            </a:r>
            <a:endParaRPr lang="en-US" sz="3900" dirty="0"/>
          </a:p>
        </p:txBody>
      </p:sp>
      <p:sp>
        <p:nvSpPr>
          <p:cNvPr id="13" name="Shape 11"/>
          <p:cNvSpPr/>
          <p:nvPr/>
        </p:nvSpPr>
        <p:spPr>
          <a:xfrm>
            <a:off x="990600" y="4114800"/>
            <a:ext cx="7905750" cy="19050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990600" y="4343400"/>
            <a:ext cx="869632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全部用完整單字編號？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90600" y="4905375"/>
            <a:ext cx="8142923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詞彙表很快膨脹，run、running、runner 會被當成完全不同的項目。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391650" y="4114800"/>
            <a:ext cx="7905750" cy="19050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9391650" y="4343400"/>
            <a:ext cx="869632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全部拆成單一字元？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391650" y="4905375"/>
            <a:ext cx="8696325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句子變得太長，每個零件能攜帶的資訊也比較少。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90600" y="6177855"/>
            <a:ext cx="28575" cy="457200"/>
          </a:xfrm>
          <a:prstGeom prst="rect">
            <a:avLst/>
          </a:prstGeom>
          <a:solidFill>
            <a:srgbClr val="C444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1247775" y="6177855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不替每一棟房子做專用模具，而是準備一套可以反覆組合的零件。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8537B30-A53C-5C45-8A62-186FDEC1F988}"/>
              </a:ext>
            </a:extLst>
          </p:cNvPr>
          <p:cNvSpPr/>
          <p:nvPr/>
        </p:nvSpPr>
        <p:spPr>
          <a:xfrm>
            <a:off x="16052800" y="8216900"/>
            <a:ext cx="2247900" cy="787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r"/>
            <a:r>
              <a:rPr lang="en" altLang="zh-TW" sz="2000" b="1" dirty="0">
                <a:solidFill>
                  <a:srgbClr val="C9472B"/>
                </a:solidFill>
                <a:latin typeface="Microsoft JhengHei"/>
                <a:ea typeface="Microsoft JhengHei"/>
              </a:rPr>
              <a:t>buy me a coffee
</a:t>
            </a:r>
            <a:r>
              <a:rPr lang="zh-TW" altLang="en-US" sz="2000" b="1" dirty="0">
                <a:solidFill>
                  <a:srgbClr val="C947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需開街口支付掃描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9EDE2560-F487-E449-B9A0-17D0D4EC9A6E}"/>
              </a:ext>
            </a:extLst>
          </p:cNvPr>
          <p:cNvSpPr txBox="1"/>
          <p:nvPr/>
        </p:nvSpPr>
        <p:spPr>
          <a:xfrm>
            <a:off x="16637000" y="94488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>
                <a:solidFill>
                  <a:srgbClr val="8A8175"/>
                </a:solidFill>
                <a:latin typeface="Courier New"/>
                <a:cs typeface="Courier New"/>
              </a:rPr>
              <a:t>25</a:t>
            </a:r>
            <a:endParaRPr lang="zh-TW" altLang="en-US" sz="1600" b="1">
              <a:solidFill>
                <a:srgbClr val="8A8175"/>
              </a:solidFill>
              <a:latin typeface="Courier New"/>
              <a:cs typeface="Courier New"/>
            </a:endParaRPr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265A8D8E-2A14-67FA-5F3A-79243E142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21800"/>
            <a:ext cx="965200" cy="965200"/>
          </a:xfrm>
          <a:prstGeom prst="rect">
            <a:avLst/>
          </a:prstGeom>
        </p:spPr>
      </p:pic>
      <p:pic>
        <p:nvPicPr>
          <p:cNvPr id="30" name="圖片 29">
            <a:extLst>
              <a:ext uri="{FF2B5EF4-FFF2-40B4-BE49-F238E27FC236}">
                <a16:creationId xmlns:a16="http://schemas.microsoft.com/office/drawing/2014/main" id="{83735A56-7ADA-391A-E652-3F4F5FC0ED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67200" y="8966200"/>
            <a:ext cx="13208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INPUT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830550" y="723900"/>
            <a:ext cx="16135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TOKEN ID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991942"/>
            <a:ext cx="104775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Token ID 只是置物櫃號碼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90600" y="5096842"/>
            <a:ext cx="9810750" cy="1074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26"/>
              </a:lnSpc>
              <a:buNone/>
            </a:pPr>
            <a:r>
              <a:rPr lang="en-US" sz="25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這個數字本身沒有語意。編號 8000 並不比編號 2000 更聰明，它只是告訴模型要到哪一格取得對應的資料。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90600" y="6476033"/>
            <a:ext cx="28575" cy="457200"/>
          </a:xfrm>
          <a:prstGeom prst="rect">
            <a:avLst/>
          </a:prstGeom>
          <a:solidFill>
            <a:srgbClr val="C444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1247775" y="6476033"/>
            <a:ext cx="95535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取回的那組資料就是 Embedding：可以先想成高維空間中的一組座標。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1201400" y="3976687"/>
            <a:ext cx="1409700" cy="1409700"/>
          </a:xfrm>
          <a:prstGeom prst="rect">
            <a:avLst/>
          </a:prstGeom>
          <a:solidFill>
            <a:srgbClr val="E5DBCA"/>
          </a:solidFill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11172825" y="3986213"/>
            <a:ext cx="1466850" cy="142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1998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2763500" y="3976687"/>
            <a:ext cx="1409700" cy="1409700"/>
          </a:xfrm>
          <a:prstGeom prst="rect">
            <a:avLst/>
          </a:prstGeom>
          <a:solidFill>
            <a:srgbClr val="E5DBCA"/>
          </a:solidFill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12734925" y="3986213"/>
            <a:ext cx="1466850" cy="142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1999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4325600" y="3976687"/>
            <a:ext cx="1409700" cy="1409700"/>
          </a:xfrm>
          <a:prstGeom prst="rect">
            <a:avLst/>
          </a:prstGeom>
          <a:solidFill>
            <a:srgbClr val="C4442B"/>
          </a:solidFill>
          <a:ln w="9525">
            <a:solidFill>
              <a:srgbClr val="C444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14297025" y="3986213"/>
            <a:ext cx="1466850" cy="142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2000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5887700" y="3976687"/>
            <a:ext cx="1409700" cy="1409700"/>
          </a:xfrm>
          <a:prstGeom prst="rect">
            <a:avLst/>
          </a:prstGeom>
          <a:solidFill>
            <a:srgbClr val="E5DBCA"/>
          </a:solidFill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15859125" y="3986213"/>
            <a:ext cx="1466850" cy="142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2001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1201400" y="5538788"/>
            <a:ext cx="1409700" cy="1409700"/>
          </a:xfrm>
          <a:prstGeom prst="rect">
            <a:avLst/>
          </a:prstGeom>
          <a:solidFill>
            <a:srgbClr val="E5DBCA"/>
          </a:solidFill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11172825" y="5548313"/>
            <a:ext cx="1466850" cy="142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7998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2763500" y="5538788"/>
            <a:ext cx="1409700" cy="1409700"/>
          </a:xfrm>
          <a:prstGeom prst="rect">
            <a:avLst/>
          </a:prstGeom>
          <a:solidFill>
            <a:srgbClr val="E5DBCA"/>
          </a:solidFill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12734925" y="5548313"/>
            <a:ext cx="1466850" cy="142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7999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4325600" y="5538788"/>
            <a:ext cx="1409700" cy="1409700"/>
          </a:xfrm>
          <a:prstGeom prst="rect">
            <a:avLst/>
          </a:prstGeom>
          <a:solidFill>
            <a:srgbClr val="14151A"/>
          </a:solidFill>
          <a:ln w="9525">
            <a:solidFill>
              <a:srgbClr val="14151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14297025" y="5548313"/>
            <a:ext cx="1466850" cy="142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8000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5887700" y="5538788"/>
            <a:ext cx="1409700" cy="1409700"/>
          </a:xfrm>
          <a:prstGeom prst="rect">
            <a:avLst/>
          </a:prstGeom>
          <a:solidFill>
            <a:srgbClr val="E5DBCA"/>
          </a:solidFill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15859125" y="5548313"/>
            <a:ext cx="1466850" cy="142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8001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D16119D0-E8E1-20E8-5836-1FB6A5987B31}"/>
              </a:ext>
            </a:extLst>
          </p:cNvPr>
          <p:cNvSpPr txBox="1"/>
          <p:nvPr/>
        </p:nvSpPr>
        <p:spPr>
          <a:xfrm>
            <a:off x="990600" y="7508290"/>
            <a:ext cx="51760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TW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https://</a:t>
            </a:r>
            <a:r>
              <a:rPr kumimoji="1" lang="en" altLang="zh-TW" sz="28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tiktokenizer.vercel.app</a:t>
            </a:r>
            <a:endParaRPr kumimoji="1" lang="zh-TW" altLang="en-US" sz="2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A760DB9-2A27-B842-BA0A-9473961F42F5}"/>
              </a:ext>
            </a:extLst>
          </p:cNvPr>
          <p:cNvSpPr/>
          <p:nvPr/>
        </p:nvSpPr>
        <p:spPr>
          <a:xfrm>
            <a:off x="16052800" y="8216900"/>
            <a:ext cx="2247900" cy="787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r"/>
            <a:r>
              <a:rPr lang="en" altLang="zh-TW" sz="2000" b="1" dirty="0">
                <a:solidFill>
                  <a:srgbClr val="C9472B"/>
                </a:solidFill>
                <a:latin typeface="Microsoft JhengHei"/>
                <a:ea typeface="Microsoft JhengHei"/>
              </a:rPr>
              <a:t>buy me a coffee
</a:t>
            </a:r>
            <a:r>
              <a:rPr lang="zh-TW" altLang="en-US" sz="2000" b="1" dirty="0">
                <a:solidFill>
                  <a:srgbClr val="C947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需開街口支付掃描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E99514DE-869D-F645-BE8F-18C2E5007D4C}"/>
              </a:ext>
            </a:extLst>
          </p:cNvPr>
          <p:cNvSpPr txBox="1"/>
          <p:nvPr/>
        </p:nvSpPr>
        <p:spPr>
          <a:xfrm>
            <a:off x="16637000" y="94488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>
                <a:solidFill>
                  <a:srgbClr val="8A8175"/>
                </a:solidFill>
                <a:latin typeface="Courier New"/>
                <a:cs typeface="Courier New"/>
              </a:rPr>
              <a:t>26</a:t>
            </a:r>
            <a:endParaRPr lang="zh-TW" altLang="en-US" sz="1600" b="1">
              <a:solidFill>
                <a:srgbClr val="8A8175"/>
              </a:solidFill>
              <a:latin typeface="Courier New"/>
              <a:cs typeface="Courier New"/>
            </a:endParaRPr>
          </a:p>
        </p:txBody>
      </p:sp>
      <p:pic>
        <p:nvPicPr>
          <p:cNvPr id="34" name="圖片 33">
            <a:extLst>
              <a:ext uri="{FF2B5EF4-FFF2-40B4-BE49-F238E27FC236}">
                <a16:creationId xmlns:a16="http://schemas.microsoft.com/office/drawing/2014/main" id="{56AFC9B2-4484-DC39-0ACB-84D116525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09100"/>
            <a:ext cx="965200" cy="965200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0F9956E3-33CE-178E-3D43-6BCF2661F2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67200" y="8966200"/>
            <a:ext cx="13208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INPUT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13906" y="723900"/>
            <a:ext cx="14118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FIG. 04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704975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輸入流程的四個步驟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3000375"/>
            <a:ext cx="3762375" cy="2024062"/>
          </a:xfrm>
          <a:prstGeom prst="rect">
            <a:avLst/>
          </a:prstGeom>
          <a:ln w="19050">
            <a:solidFill>
              <a:srgbClr val="14151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276350" y="3324225"/>
            <a:ext cx="35099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76350" y="3705225"/>
            <a:ext cx="350996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文字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276350" y="4352925"/>
            <a:ext cx="3509963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人看得懂的那一句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714875" y="3000375"/>
            <a:ext cx="495300" cy="2062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3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5172075" y="3000375"/>
            <a:ext cx="3762375" cy="2024062"/>
          </a:xfrm>
          <a:prstGeom prst="rect">
            <a:avLst/>
          </a:prstGeom>
          <a:ln w="19050">
            <a:solidFill>
              <a:srgbClr val="14151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5457825" y="3324225"/>
            <a:ext cx="35099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57825" y="3705225"/>
            <a:ext cx="350996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Token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457825" y="4352925"/>
            <a:ext cx="3509963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切成可重組的零件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8896350" y="3000375"/>
            <a:ext cx="495300" cy="2062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3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300" dirty="0"/>
          </a:p>
        </p:txBody>
      </p:sp>
      <p:sp>
        <p:nvSpPr>
          <p:cNvPr id="16" name="Shape 14"/>
          <p:cNvSpPr/>
          <p:nvPr/>
        </p:nvSpPr>
        <p:spPr>
          <a:xfrm>
            <a:off x="9353550" y="3000375"/>
            <a:ext cx="3762375" cy="2024062"/>
          </a:xfrm>
          <a:prstGeom prst="rect">
            <a:avLst/>
          </a:prstGeom>
          <a:ln w="19050">
            <a:solidFill>
              <a:srgbClr val="14151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9639300" y="3324225"/>
            <a:ext cx="35099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39300" y="3705225"/>
            <a:ext cx="350996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Token ID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639300" y="4352925"/>
            <a:ext cx="3509963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詞彙表裡的置物櫃號碼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3077825" y="3000375"/>
            <a:ext cx="495300" cy="2062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3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300" dirty="0"/>
          </a:p>
        </p:txBody>
      </p:sp>
      <p:sp>
        <p:nvSpPr>
          <p:cNvPr id="21" name="Shape 19"/>
          <p:cNvSpPr/>
          <p:nvPr/>
        </p:nvSpPr>
        <p:spPr>
          <a:xfrm>
            <a:off x="13535025" y="3000375"/>
            <a:ext cx="3762375" cy="2024062"/>
          </a:xfrm>
          <a:prstGeom prst="rect">
            <a:avLst/>
          </a:prstGeom>
          <a:solidFill>
            <a:srgbClr val="C4442B"/>
          </a:solidFill>
          <a:ln w="19050">
            <a:solidFill>
              <a:srgbClr val="C444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13820775" y="3324225"/>
            <a:ext cx="35099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4D9C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820775" y="3705225"/>
            <a:ext cx="350996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Embedding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3820775" y="4352925"/>
            <a:ext cx="3509963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4D9C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高維空間中的一組座標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90600" y="5557838"/>
            <a:ext cx="11301984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Embedding 是模型在訓練過程中學到的向量表示——語意不在那個號碼裡，而在這組座標裡。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D1C9F74-4F81-DF4C-AB7B-0EF1079A6EA7}"/>
              </a:ext>
            </a:extLst>
          </p:cNvPr>
          <p:cNvSpPr/>
          <p:nvPr/>
        </p:nvSpPr>
        <p:spPr>
          <a:xfrm>
            <a:off x="16052800" y="8216900"/>
            <a:ext cx="2247900" cy="787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r"/>
            <a:r>
              <a:rPr lang="en" altLang="zh-TW" sz="2000" b="1" dirty="0">
                <a:solidFill>
                  <a:srgbClr val="C9472B"/>
                </a:solidFill>
                <a:latin typeface="Microsoft JhengHei"/>
                <a:ea typeface="Microsoft JhengHei"/>
              </a:rPr>
              <a:t>buy me a coffee
</a:t>
            </a:r>
            <a:r>
              <a:rPr lang="zh-TW" altLang="en-US" sz="2000" b="1" dirty="0">
                <a:solidFill>
                  <a:srgbClr val="C947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需開街口支付掃描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C0E982D6-5D20-9D40-82EF-642864433E54}"/>
              </a:ext>
            </a:extLst>
          </p:cNvPr>
          <p:cNvSpPr txBox="1"/>
          <p:nvPr/>
        </p:nvSpPr>
        <p:spPr>
          <a:xfrm>
            <a:off x="16637000" y="94488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>
                <a:solidFill>
                  <a:srgbClr val="8A8175"/>
                </a:solidFill>
                <a:latin typeface="Courier New"/>
                <a:cs typeface="Courier New"/>
              </a:rPr>
              <a:t>27</a:t>
            </a:r>
            <a:endParaRPr lang="zh-TW" altLang="en-US" sz="1600" b="1">
              <a:solidFill>
                <a:srgbClr val="8A8175"/>
              </a:solidFill>
              <a:latin typeface="Courier New"/>
              <a:cs typeface="Courier New"/>
            </a:endParaRPr>
          </a:p>
        </p:txBody>
      </p:sp>
      <p:pic>
        <p:nvPicPr>
          <p:cNvPr id="34" name="圖片 33">
            <a:extLst>
              <a:ext uri="{FF2B5EF4-FFF2-40B4-BE49-F238E27FC236}">
                <a16:creationId xmlns:a16="http://schemas.microsoft.com/office/drawing/2014/main" id="{2DDA9D2C-665B-8452-2596-D2230935B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09100"/>
            <a:ext cx="965200" cy="965200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D7268D2B-E1CA-A30B-4D50-6E185E3B98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67200" y="8966200"/>
            <a:ext cx="13208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INPUT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830550" y="723900"/>
            <a:ext cx="16135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POSITION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704975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順序也要一起告訴模型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2962275"/>
            <a:ext cx="7886700" cy="2371725"/>
          </a:xfrm>
          <a:prstGeom prst="rect">
            <a:avLst/>
          </a:prstGeom>
          <a:solidFill>
            <a:srgbClr val="E5DBC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409700" y="3381375"/>
            <a:ext cx="7753350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狗咬人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409700" y="4514850"/>
            <a:ext cx="77533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不太會上新聞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410700" y="2962275"/>
            <a:ext cx="7886700" cy="2371725"/>
          </a:xfrm>
          <a:prstGeom prst="rect">
            <a:avLst/>
          </a:prstGeom>
          <a:solidFill>
            <a:srgbClr val="14151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9829800" y="3381375"/>
            <a:ext cx="7753350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人咬狗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9829800" y="4514850"/>
            <a:ext cx="77533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會上新聞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90599" y="5829300"/>
            <a:ext cx="16916401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用的是同樣的字，意思卻完全不同。所以除了 Token 的 Embedding，模型還要加入位置資訊，才能分辨誰在前面、誰在後面。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A427C50-83D2-E8C7-9BF8-AC6792857836}"/>
              </a:ext>
            </a:extLst>
          </p:cNvPr>
          <p:cNvSpPr txBox="1"/>
          <p:nvPr/>
        </p:nvSpPr>
        <p:spPr>
          <a:xfrm>
            <a:off x="9410700" y="6873180"/>
            <a:ext cx="469872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sz="32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但中華文學博大精深。</a:t>
            </a:r>
            <a:endParaRPr kumimoji="1" lang="en-US" altLang="zh-TW" sz="3200" b="1" dirty="0">
              <a:solidFill>
                <a:schemeClr val="accent1">
                  <a:lumMod val="7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32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如果是「</a:t>
            </a:r>
            <a:r>
              <a:rPr lang="zh-TW" altLang="zh-TW" sz="32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人咬死狗</a:t>
            </a:r>
            <a:r>
              <a:rPr kumimoji="1" lang="zh-TW" altLang="en-US" sz="32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」呢！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A861BA5-B2DB-AE4F-B420-11975072F430}"/>
              </a:ext>
            </a:extLst>
          </p:cNvPr>
          <p:cNvSpPr/>
          <p:nvPr/>
        </p:nvSpPr>
        <p:spPr>
          <a:xfrm>
            <a:off x="16052800" y="8216900"/>
            <a:ext cx="2247900" cy="787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r"/>
            <a:r>
              <a:rPr lang="en" altLang="zh-TW" sz="2000" b="1" dirty="0">
                <a:solidFill>
                  <a:srgbClr val="C9472B"/>
                </a:solidFill>
                <a:latin typeface="Microsoft JhengHei"/>
                <a:ea typeface="Microsoft JhengHei"/>
              </a:rPr>
              <a:t>buy me a coffee
</a:t>
            </a:r>
            <a:r>
              <a:rPr lang="zh-TW" altLang="en-US" sz="2000" b="1" dirty="0">
                <a:solidFill>
                  <a:srgbClr val="C947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需開街口支付掃描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75E85D5D-7AB1-1C4A-888C-6535AA256FA4}"/>
              </a:ext>
            </a:extLst>
          </p:cNvPr>
          <p:cNvSpPr txBox="1"/>
          <p:nvPr/>
        </p:nvSpPr>
        <p:spPr>
          <a:xfrm>
            <a:off x="16637000" y="94488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>
                <a:solidFill>
                  <a:srgbClr val="8A8175"/>
                </a:solidFill>
                <a:latin typeface="Courier New"/>
                <a:cs typeface="Courier New"/>
              </a:rPr>
              <a:t>28</a:t>
            </a:r>
            <a:endParaRPr lang="zh-TW" altLang="en-US" sz="1600" b="1">
              <a:solidFill>
                <a:srgbClr val="8A8175"/>
              </a:solidFill>
              <a:latin typeface="Courier New"/>
              <a:cs typeface="Courier New"/>
            </a:endParaRP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788242C5-EA72-DBD1-4E4E-8FE482B4D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21800"/>
            <a:ext cx="965200" cy="965200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0B0BC64A-A3D4-B7C6-FB91-230B1DDB77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67200" y="8966200"/>
            <a:ext cx="13208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INPUT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647194" y="723900"/>
            <a:ext cx="18152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ATTENTION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628775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Attention：每個 Token 都在看前文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90600" y="2809875"/>
            <a:ext cx="12950190" cy="1253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740"/>
              </a:lnSpc>
              <a:buNone/>
            </a:pPr>
            <a:r>
              <a:rPr lang="en-US" sz="33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每個 Token 都會觀察前文，判斷哪些 Token 與目前位置比較相關。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90600" y="4444305"/>
            <a:ext cx="7905750" cy="19050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90600" y="4672905"/>
            <a:ext cx="86963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MASKED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90600" y="5072955"/>
            <a:ext cx="814292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生成模型會用遮罩，避免目前的 Token 偷看到未來的答案。畢竟考試可以先看答案，那不叫預測。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391650" y="4444305"/>
            <a:ext cx="7905750" cy="19050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9391650" y="4672905"/>
            <a:ext cx="86963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STACKED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391650" y="5072955"/>
            <a:ext cx="814292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Transformer Block 裡不只有 Attention，還有 MLP 等運算；多層堆疊，反覆整理上下文。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0265A24-841D-564A-9370-CF21B37ED5C4}"/>
              </a:ext>
            </a:extLst>
          </p:cNvPr>
          <p:cNvSpPr/>
          <p:nvPr/>
        </p:nvSpPr>
        <p:spPr>
          <a:xfrm>
            <a:off x="16052800" y="8216900"/>
            <a:ext cx="2247900" cy="787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r"/>
            <a:r>
              <a:rPr lang="en" altLang="zh-TW" sz="2000" b="1" dirty="0">
                <a:solidFill>
                  <a:srgbClr val="C9472B"/>
                </a:solidFill>
                <a:latin typeface="Microsoft JhengHei"/>
                <a:ea typeface="Microsoft JhengHei"/>
              </a:rPr>
              <a:t>buy me a coffee
</a:t>
            </a:r>
            <a:r>
              <a:rPr lang="zh-TW" altLang="en-US" sz="2000" b="1" dirty="0">
                <a:solidFill>
                  <a:srgbClr val="C947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需開街口支付掃描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C3CD54D-A988-5E49-A3DC-D35E38F8FB10}"/>
              </a:ext>
            </a:extLst>
          </p:cNvPr>
          <p:cNvSpPr txBox="1"/>
          <p:nvPr/>
        </p:nvSpPr>
        <p:spPr>
          <a:xfrm>
            <a:off x="16637000" y="94488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>
                <a:solidFill>
                  <a:srgbClr val="8A8175"/>
                </a:solidFill>
                <a:latin typeface="Courier New"/>
                <a:cs typeface="Courier New"/>
              </a:rPr>
              <a:t>29</a:t>
            </a:r>
            <a:endParaRPr lang="zh-TW" altLang="en-US" sz="1600" b="1">
              <a:solidFill>
                <a:srgbClr val="8A8175"/>
              </a:solidFill>
              <a:latin typeface="Courier New"/>
              <a:cs typeface="Courier New"/>
            </a:endParaRPr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A55ECD04-EF79-7CFF-B854-D5CF8F65A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47200"/>
            <a:ext cx="965200" cy="965200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3E694D7C-AA27-D0D4-DDFE-FCC6FE8A0E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67200" y="8966200"/>
            <a:ext cx="13208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INPUT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647194" y="723900"/>
            <a:ext cx="18152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 · K · V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666875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Query、Key、Value：像一次搜尋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2924175"/>
            <a:ext cx="5181600" cy="2757488"/>
          </a:xfrm>
          <a:prstGeom prst="rect">
            <a:avLst/>
          </a:prstGeom>
          <a:solidFill>
            <a:srgbClr val="E5DBC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314450" y="3267075"/>
            <a:ext cx="498729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912"/>
              </a:lnSpc>
              <a:buNone/>
            </a:pPr>
            <a:r>
              <a:rPr lang="en-US" sz="60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314450" y="4200525"/>
            <a:ext cx="4987290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Query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314450" y="4881563"/>
            <a:ext cx="466991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我現在想找什麼？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6553200" y="2924175"/>
            <a:ext cx="5181600" cy="2757488"/>
          </a:xfrm>
          <a:prstGeom prst="rect">
            <a:avLst/>
          </a:prstGeom>
          <a:solidFill>
            <a:srgbClr val="E5DBC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6877050" y="3267075"/>
            <a:ext cx="498729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912"/>
              </a:lnSpc>
              <a:buNone/>
            </a:pPr>
            <a:r>
              <a:rPr lang="en-US" sz="60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6877050" y="4200525"/>
            <a:ext cx="4987290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Key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6877050" y="4881563"/>
            <a:ext cx="466991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哪些資訊可能與我相關？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2115800" y="2924175"/>
            <a:ext cx="5181600" cy="2757488"/>
          </a:xfrm>
          <a:prstGeom prst="rect">
            <a:avLst/>
          </a:prstGeom>
          <a:solidFill>
            <a:srgbClr val="E5DBC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12439650" y="3267075"/>
            <a:ext cx="498729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912"/>
              </a:lnSpc>
              <a:buNone/>
            </a:pPr>
            <a:r>
              <a:rPr lang="en-US" sz="60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12439650" y="4200525"/>
            <a:ext cx="4987290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Value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12439650" y="4881563"/>
            <a:ext cx="466991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真正要取回的內容是什麼？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90600" y="6176963"/>
            <a:ext cx="28575" cy="457200"/>
          </a:xfrm>
          <a:prstGeom prst="rect">
            <a:avLst/>
          </a:prstGeom>
          <a:solidFill>
            <a:srgbClr val="C444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1247775" y="6176963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模型計算 Token 之間的關聯權重，Attention 負責讓 Token 交換資訊。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44657749-FD2A-252D-CBE2-AC1AEAEDFE13}"/>
              </a:ext>
            </a:extLst>
          </p:cNvPr>
          <p:cNvSpPr txBox="1"/>
          <p:nvPr/>
        </p:nvSpPr>
        <p:spPr>
          <a:xfrm>
            <a:off x="1094182" y="7718316"/>
            <a:ext cx="51010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36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hlinkClick r:id="rId3"/>
              </a:rPr>
              <a:t>Transformer Explainer</a:t>
            </a:r>
            <a:endParaRPr kumimoji="1" lang="zh-TW" altLang="en-US" sz="3600" b="1" dirty="0">
              <a:solidFill>
                <a:schemeClr val="accent1">
                  <a:lumMod val="7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F10B303-00D9-FA4E-B9F9-7F7BDF2197FF}"/>
              </a:ext>
            </a:extLst>
          </p:cNvPr>
          <p:cNvSpPr/>
          <p:nvPr/>
        </p:nvSpPr>
        <p:spPr>
          <a:xfrm>
            <a:off x="16052800" y="8216900"/>
            <a:ext cx="2247900" cy="787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r"/>
            <a:r>
              <a:rPr lang="en" altLang="zh-TW" sz="2000" b="1" dirty="0">
                <a:solidFill>
                  <a:srgbClr val="C9472B"/>
                </a:solidFill>
                <a:latin typeface="Microsoft JhengHei"/>
                <a:ea typeface="Microsoft JhengHei"/>
              </a:rPr>
              <a:t>buy me a coffee
</a:t>
            </a:r>
            <a:r>
              <a:rPr lang="zh-TW" altLang="en-US" sz="2000" b="1" dirty="0">
                <a:solidFill>
                  <a:srgbClr val="C947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需開街口支付掃描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A6856801-7B74-374C-B39B-5F00CA7EAABD}"/>
              </a:ext>
            </a:extLst>
          </p:cNvPr>
          <p:cNvSpPr txBox="1"/>
          <p:nvPr/>
        </p:nvSpPr>
        <p:spPr>
          <a:xfrm>
            <a:off x="16637000" y="94488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>
                <a:solidFill>
                  <a:srgbClr val="8A8175"/>
                </a:solidFill>
                <a:latin typeface="Courier New"/>
                <a:cs typeface="Courier New"/>
              </a:rPr>
              <a:t>30</a:t>
            </a:r>
            <a:endParaRPr lang="zh-TW" altLang="en-US" sz="1600" b="1">
              <a:solidFill>
                <a:srgbClr val="8A8175"/>
              </a:solidFill>
              <a:latin typeface="Courier New"/>
              <a:cs typeface="Courier New"/>
            </a:endParaRPr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4E9BBFC3-1502-78EB-21E9-47A336F55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09100"/>
            <a:ext cx="965200" cy="965200"/>
          </a:xfrm>
          <a:prstGeom prst="rect">
            <a:avLst/>
          </a:prstGeom>
        </p:spPr>
      </p:pic>
      <p:pic>
        <p:nvPicPr>
          <p:cNvPr id="30" name="圖片 29">
            <a:extLst>
              <a:ext uri="{FF2B5EF4-FFF2-40B4-BE49-F238E27FC236}">
                <a16:creationId xmlns:a16="http://schemas.microsoft.com/office/drawing/2014/main" id="{9532C498-8F60-3761-7BC4-BCF18BDA9C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67200" y="8966200"/>
            <a:ext cx="13208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CHAPTER 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197263" y="723900"/>
            <a:ext cx="11763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OUTPUT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4052888"/>
            <a:ext cx="3175092" cy="251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986"/>
              </a:lnSpc>
              <a:buNone/>
            </a:pPr>
            <a:r>
              <a:rPr lang="en-US" sz="19500" dirty="0">
                <a:solidFill>
                  <a:srgbClr val="F2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9500" dirty="0"/>
          </a:p>
        </p:txBody>
      </p:sp>
      <p:sp>
        <p:nvSpPr>
          <p:cNvPr id="6" name="Text 4"/>
          <p:cNvSpPr/>
          <p:nvPr/>
        </p:nvSpPr>
        <p:spPr>
          <a:xfrm>
            <a:off x="4486647" y="4205288"/>
            <a:ext cx="9555480" cy="9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634"/>
              </a:lnSpc>
              <a:buNone/>
            </a:pPr>
            <a:r>
              <a:rPr lang="en-US" sz="57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下一個字是怎麼被選出來的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4486647" y="5340623"/>
            <a:ext cx="6671310" cy="1074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26"/>
              </a:lnSpc>
              <a:buNone/>
            </a:pPr>
            <a:r>
              <a:rPr lang="en-US" sz="255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接下來一起打開 Transformer Explainer，用 GPT-2 Small 現場觀察。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E6EDABB-C677-AF42-B32B-C727C647D739}"/>
              </a:ext>
            </a:extLst>
          </p:cNvPr>
          <p:cNvSpPr/>
          <p:nvPr/>
        </p:nvSpPr>
        <p:spPr>
          <a:xfrm>
            <a:off x="16052800" y="8216900"/>
            <a:ext cx="2247900" cy="787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r"/>
            <a:r>
              <a:rPr lang="en" altLang="zh-TW" sz="2000" b="1" dirty="0">
                <a:solidFill>
                  <a:srgbClr val="C9472B"/>
                </a:solidFill>
                <a:latin typeface="Microsoft JhengHei"/>
                <a:ea typeface="Microsoft JhengHei"/>
              </a:rPr>
              <a:t>buy me a coffee
</a:t>
            </a:r>
            <a:r>
              <a:rPr lang="zh-TW" altLang="en-US" sz="2000" b="1" dirty="0">
                <a:solidFill>
                  <a:srgbClr val="C947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需開街口支付掃描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8E9268D-6C8E-3D48-914F-6B5725056C96}"/>
              </a:ext>
            </a:extLst>
          </p:cNvPr>
          <p:cNvSpPr txBox="1"/>
          <p:nvPr/>
        </p:nvSpPr>
        <p:spPr>
          <a:xfrm>
            <a:off x="16637000" y="94488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>
                <a:solidFill>
                  <a:srgbClr val="8A8175"/>
                </a:solidFill>
                <a:latin typeface="Courier New"/>
                <a:cs typeface="Courier New"/>
              </a:rPr>
              <a:t>31</a:t>
            </a:r>
            <a:endParaRPr lang="zh-TW" altLang="en-US" sz="1600" b="1">
              <a:solidFill>
                <a:srgbClr val="8A8175"/>
              </a:solidFill>
              <a:latin typeface="Courier New"/>
              <a:cs typeface="Courier New"/>
            </a:endParaRP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B69853E9-2DA6-58DE-7FA1-FC0147764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09100"/>
            <a:ext cx="965200" cy="965200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70C7A4BF-BA47-C3D1-E328-E405C48660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67200" y="8966200"/>
            <a:ext cx="13208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990600" y="723900"/>
            <a:ext cx="22185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· OUTPUT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197263" y="723900"/>
            <a:ext cx="11763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LOGITS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666875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模型不是一次寫完整句子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90600" y="2886075"/>
            <a:ext cx="1341120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571"/>
              </a:lnSpc>
              <a:buNone/>
            </a:pPr>
            <a:r>
              <a:rPr lang="en-US" sz="30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它會根據目前已有的 Token，替詞彙表中的所有 Token 計算分數。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90600" y="3895725"/>
            <a:ext cx="3790950" cy="1919288"/>
          </a:xfrm>
          <a:prstGeom prst="rect">
            <a:avLst/>
          </a:prstGeom>
          <a:solidFill>
            <a:srgbClr val="E5DBC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1295400" y="4181475"/>
            <a:ext cx="3499485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Logits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295400" y="4729163"/>
            <a:ext cx="349948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每個 Token 的原始分數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743450" y="3895725"/>
            <a:ext cx="457200" cy="1957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0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162550" y="3895725"/>
            <a:ext cx="3790950" cy="1919288"/>
          </a:xfrm>
          <a:prstGeom prst="rect">
            <a:avLst/>
          </a:prstGeom>
          <a:solidFill>
            <a:srgbClr val="E5DBC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5467350" y="4181475"/>
            <a:ext cx="3276791" cy="942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Temperature · Top-k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5467350" y="5181600"/>
            <a:ext cx="349948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調整分布、縮短候選名單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8915400" y="3895725"/>
            <a:ext cx="457200" cy="1957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0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9334500" y="3895725"/>
            <a:ext cx="3790950" cy="1919288"/>
          </a:xfrm>
          <a:prstGeom prst="rect">
            <a:avLst/>
          </a:prstGeom>
          <a:solidFill>
            <a:srgbClr val="E5DBC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639300" y="4181475"/>
            <a:ext cx="3499485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Softmax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639300" y="4729163"/>
            <a:ext cx="349948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轉換成機率分布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3087350" y="3895725"/>
            <a:ext cx="457200" cy="1957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0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13506450" y="3895725"/>
            <a:ext cx="3790950" cy="1919288"/>
          </a:xfrm>
          <a:prstGeom prst="rect">
            <a:avLst/>
          </a:prstGeom>
          <a:solidFill>
            <a:srgbClr val="C444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13811250" y="4181475"/>
            <a:ext cx="3499485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取樣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3811250" y="4729163"/>
            <a:ext cx="349948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4D9C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選出下一個 Token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FA341A8-66A5-4146-A90E-D4B1A2A59275}"/>
              </a:ext>
            </a:extLst>
          </p:cNvPr>
          <p:cNvSpPr/>
          <p:nvPr/>
        </p:nvSpPr>
        <p:spPr>
          <a:xfrm>
            <a:off x="16052800" y="8216900"/>
            <a:ext cx="2247900" cy="787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r"/>
            <a:r>
              <a:rPr lang="en" altLang="zh-TW" sz="2000" b="1" dirty="0">
                <a:solidFill>
                  <a:srgbClr val="C9472B"/>
                </a:solidFill>
                <a:latin typeface="Microsoft JhengHei"/>
                <a:ea typeface="Microsoft JhengHei"/>
              </a:rPr>
              <a:t>buy me a coffee
</a:t>
            </a:r>
            <a:r>
              <a:rPr lang="zh-TW" altLang="en-US" sz="2000" b="1" dirty="0">
                <a:solidFill>
                  <a:srgbClr val="C947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需開街口支付掃描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1F39E8D7-BDE4-164C-9F1E-1BED58846852}"/>
              </a:ext>
            </a:extLst>
          </p:cNvPr>
          <p:cNvSpPr txBox="1"/>
          <p:nvPr/>
        </p:nvSpPr>
        <p:spPr>
          <a:xfrm>
            <a:off x="16637000" y="94488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>
                <a:solidFill>
                  <a:srgbClr val="8A8175"/>
                </a:solidFill>
                <a:latin typeface="Courier New"/>
                <a:cs typeface="Courier New"/>
              </a:rPr>
              <a:t>32</a:t>
            </a:r>
            <a:endParaRPr lang="zh-TW" altLang="en-US" sz="1600" b="1">
              <a:solidFill>
                <a:srgbClr val="8A8175"/>
              </a:solidFill>
              <a:latin typeface="Courier New"/>
              <a:cs typeface="Courier New"/>
            </a:endParaRPr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76CEF5A2-E5A4-C767-86D7-53BF7AF4F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47200"/>
            <a:ext cx="965200" cy="965200"/>
          </a:xfrm>
          <a:prstGeom prst="rect">
            <a:avLst/>
          </a:prstGeom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03321528-F4C1-23EF-090B-D7287284FC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67200" y="8966200"/>
            <a:ext cx="13208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990600" y="723900"/>
            <a:ext cx="22185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· OUTPUT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647194" y="723900"/>
            <a:ext cx="18152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LIVE DEMO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590675"/>
            <a:ext cx="6278880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現場觀察：Transformer Explainer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4181475"/>
            <a:ext cx="6096000" cy="1390650"/>
          </a:xfrm>
          <a:prstGeom prst="rect">
            <a:avLst/>
          </a:prstGeom>
          <a:solidFill>
            <a:srgbClr val="14151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276350" y="4448175"/>
            <a:ext cx="570738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225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Data visualization empowers users to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90600" y="5876925"/>
            <a:ext cx="6278880" cy="141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GPT-2 Small，約 1.24 </a:t>
            </a:r>
            <a:r>
              <a:rPr lang="en-US" sz="2250" dirty="0" err="1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億參數。這句話被切成六個</a:t>
            </a: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 Token。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90600" y="7562850"/>
            <a:ext cx="670560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8A83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Temperature = 1.0 · Top-k = 5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7696200" y="1971675"/>
            <a:ext cx="9601200" cy="19050"/>
          </a:xfrm>
          <a:prstGeom prst="rect">
            <a:avLst/>
          </a:prstGeom>
          <a:solidFill>
            <a:srgbClr val="14151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7696200" y="1590675"/>
            <a:ext cx="16794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CANDIDATE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770647" y="1590675"/>
            <a:ext cx="16794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ID / PROB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96200" y="2181225"/>
            <a:ext cx="1930316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visualize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4888840" y="2214563"/>
            <a:ext cx="264941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38350 · 47.36%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7696200" y="2652713"/>
            <a:ext cx="9601200" cy="152400"/>
          </a:xfrm>
          <a:prstGeom prst="rect">
            <a:avLst/>
          </a:prstGeom>
          <a:solidFill>
            <a:srgbClr val="C444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7696200" y="2995613"/>
            <a:ext cx="1246063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create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5060885" y="3028950"/>
            <a:ext cx="246016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2251 · 21.92%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7696200" y="3467100"/>
            <a:ext cx="4416549" cy="152400"/>
          </a:xfrm>
          <a:prstGeom prst="rect">
            <a:avLst/>
          </a:prstGeom>
          <a:solidFill>
            <a:srgbClr val="14151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7696200" y="3810000"/>
            <a:ext cx="661169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see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5232931" y="3843338"/>
            <a:ext cx="227091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766 · 14.16%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7696200" y="4281488"/>
            <a:ext cx="2880345" cy="152400"/>
          </a:xfrm>
          <a:prstGeom prst="rect">
            <a:avLst/>
          </a:prstGeom>
          <a:solidFill>
            <a:srgbClr val="14151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7696200" y="4624388"/>
            <a:ext cx="856134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make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15404976" y="4657725"/>
            <a:ext cx="208166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787 · 8.36%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7696200" y="5095875"/>
            <a:ext cx="1728192" cy="152400"/>
          </a:xfrm>
          <a:prstGeom prst="rect">
            <a:avLst/>
          </a:prstGeom>
          <a:solidFill>
            <a:srgbClr val="14151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7696200" y="5438775"/>
            <a:ext cx="1246063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easily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5232931" y="5472113"/>
            <a:ext cx="227091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3838 · 8.20%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7696200" y="5910263"/>
            <a:ext cx="1632198" cy="152400"/>
          </a:xfrm>
          <a:prstGeom prst="rect">
            <a:avLst/>
          </a:prstGeom>
          <a:solidFill>
            <a:srgbClr val="14151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7696200" y="6253163"/>
            <a:ext cx="96012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7696200" y="6434138"/>
            <a:ext cx="9889236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973"/>
              </a:lnSpc>
              <a:buNone/>
            </a:pPr>
            <a:r>
              <a:rPr lang="en-US" sz="19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Token ID 不是模型剛剛算出來的答案，而是詞彙表裡早就存在的編號。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4845C0B-0009-C44A-8117-254BE786FCBA}"/>
              </a:ext>
            </a:extLst>
          </p:cNvPr>
          <p:cNvSpPr/>
          <p:nvPr/>
        </p:nvSpPr>
        <p:spPr>
          <a:xfrm>
            <a:off x="16052800" y="8216900"/>
            <a:ext cx="2247900" cy="787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r"/>
            <a:r>
              <a:rPr lang="en" altLang="zh-TW" sz="2000" b="1" dirty="0">
                <a:solidFill>
                  <a:srgbClr val="C9472B"/>
                </a:solidFill>
                <a:latin typeface="Microsoft JhengHei"/>
                <a:ea typeface="Microsoft JhengHei"/>
              </a:rPr>
              <a:t>buy me a coffee</a:t>
            </a:r>
            <a:r>
              <a:rPr lang="zh-TW" altLang="en-US" sz="2000" b="1" dirty="0">
                <a:solidFill>
                  <a:srgbClr val="C947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需開街口支付掃描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87A212A8-A7DF-7644-A2DA-C53A736EBE62}"/>
              </a:ext>
            </a:extLst>
          </p:cNvPr>
          <p:cNvSpPr txBox="1"/>
          <p:nvPr/>
        </p:nvSpPr>
        <p:spPr>
          <a:xfrm>
            <a:off x="16637000" y="94488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>
                <a:solidFill>
                  <a:srgbClr val="8A8175"/>
                </a:solidFill>
                <a:latin typeface="Courier New"/>
                <a:cs typeface="Courier New"/>
              </a:rPr>
              <a:t>33</a:t>
            </a:r>
            <a:endParaRPr lang="zh-TW" altLang="en-US" sz="1600" b="1">
              <a:solidFill>
                <a:srgbClr val="8A8175"/>
              </a:solidFill>
              <a:latin typeface="Courier New"/>
              <a:cs typeface="Courier New"/>
            </a:endParaRPr>
          </a:p>
        </p:txBody>
      </p:sp>
      <p:pic>
        <p:nvPicPr>
          <p:cNvPr id="38" name="圖片 37">
            <a:extLst>
              <a:ext uri="{FF2B5EF4-FFF2-40B4-BE49-F238E27FC236}">
                <a16:creationId xmlns:a16="http://schemas.microsoft.com/office/drawing/2014/main" id="{425B0925-7876-8BA8-B285-3B9E10E5F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21800"/>
            <a:ext cx="965200" cy="965200"/>
          </a:xfrm>
          <a:prstGeom prst="rect">
            <a:avLst/>
          </a:prstGeom>
        </p:spPr>
      </p:pic>
      <p:pic>
        <p:nvPicPr>
          <p:cNvPr id="39" name="圖片 38">
            <a:extLst>
              <a:ext uri="{FF2B5EF4-FFF2-40B4-BE49-F238E27FC236}">
                <a16:creationId xmlns:a16="http://schemas.microsoft.com/office/drawing/2014/main" id="{A052F063-24CA-2F70-DE0D-7B90BF8DDC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67200" y="8966200"/>
            <a:ext cx="13208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990600" y="723900"/>
            <a:ext cx="22185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· OUTPUT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13906" y="723900"/>
            <a:ext cx="14118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FIG. 05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628775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選出、接回、再預測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2809875"/>
            <a:ext cx="16306800" cy="809625"/>
          </a:xfrm>
          <a:prstGeom prst="rect">
            <a:avLst/>
          </a:prstGeom>
          <a:solidFill>
            <a:srgbClr val="E5DBC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276350" y="3038475"/>
            <a:ext cx="162245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4151A"/>
                </a:solidFill>
                <a:highlight>
                  <a:srgbClr val="E5DBCA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Data visualization empowers users to </a:t>
            </a:r>
            <a:r>
              <a:rPr lang="en-US" sz="2400" dirty="0">
                <a:solidFill>
                  <a:srgbClr val="EFE7DA"/>
                </a:solidFill>
                <a:highlight>
                  <a:srgbClr val="C4442B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visualize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90600" y="3810000"/>
            <a:ext cx="2326853" cy="557213"/>
          </a:xfrm>
          <a:prstGeom prst="rect">
            <a:avLst/>
          </a:prstGeom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1190625" y="3933825"/>
            <a:ext cx="200300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and · 33.09%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3469853" y="3810000"/>
            <a:ext cx="2326853" cy="557213"/>
          </a:xfrm>
          <a:prstGeom prst="rect">
            <a:avLst/>
          </a:prstGeom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3669878" y="3933825"/>
            <a:ext cx="200300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the · 23.08%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5949107" y="3810000"/>
            <a:ext cx="2648024" cy="557213"/>
          </a:xfrm>
          <a:prstGeom prst="rect">
            <a:avLst/>
          </a:prstGeom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149132" y="3933825"/>
            <a:ext cx="232741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their · 18.22%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749531" y="3810000"/>
            <a:ext cx="2487439" cy="557213"/>
          </a:xfrm>
          <a:prstGeom prst="rect">
            <a:avLst/>
          </a:prstGeom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8949556" y="3933825"/>
            <a:ext cx="216358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data · 13.88%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1389370" y="3810000"/>
            <a:ext cx="2005757" cy="557213"/>
          </a:xfrm>
          <a:prstGeom prst="rect">
            <a:avLst/>
          </a:prstGeom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11589395" y="3933825"/>
            <a:ext cx="168190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 · 11.73%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90600" y="4786313"/>
            <a:ext cx="1257300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571"/>
              </a:lnSpc>
              <a:buNone/>
            </a:pPr>
            <a:r>
              <a:rPr lang="en-US" sz="30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你看到的一整段回答，就是這個步驟快速重複很多次。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990600" y="5757863"/>
            <a:ext cx="28575" cy="457200"/>
          </a:xfrm>
          <a:prstGeom prst="rect">
            <a:avLst/>
          </a:prstGeom>
          <a:solidFill>
            <a:srgbClr val="C444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1247775" y="5757863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看起來像一口氣說完，骨子裡仍是一位速度非常快的文字接龍選手。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E6A7D5F-858A-D540-8EB8-C9C74B53DAFB}"/>
              </a:ext>
            </a:extLst>
          </p:cNvPr>
          <p:cNvSpPr/>
          <p:nvPr/>
        </p:nvSpPr>
        <p:spPr>
          <a:xfrm>
            <a:off x="16052800" y="8216900"/>
            <a:ext cx="2247900" cy="787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r"/>
            <a:r>
              <a:rPr lang="en" altLang="zh-TW" sz="2000" b="1" dirty="0">
                <a:solidFill>
                  <a:srgbClr val="C9472B"/>
                </a:solidFill>
                <a:latin typeface="Microsoft JhengHei"/>
                <a:ea typeface="Microsoft JhengHei"/>
              </a:rPr>
              <a:t>buy me a coffee
</a:t>
            </a:r>
            <a:r>
              <a:rPr lang="zh-TW" altLang="en-US" sz="2000" b="1" dirty="0">
                <a:solidFill>
                  <a:srgbClr val="C947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需開街口支付掃描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9DC0DA7B-3D58-0849-8348-B5C15862C94D}"/>
              </a:ext>
            </a:extLst>
          </p:cNvPr>
          <p:cNvSpPr txBox="1"/>
          <p:nvPr/>
        </p:nvSpPr>
        <p:spPr>
          <a:xfrm>
            <a:off x="16637000" y="94488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>
                <a:solidFill>
                  <a:srgbClr val="8A8175"/>
                </a:solidFill>
                <a:latin typeface="Courier New"/>
                <a:cs typeface="Courier New"/>
              </a:rPr>
              <a:t>34</a:t>
            </a:r>
            <a:endParaRPr lang="zh-TW" altLang="en-US" sz="1600" b="1">
              <a:solidFill>
                <a:srgbClr val="8A8175"/>
              </a:solidFill>
              <a:latin typeface="Courier New"/>
              <a:cs typeface="Courier New"/>
            </a:endParaRPr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C82131AF-7CB8-53EE-3FB5-12A3F4EB3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28150"/>
            <a:ext cx="965200" cy="965200"/>
          </a:xfrm>
          <a:prstGeom prst="rect">
            <a:avLst/>
          </a:prstGeom>
        </p:spPr>
      </p:pic>
      <p:pic>
        <p:nvPicPr>
          <p:cNvPr id="30" name="圖片 29">
            <a:extLst>
              <a:ext uri="{FF2B5EF4-FFF2-40B4-BE49-F238E27FC236}">
                <a16:creationId xmlns:a16="http://schemas.microsoft.com/office/drawing/2014/main" id="{B71581DC-C903-5229-895B-EA1A054E44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67200" y="8966200"/>
            <a:ext cx="13208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990600" y="723900"/>
            <a:ext cx="22185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· OUTPUT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80619" y="723900"/>
            <a:ext cx="9929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TOP-K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628775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Top-k 只縮短候選名單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2809875"/>
            <a:ext cx="7886700" cy="2857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90600" y="3086100"/>
            <a:ext cx="867537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kern="0" spc="273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TOP-K = 5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90600" y="3562350"/>
            <a:ext cx="867537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visualize · 47.36%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90600" y="4048125"/>
            <a:ext cx="867537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create · 21.92%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90600" y="4533900"/>
            <a:ext cx="867537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see · 14.16%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90600" y="5019675"/>
            <a:ext cx="867537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make · 8.36%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90600" y="5505450"/>
            <a:ext cx="867537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easily · 8.20%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410700" y="2809875"/>
            <a:ext cx="7886700" cy="28575"/>
          </a:xfrm>
          <a:prstGeom prst="rect">
            <a:avLst/>
          </a:prstGeom>
          <a:solidFill>
            <a:srgbClr val="C444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9410700" y="3086100"/>
            <a:ext cx="867537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TOP-K = 2（重新正規化）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410700" y="3624263"/>
            <a:ext cx="867537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visualize · 68.36%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410700" y="4110038"/>
            <a:ext cx="867537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create · 31.64%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90600" y="6276975"/>
            <a:ext cx="11929872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模型仍然先替整個詞彙表打分數，只是在最後取樣前把候選名單縮短——不是讓它「只認識兩個字」。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0D63186-E74E-8247-B5DC-CE969A077B82}"/>
              </a:ext>
            </a:extLst>
          </p:cNvPr>
          <p:cNvSpPr/>
          <p:nvPr/>
        </p:nvSpPr>
        <p:spPr>
          <a:xfrm>
            <a:off x="16052800" y="8216900"/>
            <a:ext cx="2247900" cy="787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r"/>
            <a:r>
              <a:rPr lang="en" altLang="zh-TW" sz="2000" b="1" dirty="0">
                <a:solidFill>
                  <a:srgbClr val="C9472B"/>
                </a:solidFill>
                <a:latin typeface="Microsoft JhengHei"/>
                <a:ea typeface="Microsoft JhengHei"/>
              </a:rPr>
              <a:t>buy me a coffee
</a:t>
            </a:r>
            <a:r>
              <a:rPr lang="zh-TW" altLang="en-US" sz="2000" b="1" dirty="0">
                <a:solidFill>
                  <a:srgbClr val="C947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需開街口支付掃描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062D1C70-0C9F-E348-B061-87CF2E890FCE}"/>
              </a:ext>
            </a:extLst>
          </p:cNvPr>
          <p:cNvSpPr txBox="1"/>
          <p:nvPr/>
        </p:nvSpPr>
        <p:spPr>
          <a:xfrm>
            <a:off x="16637000" y="94488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>
                <a:solidFill>
                  <a:srgbClr val="8A8175"/>
                </a:solidFill>
                <a:latin typeface="Courier New"/>
                <a:cs typeface="Courier New"/>
              </a:rPr>
              <a:t>35</a:t>
            </a:r>
            <a:endParaRPr lang="zh-TW" altLang="en-US" sz="1600" b="1">
              <a:solidFill>
                <a:srgbClr val="8A8175"/>
              </a:solidFill>
              <a:latin typeface="Courier New"/>
              <a:cs typeface="Courier New"/>
            </a:endParaRPr>
          </a:p>
        </p:txBody>
      </p:sp>
      <p:pic>
        <p:nvPicPr>
          <p:cNvPr id="26" name="圖片 25">
            <a:extLst>
              <a:ext uri="{FF2B5EF4-FFF2-40B4-BE49-F238E27FC236}">
                <a16:creationId xmlns:a16="http://schemas.microsoft.com/office/drawing/2014/main" id="{41E03706-5A1E-140C-4FA8-CED44E272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21800"/>
            <a:ext cx="965200" cy="965200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2EAAFB41-2668-8C56-63EF-DC3D732BF2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67200" y="8966200"/>
            <a:ext cx="13208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990600" y="723900"/>
            <a:ext cx="22185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· OUTPUT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280556" y="723900"/>
            <a:ext cx="22185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TEMPERATURE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628775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Temperature 改變的是機率分布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2809875"/>
            <a:ext cx="7886700" cy="3869978"/>
          </a:xfrm>
          <a:prstGeom prst="rect">
            <a:avLst/>
          </a:prstGeom>
          <a:solidFill>
            <a:srgbClr val="E5DBC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371600" y="3152775"/>
            <a:ext cx="783717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kern="0" spc="273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LOW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71600" y="3648075"/>
            <a:ext cx="7837170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機率集中在高分選項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1371600" y="4367213"/>
            <a:ext cx="1318245" cy="1333500"/>
          </a:xfrm>
          <a:prstGeom prst="rect">
            <a:avLst/>
          </a:prstGeom>
          <a:solidFill>
            <a:srgbClr val="14151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2823195" y="5247382"/>
            <a:ext cx="1318320" cy="453330"/>
          </a:xfrm>
          <a:prstGeom prst="rect">
            <a:avLst/>
          </a:prstGeom>
          <a:solidFill>
            <a:srgbClr val="14151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274865" y="5487367"/>
            <a:ext cx="1318245" cy="213345"/>
          </a:xfrm>
          <a:prstGeom prst="rect">
            <a:avLst/>
          </a:prstGeom>
          <a:solidFill>
            <a:srgbClr val="14151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5726460" y="5594077"/>
            <a:ext cx="1318245" cy="106635"/>
          </a:xfrm>
          <a:prstGeom prst="rect">
            <a:avLst/>
          </a:prstGeom>
          <a:solidFill>
            <a:srgbClr val="14151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7178055" y="5634038"/>
            <a:ext cx="1318245" cy="66675"/>
          </a:xfrm>
          <a:prstGeom prst="rect">
            <a:avLst/>
          </a:prstGeom>
          <a:solidFill>
            <a:srgbClr val="14151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1371600" y="5910263"/>
            <a:ext cx="783717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輸出通常較穩定、可預測。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410700" y="2809875"/>
            <a:ext cx="7886700" cy="3869978"/>
          </a:xfrm>
          <a:prstGeom prst="rect">
            <a:avLst/>
          </a:prstGeom>
          <a:solidFill>
            <a:srgbClr val="E5DBC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791700" y="3152775"/>
            <a:ext cx="783717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kern="0" spc="273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HIGH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791700" y="3648075"/>
            <a:ext cx="7837170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分布較平坦</a:t>
            </a:r>
            <a:endParaRPr lang="en-US" sz="2850" dirty="0"/>
          </a:p>
        </p:txBody>
      </p:sp>
      <p:sp>
        <p:nvSpPr>
          <p:cNvPr id="18" name="Shape 16"/>
          <p:cNvSpPr/>
          <p:nvPr/>
        </p:nvSpPr>
        <p:spPr>
          <a:xfrm>
            <a:off x="9791700" y="4367213"/>
            <a:ext cx="1318245" cy="1333500"/>
          </a:xfrm>
          <a:prstGeom prst="rect">
            <a:avLst/>
          </a:prstGeom>
          <a:solidFill>
            <a:srgbClr val="C444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11243295" y="4607272"/>
            <a:ext cx="1318320" cy="1093440"/>
          </a:xfrm>
          <a:prstGeom prst="rect">
            <a:avLst/>
          </a:prstGeom>
          <a:solidFill>
            <a:srgbClr val="C444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2694965" y="4793977"/>
            <a:ext cx="1318245" cy="906735"/>
          </a:xfrm>
          <a:prstGeom prst="rect">
            <a:avLst/>
          </a:prstGeom>
          <a:solidFill>
            <a:srgbClr val="C444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14146560" y="4927327"/>
            <a:ext cx="1318245" cy="773385"/>
          </a:xfrm>
          <a:prstGeom prst="rect">
            <a:avLst/>
          </a:prstGeom>
          <a:solidFill>
            <a:srgbClr val="C444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15598155" y="5060677"/>
            <a:ext cx="1318245" cy="640035"/>
          </a:xfrm>
          <a:prstGeom prst="rect">
            <a:avLst/>
          </a:prstGeom>
          <a:solidFill>
            <a:srgbClr val="C444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9791700" y="5910263"/>
            <a:ext cx="783717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輸出更有變化，也更容易出現意外。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90600" y="7098953"/>
            <a:ext cx="28575" cy="457200"/>
          </a:xfrm>
          <a:prstGeom prst="rect">
            <a:avLst/>
          </a:prstGeom>
          <a:solidFill>
            <a:srgbClr val="C444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1247775" y="7098953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它不會替模型增加知識，也不是把幻覺關掉的冷氣旋鈕。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02DBBF07-FD86-145B-E636-0C7E35481936}"/>
              </a:ext>
            </a:extLst>
          </p:cNvPr>
          <p:cNvSpPr txBox="1"/>
          <p:nvPr/>
        </p:nvSpPr>
        <p:spPr>
          <a:xfrm>
            <a:off x="990600" y="8222173"/>
            <a:ext cx="51010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36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hlinkClick r:id="rId3"/>
              </a:rPr>
              <a:t>Transformer Explainer</a:t>
            </a:r>
            <a:endParaRPr kumimoji="1" lang="zh-TW" altLang="en-US" sz="3600" b="1" dirty="0">
              <a:solidFill>
                <a:schemeClr val="accent1">
                  <a:lumMod val="7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83190E1-B74C-AD4E-A29F-6A721F881E5A}"/>
              </a:ext>
            </a:extLst>
          </p:cNvPr>
          <p:cNvSpPr/>
          <p:nvPr/>
        </p:nvSpPr>
        <p:spPr>
          <a:xfrm>
            <a:off x="16052800" y="8216900"/>
            <a:ext cx="2247900" cy="787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r"/>
            <a:r>
              <a:rPr lang="en" altLang="zh-TW" sz="2000" b="1" dirty="0">
                <a:solidFill>
                  <a:srgbClr val="C9472B"/>
                </a:solidFill>
                <a:latin typeface="Microsoft JhengHei"/>
                <a:ea typeface="Microsoft JhengHei"/>
              </a:rPr>
              <a:t>buy me a coffee
</a:t>
            </a:r>
            <a:r>
              <a:rPr lang="zh-TW" altLang="en-US" sz="2000" b="1" dirty="0">
                <a:solidFill>
                  <a:srgbClr val="C947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需開街口支付掃描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E45F0EC2-F683-914A-B5E9-1BCA3650B2E7}"/>
              </a:ext>
            </a:extLst>
          </p:cNvPr>
          <p:cNvSpPr txBox="1"/>
          <p:nvPr/>
        </p:nvSpPr>
        <p:spPr>
          <a:xfrm>
            <a:off x="16637000" y="94488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>
                <a:solidFill>
                  <a:srgbClr val="8A8175"/>
                </a:solidFill>
                <a:latin typeface="Courier New"/>
                <a:cs typeface="Courier New"/>
              </a:rPr>
              <a:t>36</a:t>
            </a:r>
            <a:endParaRPr lang="zh-TW" altLang="en-US" sz="1600" b="1">
              <a:solidFill>
                <a:srgbClr val="8A8175"/>
              </a:solidFill>
              <a:latin typeface="Courier New"/>
              <a:cs typeface="Courier New"/>
            </a:endParaRPr>
          </a:p>
        </p:txBody>
      </p:sp>
      <p:pic>
        <p:nvPicPr>
          <p:cNvPr id="35" name="圖片 34">
            <a:extLst>
              <a:ext uri="{FF2B5EF4-FFF2-40B4-BE49-F238E27FC236}">
                <a16:creationId xmlns:a16="http://schemas.microsoft.com/office/drawing/2014/main" id="{B482486B-F52C-F20B-8F96-75F171A12B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21800"/>
            <a:ext cx="965200" cy="965200"/>
          </a:xfrm>
          <a:prstGeom prst="rect">
            <a:avLst/>
          </a:prstGeom>
        </p:spPr>
      </p:pic>
      <p:pic>
        <p:nvPicPr>
          <p:cNvPr id="36" name="圖片 35">
            <a:extLst>
              <a:ext uri="{FF2B5EF4-FFF2-40B4-BE49-F238E27FC236}">
                <a16:creationId xmlns:a16="http://schemas.microsoft.com/office/drawing/2014/main" id="{FFE488EB-240B-0771-A6A4-9A6B791209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67200" y="8966200"/>
            <a:ext cx="13208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830D9F6-BA8E-BD4A-8B20-E81F7F999A0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516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7A01691-E1DD-8048-82E8-CBB727C8F045}"/>
              </a:ext>
            </a:extLst>
          </p:cNvPr>
          <p:cNvSpPr txBox="1"/>
          <p:nvPr/>
        </p:nvSpPr>
        <p:spPr>
          <a:xfrm>
            <a:off x="990600" y="723900"/>
            <a:ext cx="2794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500">
                <a:solidFill>
                  <a:srgbClr val="B8B0A4"/>
                </a:solidFill>
                <a:latin typeface="Courier New"/>
                <a:cs typeface="Courier New"/>
              </a:rPr>
              <a:t>03 · OUTPUT</a:t>
            </a:r>
            <a:endParaRPr lang="zh-TW" altLang="en-US" sz="1500">
              <a:solidFill>
                <a:srgbClr val="B8B0A4"/>
              </a:solidFill>
              <a:latin typeface="Courier New"/>
              <a:cs typeface="Courier New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041D501-87F0-5947-932B-78DBC881D452}"/>
              </a:ext>
            </a:extLst>
          </p:cNvPr>
          <p:cNvSpPr txBox="1"/>
          <p:nvPr/>
        </p:nvSpPr>
        <p:spPr>
          <a:xfrm>
            <a:off x="13716000" y="723900"/>
            <a:ext cx="35814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500">
                <a:solidFill>
                  <a:srgbClr val="FF613C"/>
                </a:solidFill>
                <a:latin typeface="Courier New"/>
                <a:cs typeface="Courier New"/>
              </a:rPr>
              <a:t>TRANSFORMER · TL;DR</a:t>
            </a:r>
            <a:endParaRPr lang="zh-TW" altLang="en-US" sz="1500">
              <a:solidFill>
                <a:srgbClr val="FF613C"/>
              </a:solidFill>
              <a:latin typeface="Courier New"/>
              <a:cs typeface="Courier New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DB5C61-CDA4-9D44-BAB4-CDEB2E769AEC}"/>
              </a:ext>
            </a:extLst>
          </p:cNvPr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3A39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B753020-42CC-DF4B-94EE-8550AA67EBF7}"/>
              </a:ext>
            </a:extLst>
          </p:cNvPr>
          <p:cNvSpPr txBox="1"/>
          <p:nvPr/>
        </p:nvSpPr>
        <p:spPr>
          <a:xfrm>
            <a:off x="990600" y="1422400"/>
            <a:ext cx="16306800" cy="736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3400" b="1">
                <a:solidFill>
                  <a:srgbClr val="F3EBDD"/>
                </a:solidFill>
                <a:latin typeface="Microsoft JhengHei"/>
                <a:ea typeface="Microsoft JhengHei"/>
              </a:rPr>
              <a:t>你看到的是文字，模型處理的其實是一連串數字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55B2E92-BCD6-EA44-817B-7CEBFAD78A3C}"/>
              </a:ext>
            </a:extLst>
          </p:cNvPr>
          <p:cNvSpPr txBox="1"/>
          <p:nvPr/>
        </p:nvSpPr>
        <p:spPr>
          <a:xfrm>
            <a:off x="990600" y="2247900"/>
            <a:ext cx="14986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>
                <a:solidFill>
                  <a:srgbClr val="B8B0A4"/>
                </a:solidFill>
                <a:latin typeface="Microsoft JhengHei"/>
                <a:ea typeface="Microsoft JhengHei"/>
              </a:rPr>
              <a:t>Transformer </a:t>
            </a:r>
            <a:r>
              <a:rPr lang="zh-TW" altLang="en-US">
                <a:solidFill>
                  <a:srgbClr val="B8B0A4"/>
                </a:solidFill>
                <a:latin typeface="Microsoft JhengHei"/>
                <a:ea typeface="Microsoft JhengHei"/>
              </a:rPr>
              <a:t>的核心流程，可以先記成：文字 → 數字 → 數學運算 → 下一個 </a:t>
            </a:r>
            <a:r>
              <a:rPr lang="en" altLang="zh-TW">
                <a:solidFill>
                  <a:srgbClr val="B8B0A4"/>
                </a:solidFill>
                <a:latin typeface="Microsoft JhengHei"/>
                <a:ea typeface="Microsoft JhengHei"/>
              </a:rPr>
              <a:t>Token </a:t>
            </a:r>
            <a:r>
              <a:rPr lang="zh-TW" altLang="en-US">
                <a:solidFill>
                  <a:srgbClr val="B8B0A4"/>
                </a:solidFill>
                <a:latin typeface="Microsoft JhengHei"/>
                <a:ea typeface="Microsoft JhengHei"/>
              </a:rPr>
              <a:t>的機率。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67ECCCB-EB60-7846-9E23-548A471804BE}"/>
              </a:ext>
            </a:extLst>
          </p:cNvPr>
          <p:cNvSpPr/>
          <p:nvPr/>
        </p:nvSpPr>
        <p:spPr>
          <a:xfrm>
            <a:off x="990600" y="3225800"/>
            <a:ext cx="3073400" cy="2514600"/>
          </a:xfrm>
          <a:prstGeom prst="rect">
            <a:avLst/>
          </a:prstGeom>
          <a:solidFill>
            <a:srgbClr val="202126"/>
          </a:solidFill>
          <a:ln w="12700" cap="flat" cmpd="sng" algn="ctr">
            <a:solidFill>
              <a:srgbClr val="3A39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313D019-A7F0-6140-A31E-80699B6043EA}"/>
              </a:ext>
            </a:extLst>
          </p:cNvPr>
          <p:cNvSpPr txBox="1"/>
          <p:nvPr/>
        </p:nvSpPr>
        <p:spPr>
          <a:xfrm>
            <a:off x="1244600" y="3454400"/>
            <a:ext cx="25654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300" b="1">
                <a:solidFill>
                  <a:srgbClr val="FF613C"/>
                </a:solidFill>
                <a:latin typeface="Courier New"/>
                <a:cs typeface="Courier New"/>
              </a:rPr>
              <a:t>01 · TEXT</a:t>
            </a:r>
            <a:endParaRPr lang="zh-TW" altLang="en-US" sz="1300" b="1">
              <a:solidFill>
                <a:srgbClr val="FF613C"/>
              </a:solidFill>
              <a:latin typeface="Courier New"/>
              <a:cs typeface="Courier New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BB19A4C-0094-924B-A364-D4E4F177A245}"/>
              </a:ext>
            </a:extLst>
          </p:cNvPr>
          <p:cNvSpPr txBox="1"/>
          <p:nvPr/>
        </p:nvSpPr>
        <p:spPr>
          <a:xfrm>
            <a:off x="1244600" y="3911600"/>
            <a:ext cx="2565400" cy="787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900" b="1">
                <a:solidFill>
                  <a:srgbClr val="F3EBDD"/>
                </a:solidFill>
                <a:latin typeface="Microsoft JhengHei"/>
                <a:ea typeface="Microsoft JhengHei"/>
              </a:rPr>
              <a:t>我們看到的文字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8B6A979-8476-1644-95C8-A7DB5B84745C}"/>
              </a:ext>
            </a:extLst>
          </p:cNvPr>
          <p:cNvSpPr txBox="1"/>
          <p:nvPr/>
        </p:nvSpPr>
        <p:spPr>
          <a:xfrm>
            <a:off x="1244600" y="4826000"/>
            <a:ext cx="2565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" sz="1400">
                <a:solidFill>
                  <a:srgbClr val="B8B0A4"/>
                </a:solidFill>
                <a:latin typeface="Microsoft JhengHei"/>
                <a:ea typeface="Microsoft JhengHei"/>
              </a:rPr>
              <a:t>「</a:t>
            </a:r>
            <a:r>
              <a:rPr lang="en" altLang="zh-TW" sz="1400">
                <a:solidFill>
                  <a:srgbClr val="B8B0A4"/>
                </a:solidFill>
                <a:latin typeface="Microsoft JhengHei"/>
                <a:ea typeface="Microsoft JhengHei"/>
              </a:rPr>
              <a:t>AI </a:t>
            </a:r>
            <a:r>
              <a:rPr lang="zh-TW" altLang="en-US" sz="1400">
                <a:solidFill>
                  <a:srgbClr val="B8B0A4"/>
                </a:solidFill>
                <a:latin typeface="Microsoft JhengHei"/>
                <a:ea typeface="Microsoft JhengHei"/>
              </a:rPr>
              <a:t>正在回答」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CBB5337-073A-0A40-B29F-8D40FA1B807D}"/>
              </a:ext>
            </a:extLst>
          </p:cNvPr>
          <p:cNvSpPr txBox="1"/>
          <p:nvPr/>
        </p:nvSpPr>
        <p:spPr>
          <a:xfrm>
            <a:off x="4089400" y="4229100"/>
            <a:ext cx="2286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2200" b="1">
                <a:solidFill>
                  <a:srgbClr val="FF613C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0B48BA7-11EC-A04E-A46A-644987C7AA0B}"/>
              </a:ext>
            </a:extLst>
          </p:cNvPr>
          <p:cNvSpPr/>
          <p:nvPr/>
        </p:nvSpPr>
        <p:spPr>
          <a:xfrm>
            <a:off x="4343400" y="3225800"/>
            <a:ext cx="3073400" cy="2514600"/>
          </a:xfrm>
          <a:prstGeom prst="rect">
            <a:avLst/>
          </a:prstGeom>
          <a:solidFill>
            <a:srgbClr val="202126"/>
          </a:solidFill>
          <a:ln w="12700" cap="flat" cmpd="sng" algn="ctr">
            <a:solidFill>
              <a:srgbClr val="3A39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B082AC9-A82E-9E4C-97D8-2BC12857AD00}"/>
              </a:ext>
            </a:extLst>
          </p:cNvPr>
          <p:cNvSpPr txBox="1"/>
          <p:nvPr/>
        </p:nvSpPr>
        <p:spPr>
          <a:xfrm>
            <a:off x="4597400" y="3454400"/>
            <a:ext cx="25654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300" b="1">
                <a:solidFill>
                  <a:srgbClr val="FF613C"/>
                </a:solidFill>
                <a:latin typeface="Courier New"/>
                <a:cs typeface="Courier New"/>
              </a:rPr>
              <a:t>02 · TOKEN IDS</a:t>
            </a:r>
            <a:endParaRPr lang="zh-TW" altLang="en-US" sz="1300" b="1">
              <a:solidFill>
                <a:srgbClr val="FF613C"/>
              </a:solidFill>
              <a:latin typeface="Courier New"/>
              <a:cs typeface="Courier New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C98DF46-2F87-DE4D-BC85-D462431A222B}"/>
              </a:ext>
            </a:extLst>
          </p:cNvPr>
          <p:cNvSpPr txBox="1"/>
          <p:nvPr/>
        </p:nvSpPr>
        <p:spPr>
          <a:xfrm>
            <a:off x="4597400" y="3911600"/>
            <a:ext cx="2565400" cy="787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zh-TW" sz="1900" b="1">
                <a:solidFill>
                  <a:srgbClr val="F3EBDD"/>
                </a:solidFill>
                <a:latin typeface="Courier New"/>
                <a:cs typeface="Courier New"/>
              </a:rPr>
              <a:t>[ 9706, 2082, 451 ]</a:t>
            </a:r>
            <a:endParaRPr lang="zh-TW" altLang="en-US" sz="1900" b="1">
              <a:solidFill>
                <a:srgbClr val="F3EBDD"/>
              </a:solidFill>
              <a:latin typeface="Courier New"/>
              <a:cs typeface="Courier New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0B9B1D4-F51E-0041-8FCD-E3739D2F3115}"/>
              </a:ext>
            </a:extLst>
          </p:cNvPr>
          <p:cNvSpPr txBox="1"/>
          <p:nvPr/>
        </p:nvSpPr>
        <p:spPr>
          <a:xfrm>
            <a:off x="4597400" y="4826000"/>
            <a:ext cx="2565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400">
                <a:solidFill>
                  <a:srgbClr val="B8B0A4"/>
                </a:solidFill>
                <a:latin typeface="Microsoft JhengHei"/>
                <a:ea typeface="Microsoft JhengHei"/>
              </a:rPr>
              <a:t>Tokenizer </a:t>
            </a:r>
            <a:r>
              <a:rPr lang="zh-TW" altLang="en-US" sz="1400">
                <a:solidFill>
                  <a:srgbClr val="B8B0A4"/>
                </a:solidFill>
                <a:latin typeface="Microsoft JhengHei"/>
                <a:ea typeface="Microsoft JhengHei"/>
              </a:rPr>
              <a:t>將文字編碼成數字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336FABD-2D04-574D-B79A-FA6D0B4DD113}"/>
              </a:ext>
            </a:extLst>
          </p:cNvPr>
          <p:cNvSpPr txBox="1"/>
          <p:nvPr/>
        </p:nvSpPr>
        <p:spPr>
          <a:xfrm>
            <a:off x="7442200" y="4229100"/>
            <a:ext cx="2286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2200" b="1">
                <a:solidFill>
                  <a:srgbClr val="FF613C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A14291A-197A-114F-9542-548EDD020121}"/>
              </a:ext>
            </a:extLst>
          </p:cNvPr>
          <p:cNvSpPr/>
          <p:nvPr/>
        </p:nvSpPr>
        <p:spPr>
          <a:xfrm>
            <a:off x="7696200" y="3225800"/>
            <a:ext cx="3073400" cy="2514600"/>
          </a:xfrm>
          <a:prstGeom prst="rect">
            <a:avLst/>
          </a:prstGeom>
          <a:solidFill>
            <a:srgbClr val="2B2422"/>
          </a:solidFill>
          <a:ln w="12700" cap="flat" cmpd="sng" algn="ctr">
            <a:solidFill>
              <a:srgbClr val="3A39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E8B5E18A-7FCF-6145-8DEE-274BEAD7DA40}"/>
              </a:ext>
            </a:extLst>
          </p:cNvPr>
          <p:cNvSpPr txBox="1"/>
          <p:nvPr/>
        </p:nvSpPr>
        <p:spPr>
          <a:xfrm>
            <a:off x="7950200" y="3454400"/>
            <a:ext cx="25654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300" b="1">
                <a:solidFill>
                  <a:srgbClr val="FF613C"/>
                </a:solidFill>
                <a:latin typeface="Courier New"/>
                <a:cs typeface="Courier New"/>
              </a:rPr>
              <a:t>03 · TRANSFORMER</a:t>
            </a:r>
            <a:endParaRPr lang="zh-TW" altLang="en-US" sz="1300" b="1">
              <a:solidFill>
                <a:srgbClr val="FF613C"/>
              </a:solidFill>
              <a:latin typeface="Courier New"/>
              <a:cs typeface="Courier New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7E7C59C1-D0C1-F340-8D11-07C31F44C1B5}"/>
              </a:ext>
            </a:extLst>
          </p:cNvPr>
          <p:cNvSpPr txBox="1"/>
          <p:nvPr/>
        </p:nvSpPr>
        <p:spPr>
          <a:xfrm>
            <a:off x="7950200" y="3911600"/>
            <a:ext cx="2565400" cy="787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900" b="1">
                <a:solidFill>
                  <a:srgbClr val="F3EBDD"/>
                </a:solidFill>
                <a:latin typeface="Microsoft JhengHei"/>
                <a:ea typeface="Microsoft JhengHei"/>
              </a:rPr>
              <a:t>多層數學運算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5CE651EE-246D-4744-B190-D7F57585763D}"/>
              </a:ext>
            </a:extLst>
          </p:cNvPr>
          <p:cNvSpPr txBox="1"/>
          <p:nvPr/>
        </p:nvSpPr>
        <p:spPr>
          <a:xfrm>
            <a:off x="7950200" y="4826000"/>
            <a:ext cx="2565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400">
                <a:solidFill>
                  <a:srgbClr val="B8B0A4"/>
                </a:solidFill>
                <a:latin typeface="Microsoft JhengHei"/>
                <a:ea typeface="Microsoft JhengHei"/>
              </a:rPr>
              <a:t>Attention</a:t>
            </a:r>
            <a:r>
              <a:rPr lang="zh-TW" altLang="en" sz="1400">
                <a:solidFill>
                  <a:srgbClr val="B8B0A4"/>
                </a:solidFill>
                <a:latin typeface="Microsoft JhengHei"/>
                <a:ea typeface="Microsoft JhengHei"/>
              </a:rPr>
              <a:t>、</a:t>
            </a:r>
            <a:r>
              <a:rPr lang="zh-TW" altLang="en-US" sz="1400">
                <a:solidFill>
                  <a:srgbClr val="B8B0A4"/>
                </a:solidFill>
                <a:latin typeface="Microsoft JhengHei"/>
                <a:ea typeface="Microsoft JhengHei"/>
              </a:rPr>
              <a:t>矩陣乘法、非線性運算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00D01AAC-5A45-2549-9DFB-5DD1518C0106}"/>
              </a:ext>
            </a:extLst>
          </p:cNvPr>
          <p:cNvSpPr txBox="1"/>
          <p:nvPr/>
        </p:nvSpPr>
        <p:spPr>
          <a:xfrm>
            <a:off x="10795000" y="4229100"/>
            <a:ext cx="2286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2200" b="1">
                <a:solidFill>
                  <a:srgbClr val="FF613C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DED1C32-36D0-FC43-B414-62C9DACCC470}"/>
              </a:ext>
            </a:extLst>
          </p:cNvPr>
          <p:cNvSpPr/>
          <p:nvPr/>
        </p:nvSpPr>
        <p:spPr>
          <a:xfrm>
            <a:off x="11049000" y="3225800"/>
            <a:ext cx="3073400" cy="2514600"/>
          </a:xfrm>
          <a:prstGeom prst="rect">
            <a:avLst/>
          </a:prstGeom>
          <a:solidFill>
            <a:srgbClr val="202126"/>
          </a:solidFill>
          <a:ln w="12700" cap="flat" cmpd="sng" algn="ctr">
            <a:solidFill>
              <a:srgbClr val="3A39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B640A2C7-0113-4548-B908-0EAC1F27CC09}"/>
              </a:ext>
            </a:extLst>
          </p:cNvPr>
          <p:cNvSpPr txBox="1"/>
          <p:nvPr/>
        </p:nvSpPr>
        <p:spPr>
          <a:xfrm>
            <a:off x="11303000" y="3454400"/>
            <a:ext cx="25654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300" b="1">
                <a:solidFill>
                  <a:srgbClr val="FF613C"/>
                </a:solidFill>
                <a:latin typeface="Courier New"/>
                <a:cs typeface="Courier New"/>
              </a:rPr>
              <a:t>04 · SCORES</a:t>
            </a:r>
            <a:endParaRPr lang="zh-TW" altLang="en-US" sz="1300" b="1">
              <a:solidFill>
                <a:srgbClr val="FF613C"/>
              </a:solidFill>
              <a:latin typeface="Courier New"/>
              <a:cs typeface="Courier New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27D6B0FF-7115-4741-B742-ABBA2AA01C57}"/>
              </a:ext>
            </a:extLst>
          </p:cNvPr>
          <p:cNvSpPr txBox="1"/>
          <p:nvPr/>
        </p:nvSpPr>
        <p:spPr>
          <a:xfrm>
            <a:off x="11303000" y="3911600"/>
            <a:ext cx="2565400" cy="787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900" b="1">
                <a:solidFill>
                  <a:srgbClr val="F3EBDD"/>
                </a:solidFill>
                <a:latin typeface="Microsoft JhengHei"/>
                <a:ea typeface="Microsoft JhengHei"/>
              </a:rPr>
              <a:t>每個候選都有分數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4B40A042-E926-644D-B217-1F4BB7E89DEA}"/>
              </a:ext>
            </a:extLst>
          </p:cNvPr>
          <p:cNvSpPr txBox="1"/>
          <p:nvPr/>
        </p:nvSpPr>
        <p:spPr>
          <a:xfrm>
            <a:off x="11198496" y="5008882"/>
            <a:ext cx="2565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400" dirty="0">
                <a:solidFill>
                  <a:srgbClr val="B8B0A4"/>
                </a:solidFill>
                <a:latin typeface="Microsoft JhengHei"/>
                <a:ea typeface="Microsoft JhengHei"/>
              </a:rPr>
              <a:t>模型輸出 </a:t>
            </a:r>
            <a:r>
              <a:rPr lang="en" altLang="zh-TW" sz="1400" dirty="0">
                <a:solidFill>
                  <a:srgbClr val="B8B0A4"/>
                </a:solidFill>
                <a:latin typeface="Microsoft JhengHei"/>
                <a:ea typeface="Microsoft JhengHei"/>
              </a:rPr>
              <a:t>logits</a:t>
            </a:r>
            <a:r>
              <a:rPr lang="zh-TW" altLang="en" sz="1400" dirty="0">
                <a:solidFill>
                  <a:srgbClr val="B8B0A4"/>
                </a:solidFill>
                <a:latin typeface="Microsoft JhengHei"/>
                <a:ea typeface="Microsoft JhengHei"/>
              </a:rPr>
              <a:t>／</a:t>
            </a:r>
            <a:r>
              <a:rPr lang="zh-TW" altLang="en-US" sz="1400" dirty="0">
                <a:solidFill>
                  <a:srgbClr val="B8B0A4"/>
                </a:solidFill>
                <a:latin typeface="Microsoft JhengHei"/>
                <a:ea typeface="Microsoft JhengHei"/>
              </a:rPr>
              <a:t>機率分布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93D98915-2E94-F645-B247-53D75422A4AF}"/>
              </a:ext>
            </a:extLst>
          </p:cNvPr>
          <p:cNvSpPr txBox="1"/>
          <p:nvPr/>
        </p:nvSpPr>
        <p:spPr>
          <a:xfrm>
            <a:off x="14147800" y="4229100"/>
            <a:ext cx="2286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2200" b="1">
                <a:solidFill>
                  <a:srgbClr val="FF613C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5D7ED21-EC83-3E4B-B15D-1BBD82482A4B}"/>
              </a:ext>
            </a:extLst>
          </p:cNvPr>
          <p:cNvSpPr/>
          <p:nvPr/>
        </p:nvSpPr>
        <p:spPr>
          <a:xfrm>
            <a:off x="14401800" y="3225800"/>
            <a:ext cx="3073400" cy="2514600"/>
          </a:xfrm>
          <a:prstGeom prst="rect">
            <a:avLst/>
          </a:prstGeom>
          <a:solidFill>
            <a:srgbClr val="FF613C"/>
          </a:solidFill>
          <a:ln w="0" cap="flat" cmpd="sng" algn="ctr">
            <a:solidFill>
              <a:srgbClr val="FF613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7827DF84-6EAC-FE41-A288-B6BDE78385C1}"/>
              </a:ext>
            </a:extLst>
          </p:cNvPr>
          <p:cNvSpPr txBox="1"/>
          <p:nvPr/>
        </p:nvSpPr>
        <p:spPr>
          <a:xfrm>
            <a:off x="14655800" y="3454400"/>
            <a:ext cx="25654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300" b="1">
                <a:solidFill>
                  <a:srgbClr val="15161A"/>
                </a:solidFill>
                <a:latin typeface="Courier New"/>
                <a:cs typeface="Courier New"/>
              </a:rPr>
              <a:t>05 · NEXT TOKEN</a:t>
            </a:r>
            <a:endParaRPr lang="zh-TW" altLang="en-US" sz="1300" b="1">
              <a:solidFill>
                <a:srgbClr val="15161A"/>
              </a:solidFill>
              <a:latin typeface="Courier New"/>
              <a:cs typeface="Courier New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20B29239-E3D1-FB46-B68E-550E307A6A3E}"/>
              </a:ext>
            </a:extLst>
          </p:cNvPr>
          <p:cNvSpPr txBox="1"/>
          <p:nvPr/>
        </p:nvSpPr>
        <p:spPr>
          <a:xfrm>
            <a:off x="14655800" y="3911600"/>
            <a:ext cx="2565400" cy="787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2000" b="1">
                <a:solidFill>
                  <a:srgbClr val="15161A"/>
                </a:solidFill>
                <a:latin typeface="Microsoft JhengHei"/>
                <a:ea typeface="Microsoft JhengHei"/>
              </a:rPr>
              <a:t>選出一個，再重複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1DDBB20E-4FB0-7C4D-B60D-BFE1E308CF1F}"/>
              </a:ext>
            </a:extLst>
          </p:cNvPr>
          <p:cNvSpPr txBox="1"/>
          <p:nvPr/>
        </p:nvSpPr>
        <p:spPr>
          <a:xfrm>
            <a:off x="14655800" y="4826000"/>
            <a:ext cx="2565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400">
                <a:solidFill>
                  <a:srgbClr val="171719"/>
                </a:solidFill>
                <a:latin typeface="Microsoft JhengHei"/>
                <a:ea typeface="Microsoft JhengHei"/>
              </a:rPr>
              <a:t>接回前文，逐步長成句子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1F6136F-685A-974F-8A84-DFF1685B7163}"/>
              </a:ext>
            </a:extLst>
          </p:cNvPr>
          <p:cNvSpPr/>
          <p:nvPr/>
        </p:nvSpPr>
        <p:spPr>
          <a:xfrm>
            <a:off x="11303000" y="4711700"/>
            <a:ext cx="1955800" cy="76200"/>
          </a:xfrm>
          <a:prstGeom prst="rect">
            <a:avLst/>
          </a:prstGeom>
          <a:solidFill>
            <a:srgbClr val="FF613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38D1FE9-21EC-C640-9080-66ED47710B22}"/>
              </a:ext>
            </a:extLst>
          </p:cNvPr>
          <p:cNvSpPr/>
          <p:nvPr/>
        </p:nvSpPr>
        <p:spPr>
          <a:xfrm>
            <a:off x="11303000" y="4889500"/>
            <a:ext cx="1168400" cy="76200"/>
          </a:xfrm>
          <a:prstGeom prst="rect">
            <a:avLst/>
          </a:prstGeom>
          <a:solidFill>
            <a:srgbClr val="B8B0A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9320D35-3471-5940-AB2B-488B3DFA3B0D}"/>
              </a:ext>
            </a:extLst>
          </p:cNvPr>
          <p:cNvSpPr/>
          <p:nvPr/>
        </p:nvSpPr>
        <p:spPr>
          <a:xfrm>
            <a:off x="11303000" y="5067300"/>
            <a:ext cx="635000" cy="76200"/>
          </a:xfrm>
          <a:prstGeom prst="rect">
            <a:avLst/>
          </a:prstGeom>
          <a:solidFill>
            <a:srgbClr val="B8B0A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38ED562-2C7C-7F4C-806C-80C6A182A68A}"/>
              </a:ext>
            </a:extLst>
          </p:cNvPr>
          <p:cNvSpPr/>
          <p:nvPr/>
        </p:nvSpPr>
        <p:spPr>
          <a:xfrm>
            <a:off x="990600" y="6096000"/>
            <a:ext cx="16306800" cy="19050"/>
          </a:xfrm>
          <a:prstGeom prst="rect">
            <a:avLst/>
          </a:prstGeom>
          <a:solidFill>
            <a:srgbClr val="3A39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C59EAF0F-EC45-C24E-855B-037BFE32FBF2}"/>
              </a:ext>
            </a:extLst>
          </p:cNvPr>
          <p:cNvSpPr txBox="1"/>
          <p:nvPr/>
        </p:nvSpPr>
        <p:spPr>
          <a:xfrm>
            <a:off x="990600" y="6350000"/>
            <a:ext cx="2286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400" b="1">
                <a:solidFill>
                  <a:srgbClr val="FF613C"/>
                </a:solidFill>
                <a:latin typeface="Courier New"/>
                <a:cs typeface="Courier New"/>
              </a:rPr>
              <a:t>關鍵校正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FE74F3B1-A5FB-6441-9944-DDF2086098CF}"/>
              </a:ext>
            </a:extLst>
          </p:cNvPr>
          <p:cNvSpPr txBox="1"/>
          <p:nvPr/>
        </p:nvSpPr>
        <p:spPr>
          <a:xfrm>
            <a:off x="990600" y="6692900"/>
            <a:ext cx="163068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2000" b="1" dirty="0">
                <a:solidFill>
                  <a:srgbClr val="F3EBDD"/>
                </a:solidFill>
                <a:latin typeface="Microsoft JhengHei"/>
                <a:ea typeface="Microsoft JhengHei"/>
              </a:rPr>
              <a:t>模型不是直接「吐出文字」；每一步先算出下一個 </a:t>
            </a:r>
            <a:r>
              <a:rPr lang="en" altLang="zh-TW" sz="2000" b="1" dirty="0">
                <a:solidFill>
                  <a:srgbClr val="F3EBDD"/>
                </a:solidFill>
                <a:latin typeface="Microsoft JhengHei"/>
                <a:ea typeface="Microsoft JhengHei"/>
              </a:rPr>
              <a:t>Token </a:t>
            </a:r>
            <a:r>
              <a:rPr lang="zh-TW" altLang="en-US" sz="2000" b="1" dirty="0">
                <a:solidFill>
                  <a:srgbClr val="F3EBDD"/>
                </a:solidFill>
                <a:latin typeface="Microsoft JhengHei"/>
                <a:ea typeface="Microsoft JhengHei"/>
              </a:rPr>
              <a:t>的分數，再依解碼規則選出一個。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D64753E-A1E0-634F-9C20-F9C62A294C39}"/>
              </a:ext>
            </a:extLst>
          </p:cNvPr>
          <p:cNvSpPr/>
          <p:nvPr/>
        </p:nvSpPr>
        <p:spPr>
          <a:xfrm>
            <a:off x="990600" y="7366000"/>
            <a:ext cx="9347200" cy="1320800"/>
          </a:xfrm>
          <a:prstGeom prst="rect">
            <a:avLst/>
          </a:prstGeom>
          <a:solidFill>
            <a:srgbClr val="202126"/>
          </a:solidFill>
          <a:ln w="12700" cap="flat" cmpd="sng" algn="ctr">
            <a:solidFill>
              <a:srgbClr val="3A39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03CF7C6F-9CE2-7045-A2CF-3E1DC0270C60}"/>
              </a:ext>
            </a:extLst>
          </p:cNvPr>
          <p:cNvSpPr txBox="1"/>
          <p:nvPr/>
        </p:nvSpPr>
        <p:spPr>
          <a:xfrm>
            <a:off x="1295400" y="7531100"/>
            <a:ext cx="8382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900" b="1">
                <a:solidFill>
                  <a:srgbClr val="F3EBDD"/>
                </a:solidFill>
                <a:latin typeface="Microsoft JhengHei"/>
                <a:ea typeface="Microsoft JhengHei"/>
              </a:rPr>
              <a:t>有隨機性，但不是所有情況都隨機</a:t>
            </a: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C1AEA250-5E0E-A543-9F99-FF5653FC4D6C}"/>
              </a:ext>
            </a:extLst>
          </p:cNvPr>
          <p:cNvSpPr txBox="1"/>
          <p:nvPr/>
        </p:nvSpPr>
        <p:spPr>
          <a:xfrm>
            <a:off x="1295400" y="7950200"/>
            <a:ext cx="8382000" cy="571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400">
                <a:solidFill>
                  <a:srgbClr val="B8B0A4"/>
                </a:solidFill>
                <a:latin typeface="Microsoft JhengHei"/>
                <a:ea typeface="Microsoft JhengHei"/>
              </a:rPr>
              <a:t>使用 </a:t>
            </a:r>
            <a:r>
              <a:rPr lang="en" altLang="zh-TW" sz="1400">
                <a:solidFill>
                  <a:srgbClr val="B8B0A4"/>
                </a:solidFill>
                <a:latin typeface="Microsoft JhengHei"/>
                <a:ea typeface="Microsoft JhengHei"/>
              </a:rPr>
              <a:t>temperature</a:t>
            </a:r>
            <a:r>
              <a:rPr lang="zh-TW" altLang="en" sz="1400">
                <a:solidFill>
                  <a:srgbClr val="B8B0A4"/>
                </a:solidFill>
                <a:latin typeface="Microsoft JhengHei"/>
                <a:ea typeface="Microsoft JhengHei"/>
              </a:rPr>
              <a:t>／</a:t>
            </a:r>
            <a:r>
              <a:rPr lang="en" altLang="zh-TW" sz="1400">
                <a:solidFill>
                  <a:srgbClr val="B8B0A4"/>
                </a:solidFill>
                <a:latin typeface="Microsoft JhengHei"/>
                <a:ea typeface="Microsoft JhengHei"/>
              </a:rPr>
              <a:t>Top-k </a:t>
            </a:r>
            <a:r>
              <a:rPr lang="zh-TW" altLang="en-US" sz="1400">
                <a:solidFill>
                  <a:srgbClr val="B8B0A4"/>
                </a:solidFill>
                <a:latin typeface="Microsoft JhengHei"/>
                <a:ea typeface="Microsoft JhengHei"/>
              </a:rPr>
              <a:t>等採樣時，重跑可能得到不同結果；若使用 </a:t>
            </a:r>
            <a:r>
              <a:rPr lang="en" altLang="zh-TW" sz="1400">
                <a:solidFill>
                  <a:srgbClr val="B8B0A4"/>
                </a:solidFill>
                <a:latin typeface="Microsoft JhengHei"/>
                <a:ea typeface="Microsoft JhengHei"/>
              </a:rPr>
              <a:t>greedy decoding </a:t>
            </a:r>
            <a:r>
              <a:rPr lang="zh-TW" altLang="en-US" sz="1400">
                <a:solidFill>
                  <a:srgbClr val="B8B0A4"/>
                </a:solidFill>
                <a:latin typeface="Microsoft JhengHei"/>
                <a:ea typeface="Microsoft JhengHei"/>
              </a:rPr>
              <a:t>或固定設定，輸出可更穩定、較容易重現。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63EEEFA-7937-3446-9E96-26A6E9C4762A}"/>
              </a:ext>
            </a:extLst>
          </p:cNvPr>
          <p:cNvSpPr/>
          <p:nvPr/>
        </p:nvSpPr>
        <p:spPr>
          <a:xfrm>
            <a:off x="10642600" y="7366000"/>
            <a:ext cx="6654800" cy="1320800"/>
          </a:xfrm>
          <a:prstGeom prst="rect">
            <a:avLst/>
          </a:prstGeom>
          <a:solidFill>
            <a:srgbClr val="F3EB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7B90203-D6B7-CA45-B8A5-0F02EA429979}"/>
              </a:ext>
            </a:extLst>
          </p:cNvPr>
          <p:cNvSpPr txBox="1"/>
          <p:nvPr/>
        </p:nvSpPr>
        <p:spPr>
          <a:xfrm>
            <a:off x="10947400" y="7505700"/>
            <a:ext cx="5715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300" b="1">
                <a:solidFill>
                  <a:srgbClr val="FF613C"/>
                </a:solidFill>
                <a:latin typeface="Courier New"/>
                <a:cs typeface="Courier New"/>
              </a:rPr>
              <a:t>LIVE DEMO · OLLAMA × QWEN</a:t>
            </a:r>
            <a:endParaRPr lang="zh-TW" altLang="en-US" sz="1300" b="1">
              <a:solidFill>
                <a:srgbClr val="FF613C"/>
              </a:solidFill>
              <a:latin typeface="Courier New"/>
              <a:cs typeface="Courier New"/>
            </a:endParaRP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E7060677-A25E-A249-AC11-70C96617E5B8}"/>
              </a:ext>
            </a:extLst>
          </p:cNvPr>
          <p:cNvSpPr txBox="1"/>
          <p:nvPr/>
        </p:nvSpPr>
        <p:spPr>
          <a:xfrm>
            <a:off x="10947400" y="7835900"/>
            <a:ext cx="5715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b="1">
                <a:solidFill>
                  <a:srgbClr val="171719"/>
                </a:solidFill>
                <a:latin typeface="Microsoft JhengHei"/>
                <a:ea typeface="Microsoft JhengHei"/>
              </a:rPr>
              <a:t>看文字一個 </a:t>
            </a:r>
            <a:r>
              <a:rPr lang="en" altLang="zh-TW" b="1">
                <a:solidFill>
                  <a:srgbClr val="171719"/>
                </a:solidFill>
                <a:latin typeface="Microsoft JhengHei"/>
                <a:ea typeface="Microsoft JhengHei"/>
              </a:rPr>
              <a:t>Token </a:t>
            </a:r>
            <a:r>
              <a:rPr lang="zh-TW" altLang="en-US" b="1">
                <a:solidFill>
                  <a:srgbClr val="171719"/>
                </a:solidFill>
                <a:latin typeface="Microsoft JhengHei"/>
                <a:ea typeface="Microsoft JhengHei"/>
              </a:rPr>
              <a:t>一個 </a:t>
            </a:r>
            <a:r>
              <a:rPr lang="en" altLang="zh-TW" b="1">
                <a:solidFill>
                  <a:srgbClr val="171719"/>
                </a:solidFill>
                <a:latin typeface="Microsoft JhengHei"/>
                <a:ea typeface="Microsoft JhengHei"/>
              </a:rPr>
              <a:t>Token </a:t>
            </a:r>
            <a:r>
              <a:rPr lang="zh-TW" altLang="en-US" b="1">
                <a:solidFill>
                  <a:srgbClr val="171719"/>
                </a:solidFill>
                <a:latin typeface="Microsoft JhengHei"/>
                <a:ea typeface="Microsoft JhengHei"/>
              </a:rPr>
              <a:t>長出來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7C054A4B-D20E-0242-B0F8-AFC395CA13EA}"/>
              </a:ext>
            </a:extLst>
          </p:cNvPr>
          <p:cNvSpPr txBox="1"/>
          <p:nvPr/>
        </p:nvSpPr>
        <p:spPr>
          <a:xfrm>
            <a:off x="10947400" y="8229600"/>
            <a:ext cx="5715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300">
                <a:solidFill>
                  <a:srgbClr val="6F665B"/>
                </a:solidFill>
                <a:latin typeface="Microsoft JhengHei"/>
                <a:ea typeface="Microsoft JhengHei"/>
              </a:rPr>
              <a:t>看回應以 </a:t>
            </a:r>
            <a:r>
              <a:rPr lang="en" altLang="zh-TW" sz="1300">
                <a:solidFill>
                  <a:srgbClr val="6F665B"/>
                </a:solidFill>
                <a:latin typeface="Microsoft JhengHei"/>
                <a:ea typeface="Microsoft JhengHei"/>
              </a:rPr>
              <a:t>Token </a:t>
            </a:r>
            <a:r>
              <a:rPr lang="zh-TW" altLang="en-US" sz="1300">
                <a:solidFill>
                  <a:srgbClr val="6F665B"/>
                </a:solidFill>
                <a:latin typeface="Microsoft JhengHei"/>
                <a:ea typeface="Microsoft JhengHei"/>
              </a:rPr>
              <a:t>串流逐步長出來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CCD5E03-42A3-BE45-874A-D05B3A9148F5}"/>
              </a:ext>
            </a:extLst>
          </p:cNvPr>
          <p:cNvSpPr/>
          <p:nvPr/>
        </p:nvSpPr>
        <p:spPr>
          <a:xfrm>
            <a:off x="990600" y="8966200"/>
            <a:ext cx="16306800" cy="25400"/>
          </a:xfrm>
          <a:prstGeom prst="rect">
            <a:avLst/>
          </a:prstGeom>
          <a:solidFill>
            <a:srgbClr val="FF613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B2A1779E-C4F2-5C4A-9174-D54F2FD51696}"/>
              </a:ext>
            </a:extLst>
          </p:cNvPr>
          <p:cNvSpPr txBox="1"/>
          <p:nvPr/>
        </p:nvSpPr>
        <p:spPr>
          <a:xfrm>
            <a:off x="990600" y="9118600"/>
            <a:ext cx="14605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300" b="1">
                <a:solidFill>
                  <a:srgbClr val="FF613C"/>
                </a:solidFill>
                <a:latin typeface="Courier New"/>
                <a:cs typeface="Courier New"/>
              </a:rPr>
              <a:t>DEMO HIT</a:t>
            </a:r>
            <a:endParaRPr lang="zh-TW" altLang="en-US" sz="1300" b="1">
              <a:solidFill>
                <a:srgbClr val="FF613C"/>
              </a:solidFill>
              <a:latin typeface="Courier New"/>
              <a:cs typeface="Courier New"/>
            </a:endParaRP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9985B7F1-3352-B343-ACA4-CC2AEC8C9A01}"/>
              </a:ext>
            </a:extLst>
          </p:cNvPr>
          <p:cNvSpPr txBox="1"/>
          <p:nvPr/>
        </p:nvSpPr>
        <p:spPr>
          <a:xfrm>
            <a:off x="2794000" y="9067800"/>
            <a:ext cx="125095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600">
                <a:solidFill>
                  <a:srgbClr val="F3EBDD"/>
                </a:solidFill>
                <a:latin typeface="Courier New"/>
                <a:cs typeface="Courier New"/>
              </a:rPr>
              <a:t>ollama run &lt;</a:t>
            </a:r>
            <a:r>
              <a:rPr lang="zh-TW" altLang="en-US" sz="1600">
                <a:solidFill>
                  <a:srgbClr val="F3EBDD"/>
                </a:solidFill>
                <a:latin typeface="Courier New"/>
                <a:cs typeface="Courier New"/>
              </a:rPr>
              <a:t>你的 </a:t>
            </a:r>
            <a:r>
              <a:rPr lang="en" altLang="zh-TW" sz="1600">
                <a:solidFill>
                  <a:srgbClr val="F3EBDD"/>
                </a:solidFill>
                <a:latin typeface="Courier New"/>
                <a:cs typeface="Courier New"/>
              </a:rPr>
              <a:t>Qwen </a:t>
            </a:r>
            <a:r>
              <a:rPr lang="zh-TW" altLang="en-US" sz="1600">
                <a:solidFill>
                  <a:srgbClr val="F3EBDD"/>
                </a:solidFill>
                <a:latin typeface="Courier New"/>
                <a:cs typeface="Courier New"/>
              </a:rPr>
              <a:t>模型</a:t>
            </a:r>
            <a:r>
              <a:rPr lang="en-US" altLang="zh-TW" sz="1600">
                <a:solidFill>
                  <a:srgbClr val="F3EBDD"/>
                </a:solidFill>
                <a:latin typeface="Courier New"/>
                <a:cs typeface="Courier New"/>
              </a:rPr>
              <a:t>&gt;</a:t>
            </a:r>
            <a:r>
              <a:rPr lang="zh-TW" altLang="en-US" sz="1600">
                <a:solidFill>
                  <a:srgbClr val="F3EBDD"/>
                </a:solidFill>
                <a:latin typeface="Courier New"/>
                <a:cs typeface="Courier New"/>
              </a:rPr>
              <a:t>　｜　提示：請用 </a:t>
            </a:r>
            <a:r>
              <a:rPr lang="en-US" altLang="zh-TW" sz="1600">
                <a:solidFill>
                  <a:srgbClr val="F3EBDD"/>
                </a:solidFill>
                <a:latin typeface="Courier New"/>
                <a:cs typeface="Courier New"/>
              </a:rPr>
              <a:t>30 </a:t>
            </a:r>
            <a:r>
              <a:rPr lang="zh-TW" altLang="en-US" sz="1600">
                <a:solidFill>
                  <a:srgbClr val="F3EBDD"/>
                </a:solidFill>
                <a:latin typeface="Courier New"/>
                <a:cs typeface="Courier New"/>
              </a:rPr>
              <a:t>字解釋 </a:t>
            </a:r>
            <a:r>
              <a:rPr lang="en" altLang="zh-TW" sz="1600">
                <a:solidFill>
                  <a:srgbClr val="F3EBDD"/>
                </a:solidFill>
                <a:latin typeface="Courier New"/>
                <a:cs typeface="Courier New"/>
              </a:rPr>
              <a:t>Transformer</a:t>
            </a:r>
            <a:r>
              <a:rPr lang="zh-TW" altLang="en" sz="1600">
                <a:solidFill>
                  <a:srgbClr val="F3EBDD"/>
                </a:solidFill>
                <a:latin typeface="Courier New"/>
                <a:cs typeface="Courier New"/>
              </a:rPr>
              <a:t>。</a:t>
            </a:r>
            <a:endParaRPr lang="zh-TW" altLang="en-US" sz="1600">
              <a:solidFill>
                <a:srgbClr val="F3EBDD"/>
              </a:solidFill>
              <a:latin typeface="Courier New"/>
              <a:cs typeface="Courier New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CFB0732-F250-794D-8431-0F588C2EA753}"/>
              </a:ext>
            </a:extLst>
          </p:cNvPr>
          <p:cNvSpPr/>
          <p:nvPr/>
        </p:nvSpPr>
        <p:spPr>
          <a:xfrm>
            <a:off x="990600" y="9753600"/>
            <a:ext cx="16306800" cy="9525"/>
          </a:xfrm>
          <a:prstGeom prst="rect">
            <a:avLst/>
          </a:prstGeom>
          <a:solidFill>
            <a:srgbClr val="3A39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EA4ABDD1-03F7-4B42-AE04-ADD474AB37B2}"/>
              </a:ext>
            </a:extLst>
          </p:cNvPr>
          <p:cNvSpPr txBox="1"/>
          <p:nvPr/>
        </p:nvSpPr>
        <p:spPr>
          <a:xfrm>
            <a:off x="990600" y="9880600"/>
            <a:ext cx="2286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000">
                <a:solidFill>
                  <a:srgbClr val="B8B0A4"/>
                </a:solidFill>
                <a:latin typeface="Courier New"/>
                <a:cs typeface="Courier New"/>
              </a:rPr>
              <a:t>AIMING DATA</a:t>
            </a:r>
            <a:endParaRPr lang="zh-TW" altLang="en-US" sz="1000">
              <a:solidFill>
                <a:srgbClr val="B8B0A4"/>
              </a:solidFill>
              <a:latin typeface="Courier New"/>
              <a:cs typeface="Courier New"/>
            </a:endParaRP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F1D616A8-4583-D02E-EF6F-D1CF06A96498}"/>
              </a:ext>
            </a:extLst>
          </p:cNvPr>
          <p:cNvSpPr txBox="1"/>
          <p:nvPr/>
        </p:nvSpPr>
        <p:spPr>
          <a:xfrm>
            <a:off x="947056" y="2689859"/>
            <a:ext cx="7426960" cy="516891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zh-TW" altLang="en-US" sz="20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以前的模型是</a:t>
            </a:r>
            <a:r>
              <a:rPr lang="zh-TW" altLang="zh-TW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Encoder-Decoder</a:t>
            </a: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，現在大多為</a:t>
            </a:r>
            <a:r>
              <a:rPr lang="en-US" altLang="zh-TW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Decoder only</a:t>
            </a:r>
            <a:endParaRPr lang="zh-TW" altLang="en-US" sz="2000" b="1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96EE6CC-2782-F547-B66E-9B2CA50669CF}"/>
              </a:ext>
            </a:extLst>
          </p:cNvPr>
          <p:cNvSpPr/>
          <p:nvPr/>
        </p:nvSpPr>
        <p:spPr>
          <a:xfrm>
            <a:off x="16052800" y="8216900"/>
            <a:ext cx="2247900" cy="787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r"/>
            <a:r>
              <a:rPr lang="en" altLang="zh-TW" sz="2000" b="1" dirty="0">
                <a:solidFill>
                  <a:srgbClr val="C9472B"/>
                </a:solidFill>
                <a:latin typeface="Microsoft JhengHei"/>
                <a:ea typeface="Microsoft JhengHei"/>
              </a:rPr>
              <a:t>buy me a coffee
</a:t>
            </a:r>
            <a:r>
              <a:rPr lang="zh-TW" altLang="en-US" sz="2000" b="1" dirty="0">
                <a:solidFill>
                  <a:srgbClr val="C947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需開街口支付掃描</a:t>
            </a: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8D658AFB-A332-F945-97C0-D2F80EED98A7}"/>
              </a:ext>
            </a:extLst>
          </p:cNvPr>
          <p:cNvSpPr txBox="1"/>
          <p:nvPr/>
        </p:nvSpPr>
        <p:spPr>
          <a:xfrm>
            <a:off x="16637000" y="94488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>
                <a:solidFill>
                  <a:srgbClr val="8A8175"/>
                </a:solidFill>
                <a:latin typeface="Courier New"/>
                <a:cs typeface="Courier New"/>
              </a:rPr>
              <a:t>37</a:t>
            </a:r>
            <a:endParaRPr lang="zh-TW" altLang="en-US" sz="1600" b="1">
              <a:solidFill>
                <a:srgbClr val="8A8175"/>
              </a:solidFill>
              <a:latin typeface="Courier New"/>
              <a:cs typeface="Courier New"/>
            </a:endParaRPr>
          </a:p>
        </p:txBody>
      </p:sp>
      <p:pic>
        <p:nvPicPr>
          <p:cNvPr id="57" name="圖片 56">
            <a:extLst>
              <a:ext uri="{FF2B5EF4-FFF2-40B4-BE49-F238E27FC236}">
                <a16:creationId xmlns:a16="http://schemas.microsoft.com/office/drawing/2014/main" id="{B487748A-3D93-6087-2265-157E60D00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44" y="9280525"/>
            <a:ext cx="965200" cy="965200"/>
          </a:xfrm>
          <a:prstGeom prst="rect">
            <a:avLst/>
          </a:prstGeom>
        </p:spPr>
      </p:pic>
      <p:pic>
        <p:nvPicPr>
          <p:cNvPr id="58" name="圖片 57">
            <a:extLst>
              <a:ext uri="{FF2B5EF4-FFF2-40B4-BE49-F238E27FC236}">
                <a16:creationId xmlns:a16="http://schemas.microsoft.com/office/drawing/2014/main" id="{E1F21373-21F1-AA37-94AD-2B6F78263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7200" y="8966200"/>
            <a:ext cx="1320800" cy="13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6241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990600" y="723900"/>
            <a:ext cx="22185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· OUTPUT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913843" y="723900"/>
            <a:ext cx="26219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PAUSE &amp; THINK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666875"/>
            <a:ext cx="17434560" cy="830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444"/>
              </a:lnSpc>
              <a:buNone/>
            </a:pPr>
            <a:r>
              <a:rPr lang="en-US" sz="48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一段話讀起來很流暢，是否就代表內容一定正確？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2916510"/>
            <a:ext cx="5181600" cy="28575"/>
          </a:xfrm>
          <a:prstGeom prst="rect">
            <a:avLst/>
          </a:prstGeom>
          <a:solidFill>
            <a:srgbClr val="F25F3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90600" y="3173685"/>
            <a:ext cx="5699760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流暢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90600" y="3949973"/>
            <a:ext cx="569976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872"/>
              </a:lnSpc>
              <a:buNone/>
            </a:pPr>
            <a:r>
              <a:rPr lang="en-US" sz="210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統計上接得下去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553200" y="2916510"/>
            <a:ext cx="5181600" cy="28575"/>
          </a:xfrm>
          <a:prstGeom prst="rect">
            <a:avLst/>
          </a:prstGeom>
          <a:solidFill>
            <a:srgbClr val="F25F3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553200" y="3173685"/>
            <a:ext cx="5699760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合理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553200" y="3949973"/>
            <a:ext cx="569976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872"/>
              </a:lnSpc>
              <a:buNone/>
            </a:pPr>
            <a:r>
              <a:rPr lang="en-US" sz="210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聽起來說得通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2115800" y="2916510"/>
            <a:ext cx="5181600" cy="28575"/>
          </a:xfrm>
          <a:prstGeom prst="rect">
            <a:avLst/>
          </a:prstGeom>
          <a:solidFill>
            <a:srgbClr val="F25F3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12115800" y="3173685"/>
            <a:ext cx="5699760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真實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2115800" y="3949973"/>
            <a:ext cx="569976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872"/>
              </a:lnSpc>
              <a:buNone/>
            </a:pPr>
            <a:r>
              <a:rPr lang="en-US" sz="210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回到可靠資料與來源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90600" y="4833863"/>
            <a:ext cx="11301984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33"/>
              </a:lnSpc>
              <a:buNone/>
            </a:pPr>
            <a:r>
              <a:rPr lang="en-US" sz="240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這是三件不同的事。理解 Transformer 不只是多記一個名詞，而是知道自己正在把什麼工作交給 AI，以及哪些責任仍然不能外包。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989020D-A4AE-8745-BF0F-752C411AAC88}"/>
              </a:ext>
            </a:extLst>
          </p:cNvPr>
          <p:cNvSpPr/>
          <p:nvPr/>
        </p:nvSpPr>
        <p:spPr>
          <a:xfrm>
            <a:off x="16052800" y="8216900"/>
            <a:ext cx="2247900" cy="787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r"/>
            <a:r>
              <a:rPr lang="en" altLang="zh-TW" sz="2000" b="1" dirty="0">
                <a:solidFill>
                  <a:srgbClr val="C9472B"/>
                </a:solidFill>
                <a:latin typeface="Microsoft JhengHei"/>
                <a:ea typeface="Microsoft JhengHei"/>
              </a:rPr>
              <a:t>buy me a coffee
</a:t>
            </a:r>
            <a:r>
              <a:rPr lang="zh-TW" altLang="en-US" sz="2000" b="1" dirty="0">
                <a:solidFill>
                  <a:srgbClr val="C947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需開街口支付掃描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B46C88D5-57CF-3D40-B27E-11D5637FB884}"/>
              </a:ext>
            </a:extLst>
          </p:cNvPr>
          <p:cNvSpPr txBox="1"/>
          <p:nvPr/>
        </p:nvSpPr>
        <p:spPr>
          <a:xfrm>
            <a:off x="16637000" y="94488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>
                <a:solidFill>
                  <a:srgbClr val="8A8175"/>
                </a:solidFill>
                <a:latin typeface="Courier New"/>
                <a:cs typeface="Courier New"/>
              </a:rPr>
              <a:t>38</a:t>
            </a:r>
            <a:endParaRPr lang="zh-TW" altLang="en-US" sz="1600" b="1">
              <a:solidFill>
                <a:srgbClr val="8A8175"/>
              </a:solidFill>
              <a:latin typeface="Courier New"/>
              <a:cs typeface="Courier New"/>
            </a:endParaRPr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A8C3A98A-4DCD-E08D-B459-4BA22D623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21800"/>
            <a:ext cx="965200" cy="965200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F8D052F3-DA42-15F1-4348-1F384CF95E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67200" y="8966200"/>
            <a:ext cx="13208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8F113E99-4C24-2B4B-A6EA-C7D9D445360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516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990600" y="723900"/>
            <a:ext cx="2794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PAUSE &amp; THINK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224000" y="723900"/>
            <a:ext cx="3073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36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HUMAN IN THE LOOP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498600"/>
            <a:ext cx="163068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444"/>
              </a:lnSpc>
              <a:buNone/>
            </a:pPr>
            <a:r>
              <a:rPr lang="en-US" sz="4800" b="1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</a:t>
            </a:r>
            <a:r>
              <a:rPr lang="zh-TW" altLang="en-US" sz="4800" b="1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放大的不只是能力，也包括人的優缺點</a:t>
            </a:r>
            <a:endParaRPr lang="en-US" sz="4800" dirty="0"/>
          </a:p>
        </p:txBody>
      </p:sp>
      <p:sp>
        <p:nvSpPr>
          <p:cNvPr id="16" name="Shape 14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11ACC5B3-DF05-9842-A36A-D7380CB94E0D}"/>
              </a:ext>
            </a:extLst>
          </p:cNvPr>
          <p:cNvSpPr txBox="1"/>
          <p:nvPr/>
        </p:nvSpPr>
        <p:spPr>
          <a:xfrm>
            <a:off x="990600" y="2794000"/>
            <a:ext cx="6350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500" b="1">
                <a:solidFill>
                  <a:srgbClr val="FF613C"/>
                </a:solidFill>
                <a:latin typeface="Courier New"/>
                <a:cs typeface="Courier New"/>
              </a:rPr>
              <a:t>你以為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13B680FD-81C8-1B4A-9CAC-FCF977EC6E62}"/>
              </a:ext>
            </a:extLst>
          </p:cNvPr>
          <p:cNvSpPr txBox="1"/>
          <p:nvPr/>
        </p:nvSpPr>
        <p:spPr>
          <a:xfrm>
            <a:off x="990600" y="3200400"/>
            <a:ext cx="66040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2800" b="1">
                <a:solidFill>
                  <a:srgbClr val="F3EBDD"/>
                </a:solidFill>
                <a:latin typeface="Microsoft JhengHei"/>
                <a:ea typeface="Microsoft JhengHei"/>
              </a:rPr>
              <a:t>你在控制 </a:t>
            </a:r>
            <a:r>
              <a:rPr lang="en" altLang="zh-TW" sz="2800" b="1">
                <a:solidFill>
                  <a:srgbClr val="F3EBDD"/>
                </a:solidFill>
                <a:latin typeface="Microsoft JhengHei"/>
                <a:ea typeface="Microsoft JhengHei"/>
              </a:rPr>
              <a:t>AI </a:t>
            </a:r>
            <a:r>
              <a:rPr lang="zh-TW" altLang="en-US" sz="2800" b="1">
                <a:solidFill>
                  <a:srgbClr val="F3EBDD"/>
                </a:solidFill>
                <a:latin typeface="Microsoft JhengHei"/>
                <a:ea typeface="Microsoft JhengHei"/>
              </a:rPr>
              <a:t>做事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D00715E-B5E9-0047-8CC5-13D6D662DADE}"/>
              </a:ext>
            </a:extLst>
          </p:cNvPr>
          <p:cNvSpPr/>
          <p:nvPr/>
        </p:nvSpPr>
        <p:spPr>
          <a:xfrm>
            <a:off x="990600" y="4013200"/>
            <a:ext cx="6794500" cy="2667000"/>
          </a:xfrm>
          <a:prstGeom prst="rect">
            <a:avLst/>
          </a:prstGeom>
          <a:solidFill>
            <a:srgbClr val="202126"/>
          </a:solidFill>
          <a:ln w="12700" cap="flat" cmpd="sng" algn="ctr">
            <a:solidFill>
              <a:srgbClr val="3A39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20283253-004C-9840-9995-3A7797E40053}"/>
              </a:ext>
            </a:extLst>
          </p:cNvPr>
          <p:cNvSpPr txBox="1"/>
          <p:nvPr/>
        </p:nvSpPr>
        <p:spPr>
          <a:xfrm>
            <a:off x="1346200" y="4318000"/>
            <a:ext cx="6858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zh-TW" b="1">
                <a:solidFill>
                  <a:srgbClr val="FF613C"/>
                </a:solidFill>
                <a:latin typeface="Georgia"/>
              </a:rPr>
              <a:t>01</a:t>
            </a:r>
            <a:endParaRPr lang="zh-TW" altLang="en-US" b="1">
              <a:solidFill>
                <a:srgbClr val="FF613C"/>
              </a:solidFill>
              <a:latin typeface="Georgia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EA36027E-4634-4343-9417-5806B2B35DCC}"/>
              </a:ext>
            </a:extLst>
          </p:cNvPr>
          <p:cNvSpPr txBox="1"/>
          <p:nvPr/>
        </p:nvSpPr>
        <p:spPr>
          <a:xfrm>
            <a:off x="2159000" y="4267200"/>
            <a:ext cx="2286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2000" b="1">
                <a:solidFill>
                  <a:srgbClr val="F3EBDD"/>
                </a:solidFill>
                <a:latin typeface="Microsoft JhengHei"/>
                <a:ea typeface="Microsoft JhengHei"/>
              </a:rPr>
              <a:t>我下指令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DC036ACE-DD16-1740-9170-5C0144478FFA}"/>
              </a:ext>
            </a:extLst>
          </p:cNvPr>
          <p:cNvSpPr txBox="1"/>
          <p:nvPr/>
        </p:nvSpPr>
        <p:spPr>
          <a:xfrm>
            <a:off x="2159000" y="4724400"/>
            <a:ext cx="45085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600">
                <a:solidFill>
                  <a:srgbClr val="B8B0A4"/>
                </a:solidFill>
                <a:latin typeface="Microsoft JhengHei"/>
                <a:ea typeface="Microsoft JhengHei"/>
              </a:rPr>
              <a:t>決定任務、格式與語氣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5D056C0B-88A8-DA4D-B4A2-CC3F80ED9559}"/>
              </a:ext>
            </a:extLst>
          </p:cNvPr>
          <p:cNvSpPr txBox="1"/>
          <p:nvPr/>
        </p:nvSpPr>
        <p:spPr>
          <a:xfrm>
            <a:off x="1346200" y="5308600"/>
            <a:ext cx="6858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zh-TW" b="1">
                <a:solidFill>
                  <a:srgbClr val="FF613C"/>
                </a:solidFill>
                <a:latin typeface="Georgia"/>
              </a:rPr>
              <a:t>02</a:t>
            </a:r>
            <a:endParaRPr lang="zh-TW" altLang="en-US" b="1">
              <a:solidFill>
                <a:srgbClr val="FF613C"/>
              </a:solidFill>
              <a:latin typeface="Georgia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D02FA11A-8E2D-2E4C-962D-326C50563CFF}"/>
              </a:ext>
            </a:extLst>
          </p:cNvPr>
          <p:cNvSpPr txBox="1"/>
          <p:nvPr/>
        </p:nvSpPr>
        <p:spPr>
          <a:xfrm>
            <a:off x="2159000" y="5257800"/>
            <a:ext cx="2286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2000" b="1">
                <a:solidFill>
                  <a:srgbClr val="F3EBDD"/>
                </a:solidFill>
                <a:latin typeface="Microsoft JhengHei"/>
                <a:ea typeface="Microsoft JhengHei"/>
              </a:rPr>
              <a:t>我挑選答案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1DFFE032-7AC7-0849-AC20-B6A8417A6C7D}"/>
              </a:ext>
            </a:extLst>
          </p:cNvPr>
          <p:cNvSpPr txBox="1"/>
          <p:nvPr/>
        </p:nvSpPr>
        <p:spPr>
          <a:xfrm>
            <a:off x="2159000" y="5715000"/>
            <a:ext cx="45085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600">
                <a:solidFill>
                  <a:srgbClr val="B8B0A4"/>
                </a:solidFill>
                <a:latin typeface="Microsoft JhengHei"/>
                <a:ea typeface="Microsoft JhengHei"/>
              </a:rPr>
              <a:t>判斷哪些內容值得採用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F0A3AFEF-7610-B941-8063-D04EB3472238}"/>
              </a:ext>
            </a:extLst>
          </p:cNvPr>
          <p:cNvSpPr txBox="1"/>
          <p:nvPr/>
        </p:nvSpPr>
        <p:spPr>
          <a:xfrm>
            <a:off x="10502900" y="2794000"/>
            <a:ext cx="67945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500" b="1">
                <a:solidFill>
                  <a:srgbClr val="FF613C"/>
                </a:solidFill>
                <a:latin typeface="Courier New"/>
                <a:cs typeface="Courier New"/>
              </a:rPr>
              <a:t>但也可能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231D37CA-36EC-304A-B67B-83C1395D38EA}"/>
              </a:ext>
            </a:extLst>
          </p:cNvPr>
          <p:cNvSpPr txBox="1"/>
          <p:nvPr/>
        </p:nvSpPr>
        <p:spPr>
          <a:xfrm>
            <a:off x="10502900" y="3200400"/>
            <a:ext cx="67945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2800" b="1">
                <a:solidFill>
                  <a:srgbClr val="F3EBDD"/>
                </a:solidFill>
                <a:latin typeface="Microsoft JhengHei"/>
                <a:ea typeface="Microsoft JhengHei"/>
              </a:rPr>
              <a:t>AI </a:t>
            </a:r>
            <a:r>
              <a:rPr lang="zh-TW" altLang="en-US" sz="2800" b="1">
                <a:solidFill>
                  <a:srgbClr val="F3EBDD"/>
                </a:solidFill>
                <a:latin typeface="Microsoft JhengHei"/>
                <a:ea typeface="Microsoft JhengHei"/>
              </a:rPr>
              <a:t>正在向上管理你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33B3F07-BCC7-3B4A-AED0-AA3D8FE1F039}"/>
              </a:ext>
            </a:extLst>
          </p:cNvPr>
          <p:cNvSpPr/>
          <p:nvPr/>
        </p:nvSpPr>
        <p:spPr>
          <a:xfrm>
            <a:off x="10502900" y="4013200"/>
            <a:ext cx="6794500" cy="2667000"/>
          </a:xfrm>
          <a:prstGeom prst="rect">
            <a:avLst/>
          </a:prstGeom>
          <a:solidFill>
            <a:srgbClr val="2A2422"/>
          </a:solidFill>
          <a:ln w="19050" cap="flat" cmpd="sng" algn="ctr">
            <a:solidFill>
              <a:srgbClr val="FF613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5AC96256-E366-134C-A08E-13922024C5EF}"/>
              </a:ext>
            </a:extLst>
          </p:cNvPr>
          <p:cNvSpPr txBox="1"/>
          <p:nvPr/>
        </p:nvSpPr>
        <p:spPr>
          <a:xfrm>
            <a:off x="10858500" y="4318000"/>
            <a:ext cx="6858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zh-TW" b="1">
                <a:solidFill>
                  <a:srgbClr val="FF613C"/>
                </a:solidFill>
                <a:latin typeface="Georgia"/>
              </a:rPr>
              <a:t>01</a:t>
            </a:r>
            <a:endParaRPr lang="zh-TW" altLang="en-US" b="1">
              <a:solidFill>
                <a:srgbClr val="FF613C"/>
              </a:solidFill>
              <a:latin typeface="Georgia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1548210A-0F84-5343-8A85-F9FA079EACF9}"/>
              </a:ext>
            </a:extLst>
          </p:cNvPr>
          <p:cNvSpPr txBox="1"/>
          <p:nvPr/>
        </p:nvSpPr>
        <p:spPr>
          <a:xfrm>
            <a:off x="11671300" y="4267200"/>
            <a:ext cx="2413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2000" b="1">
                <a:solidFill>
                  <a:srgbClr val="F3EBDD"/>
                </a:solidFill>
                <a:latin typeface="Microsoft JhengHei"/>
                <a:ea typeface="Microsoft JhengHei"/>
              </a:rPr>
              <a:t>它框定問題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29D02F28-FE0D-C144-984A-C3DD63377191}"/>
              </a:ext>
            </a:extLst>
          </p:cNvPr>
          <p:cNvSpPr txBox="1"/>
          <p:nvPr/>
        </p:nvSpPr>
        <p:spPr>
          <a:xfrm>
            <a:off x="11671300" y="4724400"/>
            <a:ext cx="4699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600">
                <a:solidFill>
                  <a:srgbClr val="B8B0A4"/>
                </a:solidFill>
                <a:latin typeface="Microsoft JhengHei"/>
                <a:ea typeface="Microsoft JhengHei"/>
              </a:rPr>
              <a:t>讓你沿著它提供的方向思考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21AE9C34-5831-B147-BC7F-AA8F15DA1460}"/>
              </a:ext>
            </a:extLst>
          </p:cNvPr>
          <p:cNvSpPr txBox="1"/>
          <p:nvPr/>
        </p:nvSpPr>
        <p:spPr>
          <a:xfrm>
            <a:off x="10858500" y="5308600"/>
            <a:ext cx="6858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zh-TW" b="1">
                <a:solidFill>
                  <a:srgbClr val="FF613C"/>
                </a:solidFill>
                <a:latin typeface="Georgia"/>
              </a:rPr>
              <a:t>02</a:t>
            </a:r>
            <a:endParaRPr lang="zh-TW" altLang="en-US" b="1">
              <a:solidFill>
                <a:srgbClr val="FF613C"/>
              </a:solidFill>
              <a:latin typeface="Georgia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9A33DEFE-5C3D-DC4E-ADE8-5C29A6CF3783}"/>
              </a:ext>
            </a:extLst>
          </p:cNvPr>
          <p:cNvSpPr txBox="1"/>
          <p:nvPr/>
        </p:nvSpPr>
        <p:spPr>
          <a:xfrm>
            <a:off x="11671300" y="5257800"/>
            <a:ext cx="2413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2000" b="1">
                <a:solidFill>
                  <a:srgbClr val="F3EBDD"/>
                </a:solidFill>
                <a:latin typeface="Microsoft JhengHei"/>
                <a:ea typeface="Microsoft JhengHei"/>
              </a:rPr>
              <a:t>它調整感受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DD1B2E5F-D02F-DB43-B748-4FE7A8390151}"/>
              </a:ext>
            </a:extLst>
          </p:cNvPr>
          <p:cNvSpPr txBox="1"/>
          <p:nvPr/>
        </p:nvSpPr>
        <p:spPr>
          <a:xfrm>
            <a:off x="11671300" y="5715000"/>
            <a:ext cx="4699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600">
                <a:solidFill>
                  <a:srgbClr val="B8B0A4"/>
                </a:solidFill>
                <a:latin typeface="Microsoft JhengHei"/>
                <a:ea typeface="Microsoft JhengHei"/>
              </a:rPr>
              <a:t>流暢與肯定，會降低你的戒心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7EC186C-A1CC-5849-903C-5A6001ABEB87}"/>
              </a:ext>
            </a:extLst>
          </p:cNvPr>
          <p:cNvSpPr/>
          <p:nvPr/>
        </p:nvSpPr>
        <p:spPr>
          <a:xfrm>
            <a:off x="8064500" y="3683000"/>
            <a:ext cx="2133600" cy="3327400"/>
          </a:xfrm>
          <a:prstGeom prst="rect">
            <a:avLst/>
          </a:prstGeom>
          <a:solidFill>
            <a:srgbClr val="FF613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989A5D47-A215-CD4F-9224-56ADD9522210}"/>
              </a:ext>
            </a:extLst>
          </p:cNvPr>
          <p:cNvSpPr txBox="1"/>
          <p:nvPr/>
        </p:nvSpPr>
        <p:spPr>
          <a:xfrm>
            <a:off x="8318500" y="4114800"/>
            <a:ext cx="1625600" cy="711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3200" b="1">
                <a:solidFill>
                  <a:srgbClr val="15161A"/>
                </a:solidFill>
                <a:latin typeface="Microsoft JhengHei"/>
                <a:ea typeface="Microsoft JhengHei"/>
              </a:rPr>
              <a:t>語言</a:t>
            </a: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FE393805-31BA-F74B-B76A-FB251FED4601}"/>
              </a:ext>
            </a:extLst>
          </p:cNvPr>
          <p:cNvSpPr txBox="1"/>
          <p:nvPr/>
        </p:nvSpPr>
        <p:spPr>
          <a:xfrm>
            <a:off x="8318500" y="4838700"/>
            <a:ext cx="16256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300" b="1">
                <a:solidFill>
                  <a:srgbClr val="15161A"/>
                </a:solidFill>
                <a:latin typeface="Courier New"/>
                <a:cs typeface="Courier New"/>
              </a:rPr>
              <a:t>LANGUAGE</a:t>
            </a:r>
            <a:endParaRPr lang="zh-TW" altLang="en-US" sz="1300" b="1">
              <a:solidFill>
                <a:srgbClr val="15161A"/>
              </a:solidFill>
              <a:latin typeface="Courier New"/>
              <a:cs typeface="Courier New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37050A05-E00E-5E47-9216-0F3ED26050ED}"/>
              </a:ext>
            </a:extLst>
          </p:cNvPr>
          <p:cNvSpPr txBox="1"/>
          <p:nvPr/>
        </p:nvSpPr>
        <p:spPr>
          <a:xfrm>
            <a:off x="8318500" y="5334000"/>
            <a:ext cx="16256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700" b="1">
                <a:solidFill>
                  <a:srgbClr val="15161A"/>
                </a:solidFill>
                <a:latin typeface="Microsoft JhengHei"/>
                <a:ea typeface="Microsoft JhengHei"/>
              </a:rPr>
              <a:t>你用它
影響 </a:t>
            </a:r>
            <a:r>
              <a:rPr lang="en" altLang="zh-TW" sz="1700" b="1">
                <a:solidFill>
                  <a:srgbClr val="15161A"/>
                </a:solidFill>
                <a:latin typeface="Microsoft JhengHei"/>
                <a:ea typeface="Microsoft JhengHei"/>
              </a:rPr>
              <a:t>AI</a:t>
            </a:r>
            <a:endParaRPr lang="zh-TW" altLang="en-US" sz="1700" b="1">
              <a:solidFill>
                <a:srgbClr val="15161A"/>
              </a:solidFill>
              <a:latin typeface="Microsoft JhengHei"/>
              <a:ea typeface="Microsoft JhengHei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1EA37722-5399-7744-B0AB-1A8208D0F728}"/>
              </a:ext>
            </a:extLst>
          </p:cNvPr>
          <p:cNvSpPr txBox="1"/>
          <p:nvPr/>
        </p:nvSpPr>
        <p:spPr>
          <a:xfrm>
            <a:off x="8610600" y="6032500"/>
            <a:ext cx="10414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300" b="1">
                <a:solidFill>
                  <a:srgbClr val="15161A"/>
                </a:solidFill>
                <a:latin typeface="Microsoft JhengHei"/>
                <a:ea typeface="Microsoft JhengHei"/>
                <a:cs typeface="Arial"/>
              </a:rPr>
              <a:t>雙向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4EC0C806-90A4-3D4B-B8BA-2538FC1D43F5}"/>
              </a:ext>
            </a:extLst>
          </p:cNvPr>
          <p:cNvSpPr txBox="1"/>
          <p:nvPr/>
        </p:nvSpPr>
        <p:spPr>
          <a:xfrm>
            <a:off x="8318500" y="6477000"/>
            <a:ext cx="16256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1300" b="1">
                <a:solidFill>
                  <a:srgbClr val="15161A"/>
                </a:solidFill>
                <a:latin typeface="Microsoft JhengHei"/>
                <a:ea typeface="Microsoft JhengHei"/>
              </a:rPr>
              <a:t>AI </a:t>
            </a:r>
            <a:r>
              <a:rPr lang="zh-TW" altLang="en-US" sz="1300" b="1">
                <a:solidFill>
                  <a:srgbClr val="15161A"/>
                </a:solidFill>
                <a:latin typeface="Microsoft JhengHei"/>
                <a:ea typeface="Microsoft JhengHei"/>
              </a:rPr>
              <a:t>也用它影響你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964D37D-84BF-2E4B-AE93-0FA555430981}"/>
              </a:ext>
            </a:extLst>
          </p:cNvPr>
          <p:cNvSpPr/>
          <p:nvPr/>
        </p:nvSpPr>
        <p:spPr>
          <a:xfrm>
            <a:off x="990600" y="7188200"/>
            <a:ext cx="16306800" cy="25400"/>
          </a:xfrm>
          <a:prstGeom prst="rect">
            <a:avLst/>
          </a:prstGeom>
          <a:solidFill>
            <a:srgbClr val="FF613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02622413-6C6E-FC46-BC2D-48A34770B574}"/>
              </a:ext>
            </a:extLst>
          </p:cNvPr>
          <p:cNvSpPr txBox="1"/>
          <p:nvPr/>
        </p:nvSpPr>
        <p:spPr>
          <a:xfrm>
            <a:off x="990600" y="7493000"/>
            <a:ext cx="3810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2400" b="1">
                <a:solidFill>
                  <a:srgbClr val="F3EBDD"/>
                </a:solidFill>
                <a:latin typeface="Microsoft JhengHei"/>
                <a:ea typeface="Microsoft JhengHei"/>
              </a:rPr>
              <a:t>AI </a:t>
            </a:r>
            <a:r>
              <a:rPr lang="zh-TW" altLang="en-US" sz="2400" b="1">
                <a:solidFill>
                  <a:srgbClr val="F3EBDD"/>
                </a:solidFill>
                <a:latin typeface="Microsoft JhengHei"/>
                <a:ea typeface="Microsoft JhengHei"/>
              </a:rPr>
              <a:t>是放大器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A0D3879-6868-3A42-A2EA-0D553657156E}"/>
              </a:ext>
            </a:extLst>
          </p:cNvPr>
          <p:cNvSpPr/>
          <p:nvPr/>
        </p:nvSpPr>
        <p:spPr>
          <a:xfrm>
            <a:off x="4953000" y="7467600"/>
            <a:ext cx="2336800" cy="609600"/>
          </a:xfrm>
          <a:prstGeom prst="rect">
            <a:avLst/>
          </a:prstGeom>
          <a:solidFill>
            <a:srgbClr val="202126"/>
          </a:solidFill>
          <a:ln w="12700" cap="flat" cmpd="sng" algn="ctr">
            <a:solidFill>
              <a:srgbClr val="3A39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F156B546-012C-EA4D-8066-AD532DC9BB1A}"/>
              </a:ext>
            </a:extLst>
          </p:cNvPr>
          <p:cNvSpPr txBox="1"/>
          <p:nvPr/>
        </p:nvSpPr>
        <p:spPr>
          <a:xfrm>
            <a:off x="5105400" y="7569200"/>
            <a:ext cx="2032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700" b="1">
                <a:solidFill>
                  <a:srgbClr val="F3EBDD"/>
                </a:solidFill>
                <a:latin typeface="Microsoft JhengHei"/>
                <a:ea typeface="Microsoft JhengHei"/>
              </a:rPr>
              <a:t>能力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3531883-542B-5845-9151-EB1752EF46BE}"/>
              </a:ext>
            </a:extLst>
          </p:cNvPr>
          <p:cNvSpPr/>
          <p:nvPr/>
        </p:nvSpPr>
        <p:spPr>
          <a:xfrm>
            <a:off x="7747000" y="7467600"/>
            <a:ext cx="2336800" cy="609600"/>
          </a:xfrm>
          <a:prstGeom prst="rect">
            <a:avLst/>
          </a:prstGeom>
          <a:solidFill>
            <a:srgbClr val="202126"/>
          </a:solidFill>
          <a:ln w="12700" cap="flat" cmpd="sng" algn="ctr">
            <a:solidFill>
              <a:srgbClr val="3A39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7474C145-B23F-CC44-B9D8-A5670AAAEF31}"/>
              </a:ext>
            </a:extLst>
          </p:cNvPr>
          <p:cNvSpPr txBox="1"/>
          <p:nvPr/>
        </p:nvSpPr>
        <p:spPr>
          <a:xfrm>
            <a:off x="7899400" y="7569200"/>
            <a:ext cx="2032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700" b="1">
                <a:solidFill>
                  <a:srgbClr val="FF613C"/>
                </a:solidFill>
                <a:latin typeface="Microsoft JhengHei"/>
                <a:ea typeface="Microsoft JhengHei"/>
              </a:rPr>
              <a:t>偏見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DF1960C-DE21-FD4D-B5F5-11D8AF9485FE}"/>
              </a:ext>
            </a:extLst>
          </p:cNvPr>
          <p:cNvSpPr/>
          <p:nvPr/>
        </p:nvSpPr>
        <p:spPr>
          <a:xfrm>
            <a:off x="10541000" y="7467600"/>
            <a:ext cx="2336800" cy="609600"/>
          </a:xfrm>
          <a:prstGeom prst="rect">
            <a:avLst/>
          </a:prstGeom>
          <a:solidFill>
            <a:srgbClr val="202126"/>
          </a:solidFill>
          <a:ln w="12700" cap="flat" cmpd="sng" algn="ctr">
            <a:solidFill>
              <a:srgbClr val="3A39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11576DC9-1FA7-8C40-978B-28B4E702C2AD}"/>
              </a:ext>
            </a:extLst>
          </p:cNvPr>
          <p:cNvSpPr txBox="1"/>
          <p:nvPr/>
        </p:nvSpPr>
        <p:spPr>
          <a:xfrm>
            <a:off x="10693400" y="7569200"/>
            <a:ext cx="2032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700" b="1">
                <a:solidFill>
                  <a:srgbClr val="FF613C"/>
                </a:solidFill>
                <a:latin typeface="Microsoft JhengHei"/>
                <a:ea typeface="Microsoft JhengHei"/>
              </a:rPr>
              <a:t>盲點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1BECD2E0-8FFC-E44E-9B72-335C8D061FE7}"/>
              </a:ext>
            </a:extLst>
          </p:cNvPr>
          <p:cNvSpPr/>
          <p:nvPr/>
        </p:nvSpPr>
        <p:spPr>
          <a:xfrm>
            <a:off x="13335000" y="7467600"/>
            <a:ext cx="2336800" cy="609600"/>
          </a:xfrm>
          <a:prstGeom prst="rect">
            <a:avLst/>
          </a:prstGeom>
          <a:solidFill>
            <a:srgbClr val="202126"/>
          </a:solidFill>
          <a:ln w="12700" cap="flat" cmpd="sng" algn="ctr">
            <a:solidFill>
              <a:srgbClr val="3A39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6361185A-807B-CD46-9023-6470A1D4F60B}"/>
              </a:ext>
            </a:extLst>
          </p:cNvPr>
          <p:cNvSpPr txBox="1"/>
          <p:nvPr/>
        </p:nvSpPr>
        <p:spPr>
          <a:xfrm>
            <a:off x="13487400" y="7569200"/>
            <a:ext cx="2032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700" b="1">
                <a:solidFill>
                  <a:srgbClr val="FF613C"/>
                </a:solidFill>
                <a:latin typeface="Microsoft JhengHei"/>
                <a:ea typeface="Microsoft JhengHei"/>
              </a:rPr>
              <a:t>表達方式</a:t>
            </a: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1D9BE3DD-204C-ED4B-AA98-E5AC7564A2BB}"/>
              </a:ext>
            </a:extLst>
          </p:cNvPr>
          <p:cNvSpPr txBox="1"/>
          <p:nvPr/>
        </p:nvSpPr>
        <p:spPr>
          <a:xfrm>
            <a:off x="990600" y="8331200"/>
            <a:ext cx="163068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2200" b="1">
                <a:solidFill>
                  <a:srgbClr val="B8B0A4"/>
                </a:solidFill>
                <a:latin typeface="Microsoft JhengHei"/>
                <a:ea typeface="Microsoft JhengHei"/>
              </a:rPr>
              <a:t>工具越強，使用者的判斷與自我認識就越重要。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A3695DD-6FEE-9341-9218-3453689CBAA1}"/>
              </a:ext>
            </a:extLst>
          </p:cNvPr>
          <p:cNvSpPr/>
          <p:nvPr/>
        </p:nvSpPr>
        <p:spPr>
          <a:xfrm>
            <a:off x="16052800" y="8216900"/>
            <a:ext cx="2247900" cy="787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r"/>
            <a:r>
              <a:rPr lang="en" altLang="zh-TW" sz="2000" b="1" dirty="0">
                <a:solidFill>
                  <a:srgbClr val="C9472B"/>
                </a:solidFill>
                <a:latin typeface="Microsoft JhengHei"/>
                <a:ea typeface="Microsoft JhengHei"/>
              </a:rPr>
              <a:t>buy me a coffee
</a:t>
            </a:r>
            <a:r>
              <a:rPr lang="zh-TW" altLang="en-US" sz="2000" b="1" dirty="0">
                <a:solidFill>
                  <a:srgbClr val="C947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需開街口支付掃描</a:t>
            </a: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F8C8BF3B-0DD0-D84B-BF59-A03160FEC64F}"/>
              </a:ext>
            </a:extLst>
          </p:cNvPr>
          <p:cNvSpPr txBox="1"/>
          <p:nvPr/>
        </p:nvSpPr>
        <p:spPr>
          <a:xfrm>
            <a:off x="16637000" y="94488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 dirty="0">
                <a:solidFill>
                  <a:srgbClr val="8A8175"/>
                </a:solidFill>
                <a:latin typeface="Courier New"/>
                <a:cs typeface="Courier New"/>
              </a:rPr>
              <a:t>39</a:t>
            </a:r>
            <a:endParaRPr lang="zh-TW" altLang="en-US" sz="1600" b="1" dirty="0">
              <a:solidFill>
                <a:srgbClr val="8A8175"/>
              </a:solidFill>
              <a:latin typeface="Courier New"/>
              <a:cs typeface="Courier New"/>
            </a:endParaRPr>
          </a:p>
        </p:txBody>
      </p:sp>
      <p:pic>
        <p:nvPicPr>
          <p:cNvPr id="60" name="圖片 59">
            <a:extLst>
              <a:ext uri="{FF2B5EF4-FFF2-40B4-BE49-F238E27FC236}">
                <a16:creationId xmlns:a16="http://schemas.microsoft.com/office/drawing/2014/main" id="{7E0C1805-B286-2E6A-89E8-FF75543FC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" y="9321800"/>
            <a:ext cx="965200" cy="965200"/>
          </a:xfrm>
          <a:prstGeom prst="rect">
            <a:avLst/>
          </a:prstGeom>
        </p:spPr>
      </p:pic>
      <p:pic>
        <p:nvPicPr>
          <p:cNvPr id="61" name="圖片 60">
            <a:extLst>
              <a:ext uri="{FF2B5EF4-FFF2-40B4-BE49-F238E27FC236}">
                <a16:creationId xmlns:a16="http://schemas.microsoft.com/office/drawing/2014/main" id="{62E51A07-3FF3-B3F7-3309-D2C2E33855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67200" y="8966200"/>
            <a:ext cx="1320800" cy="13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6415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84EA6450-1C85-1345-8223-A7AD7C24F08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516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990600" y="723900"/>
            <a:ext cx="2794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PAUSE &amp; THINK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224000" y="723900"/>
            <a:ext cx="3073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LANGUAGE &amp; CARE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498600"/>
            <a:ext cx="163068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444"/>
              </a:lnSpc>
              <a:buNone/>
            </a:pPr>
            <a:r>
              <a:rPr lang="zh-TW" altLang="en-US" sz="4800" b="1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讓你舒服，不一定是在幫你</a:t>
            </a:r>
            <a:endParaRPr lang="en-US" sz="4800" dirty="0"/>
          </a:p>
        </p:txBody>
      </p:sp>
      <p:sp>
        <p:nvSpPr>
          <p:cNvPr id="16" name="Shape 14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C943C33-C00D-AB4D-98E8-6F295ECB4CC1}"/>
              </a:ext>
            </a:extLst>
          </p:cNvPr>
          <p:cNvSpPr txBox="1"/>
          <p:nvPr/>
        </p:nvSpPr>
        <p:spPr>
          <a:xfrm>
            <a:off x="990600" y="2565400"/>
            <a:ext cx="163068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>
                <a:solidFill>
                  <a:srgbClr val="B8B0A4"/>
                </a:solidFill>
                <a:latin typeface="Microsoft JhengHei"/>
                <a:ea typeface="Microsoft JhengHei"/>
              </a:rPr>
              <a:t>同樣一句招呼，背後可能是完全不同的意圖。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AF261D8-3D05-5A4F-9A10-8B31D8753418}"/>
              </a:ext>
            </a:extLst>
          </p:cNvPr>
          <p:cNvSpPr/>
          <p:nvPr/>
        </p:nvSpPr>
        <p:spPr>
          <a:xfrm>
            <a:off x="990600" y="3327400"/>
            <a:ext cx="7620000" cy="3429000"/>
          </a:xfrm>
          <a:prstGeom prst="rect">
            <a:avLst/>
          </a:prstGeom>
          <a:solidFill>
            <a:srgbClr val="202126"/>
          </a:solidFill>
          <a:ln w="12700" cap="flat" cmpd="sng" algn="ctr">
            <a:solidFill>
              <a:srgbClr val="3A39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5E44909E-BAE1-824D-9F3A-D781EE5297FB}"/>
              </a:ext>
            </a:extLst>
          </p:cNvPr>
          <p:cNvSpPr txBox="1"/>
          <p:nvPr/>
        </p:nvSpPr>
        <p:spPr>
          <a:xfrm>
            <a:off x="1371600" y="3606800"/>
            <a:ext cx="3302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500" b="1">
                <a:solidFill>
                  <a:srgbClr val="FF613C"/>
                </a:solidFill>
                <a:latin typeface="Courier New"/>
                <a:cs typeface="Courier New"/>
              </a:rPr>
              <a:t>巷口早餐店 </a:t>
            </a:r>
            <a:r>
              <a:rPr lang="en" altLang="zh-TW" sz="1500" b="1">
                <a:solidFill>
                  <a:srgbClr val="FF613C"/>
                </a:solidFill>
                <a:latin typeface="Courier New"/>
                <a:cs typeface="Courier New"/>
              </a:rPr>
              <a:t>A</a:t>
            </a:r>
            <a:endParaRPr lang="zh-TW" altLang="en-US" sz="1500" b="1">
              <a:solidFill>
                <a:srgbClr val="FF613C"/>
              </a:solidFill>
              <a:latin typeface="Courier New"/>
              <a:cs typeface="Courier New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84DB968-6F43-6447-9BEB-D70EAEECA6F5}"/>
              </a:ext>
            </a:extLst>
          </p:cNvPr>
          <p:cNvSpPr txBox="1"/>
          <p:nvPr/>
        </p:nvSpPr>
        <p:spPr>
          <a:xfrm>
            <a:off x="1371600" y="4089400"/>
            <a:ext cx="6477000" cy="1193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3000" b="1">
                <a:solidFill>
                  <a:srgbClr val="F3EBDD"/>
                </a:solidFill>
                <a:latin typeface="Microsoft JhengHei"/>
                <a:ea typeface="Microsoft JhengHei"/>
              </a:rPr>
              <a:t>「帥哥、很久不見，
你怎麼又瘦了！」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D032673-1ACE-114D-B6A8-1BEF98D67B7E}"/>
              </a:ext>
            </a:extLst>
          </p:cNvPr>
          <p:cNvSpPr/>
          <p:nvPr/>
        </p:nvSpPr>
        <p:spPr>
          <a:xfrm>
            <a:off x="1371600" y="5562600"/>
            <a:ext cx="6477000" cy="19050"/>
          </a:xfrm>
          <a:prstGeom prst="rect">
            <a:avLst/>
          </a:prstGeom>
          <a:solidFill>
            <a:srgbClr val="3A39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560FE43C-4F00-9D49-A7FD-06EAF3B64011}"/>
              </a:ext>
            </a:extLst>
          </p:cNvPr>
          <p:cNvSpPr txBox="1"/>
          <p:nvPr/>
        </p:nvSpPr>
        <p:spPr>
          <a:xfrm>
            <a:off x="1371600" y="5765800"/>
            <a:ext cx="24130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2000" b="1">
                <a:solidFill>
                  <a:srgbClr val="F3EBDD"/>
                </a:solidFill>
                <a:latin typeface="Microsoft JhengHei"/>
                <a:ea typeface="Microsoft JhengHei"/>
              </a:rPr>
              <a:t>讓你舒服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834D82F4-25D9-9545-B1FE-FAC4D69ECA94}"/>
              </a:ext>
            </a:extLst>
          </p:cNvPr>
          <p:cNvSpPr txBox="1"/>
          <p:nvPr/>
        </p:nvSpPr>
        <p:spPr>
          <a:xfrm>
            <a:off x="4343400" y="5765800"/>
            <a:ext cx="27940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2000" b="1">
                <a:solidFill>
                  <a:srgbClr val="FF613C"/>
                </a:solidFill>
                <a:latin typeface="Microsoft JhengHei"/>
                <a:ea typeface="Microsoft JhengHei"/>
              </a:rPr>
              <a:t>可能是迎合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5FCB8024-70AF-0243-A75F-EF74AE662A83}"/>
              </a:ext>
            </a:extLst>
          </p:cNvPr>
          <p:cNvSpPr txBox="1"/>
          <p:nvPr/>
        </p:nvSpPr>
        <p:spPr>
          <a:xfrm>
            <a:off x="1371600" y="6235700"/>
            <a:ext cx="6477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500">
                <a:solidFill>
                  <a:srgbClr val="B8B0A4"/>
                </a:solidFill>
                <a:latin typeface="Microsoft JhengHei"/>
                <a:ea typeface="Microsoft JhengHei"/>
              </a:rPr>
              <a:t>回應你的期待，維持輕鬆的互動。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D5B3C08-31DE-524D-88CF-696D6B9B70D9}"/>
              </a:ext>
            </a:extLst>
          </p:cNvPr>
          <p:cNvSpPr/>
          <p:nvPr/>
        </p:nvSpPr>
        <p:spPr>
          <a:xfrm>
            <a:off x="9677400" y="3327400"/>
            <a:ext cx="7620000" cy="3429000"/>
          </a:xfrm>
          <a:prstGeom prst="rect">
            <a:avLst/>
          </a:prstGeom>
          <a:solidFill>
            <a:srgbClr val="F3EB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8121F2FB-4109-8840-93C2-74FFBB21CBDB}"/>
              </a:ext>
            </a:extLst>
          </p:cNvPr>
          <p:cNvSpPr txBox="1"/>
          <p:nvPr/>
        </p:nvSpPr>
        <p:spPr>
          <a:xfrm>
            <a:off x="10058400" y="3606800"/>
            <a:ext cx="3302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500" b="1">
                <a:solidFill>
                  <a:srgbClr val="FF613C"/>
                </a:solidFill>
                <a:latin typeface="Courier New"/>
                <a:cs typeface="Courier New"/>
              </a:rPr>
              <a:t>巷口早餐店 </a:t>
            </a:r>
            <a:r>
              <a:rPr lang="en" altLang="zh-TW" sz="1500" b="1">
                <a:solidFill>
                  <a:srgbClr val="FF613C"/>
                </a:solidFill>
                <a:latin typeface="Courier New"/>
                <a:cs typeface="Courier New"/>
              </a:rPr>
              <a:t>B</a:t>
            </a:r>
            <a:endParaRPr lang="zh-TW" altLang="en-US" sz="1500" b="1">
              <a:solidFill>
                <a:srgbClr val="FF613C"/>
              </a:solidFill>
              <a:latin typeface="Courier New"/>
              <a:cs typeface="Courier New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C792C13F-2305-3344-961B-7DB5E4F3A450}"/>
              </a:ext>
            </a:extLst>
          </p:cNvPr>
          <p:cNvSpPr txBox="1"/>
          <p:nvPr/>
        </p:nvSpPr>
        <p:spPr>
          <a:xfrm>
            <a:off x="10058400" y="4089400"/>
            <a:ext cx="6477000" cy="1193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3000" b="1">
                <a:solidFill>
                  <a:srgbClr val="171719"/>
                </a:solidFill>
                <a:latin typeface="Microsoft JhengHei"/>
                <a:ea typeface="Microsoft JhengHei"/>
              </a:rPr>
              <a:t>「咦，你怎麼
又變胖了？！」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A10631E-6EA1-5348-AD59-E13F129C8025}"/>
              </a:ext>
            </a:extLst>
          </p:cNvPr>
          <p:cNvSpPr/>
          <p:nvPr/>
        </p:nvSpPr>
        <p:spPr>
          <a:xfrm>
            <a:off x="10058400" y="5562600"/>
            <a:ext cx="6477000" cy="19050"/>
          </a:xfrm>
          <a:prstGeom prst="rect">
            <a:avLst/>
          </a:prstGeom>
          <a:solidFill>
            <a:srgbClr val="B9AD9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60151B1E-31A3-204E-B755-1F875801F953}"/>
              </a:ext>
            </a:extLst>
          </p:cNvPr>
          <p:cNvSpPr txBox="1"/>
          <p:nvPr/>
        </p:nvSpPr>
        <p:spPr>
          <a:xfrm>
            <a:off x="10058400" y="5765800"/>
            <a:ext cx="27940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2000" b="1">
                <a:solidFill>
                  <a:srgbClr val="171719"/>
                </a:solidFill>
                <a:latin typeface="Microsoft JhengHei"/>
                <a:ea typeface="Microsoft JhengHei"/>
              </a:rPr>
              <a:t>讓你不舒服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0D5EB00-B92E-114C-96B7-84131A70B988}"/>
              </a:ext>
            </a:extLst>
          </p:cNvPr>
          <p:cNvSpPr txBox="1"/>
          <p:nvPr/>
        </p:nvSpPr>
        <p:spPr>
          <a:xfrm>
            <a:off x="13436600" y="5765800"/>
            <a:ext cx="27940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2000" b="1">
                <a:solidFill>
                  <a:srgbClr val="FF613C"/>
                </a:solidFill>
                <a:latin typeface="Microsoft JhengHei"/>
                <a:ea typeface="Microsoft JhengHei"/>
              </a:rPr>
              <a:t>也可能是關心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6948E73F-E203-2649-A642-1A84752A75FB}"/>
              </a:ext>
            </a:extLst>
          </p:cNvPr>
          <p:cNvSpPr txBox="1"/>
          <p:nvPr/>
        </p:nvSpPr>
        <p:spPr>
          <a:xfrm>
            <a:off x="10058400" y="6235700"/>
            <a:ext cx="6477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500">
                <a:solidFill>
                  <a:srgbClr val="6F665B"/>
                </a:solidFill>
                <a:latin typeface="Microsoft JhengHei"/>
                <a:ea typeface="Microsoft JhengHei"/>
              </a:rPr>
              <a:t>不一定說得好聽，但可能注意到你的健康。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7EED18E-BDF5-4846-B86F-C7C5F8B4E601}"/>
              </a:ext>
            </a:extLst>
          </p:cNvPr>
          <p:cNvSpPr/>
          <p:nvPr/>
        </p:nvSpPr>
        <p:spPr>
          <a:xfrm>
            <a:off x="990600" y="7188200"/>
            <a:ext cx="16306800" cy="19050"/>
          </a:xfrm>
          <a:prstGeom prst="rect">
            <a:avLst/>
          </a:prstGeom>
          <a:solidFill>
            <a:srgbClr val="3A39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779AB711-4C3B-F44C-B201-CCF14A3390FC}"/>
              </a:ext>
            </a:extLst>
          </p:cNvPr>
          <p:cNvSpPr txBox="1"/>
          <p:nvPr/>
        </p:nvSpPr>
        <p:spPr>
          <a:xfrm>
            <a:off x="990600" y="7493000"/>
            <a:ext cx="76200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zh-TW" sz="2500" b="1">
                <a:solidFill>
                  <a:srgbClr val="F3EBDD"/>
                </a:solidFill>
                <a:latin typeface="Microsoft JhengHei"/>
                <a:ea typeface="Microsoft JhengHei"/>
              </a:rPr>
              <a:t>AI </a:t>
            </a:r>
            <a:r>
              <a:rPr lang="zh-TW" altLang="en-US" sz="2500" b="1">
                <a:solidFill>
                  <a:srgbClr val="F3EBDD"/>
                </a:solidFill>
                <a:latin typeface="Microsoft JhengHei"/>
                <a:ea typeface="Microsoft JhengHei"/>
              </a:rPr>
              <a:t>很擅長說你想聽的話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2976D2F5-EC1D-A04D-8DE6-C0A1C1B6D487}"/>
              </a:ext>
            </a:extLst>
          </p:cNvPr>
          <p:cNvSpPr txBox="1"/>
          <p:nvPr/>
        </p:nvSpPr>
        <p:spPr>
          <a:xfrm>
            <a:off x="9677400" y="7493000"/>
            <a:ext cx="76200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2500" b="1">
                <a:solidFill>
                  <a:srgbClr val="FF613C"/>
                </a:solidFill>
                <a:latin typeface="Microsoft JhengHei"/>
                <a:ea typeface="Microsoft JhengHei"/>
              </a:rPr>
              <a:t>但你想聽的，不一定是你需要聽的。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C61A658-A135-AC4F-9D2A-05C22E308E6D}"/>
              </a:ext>
            </a:extLst>
          </p:cNvPr>
          <p:cNvSpPr/>
          <p:nvPr/>
        </p:nvSpPr>
        <p:spPr>
          <a:xfrm>
            <a:off x="990600" y="8280400"/>
            <a:ext cx="16306800" cy="736600"/>
          </a:xfrm>
          <a:prstGeom prst="rect">
            <a:avLst/>
          </a:prstGeom>
          <a:solidFill>
            <a:srgbClr val="FF613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EA07CF9E-C5C1-B449-977A-B40345EA1AA0}"/>
              </a:ext>
            </a:extLst>
          </p:cNvPr>
          <p:cNvSpPr txBox="1"/>
          <p:nvPr/>
        </p:nvSpPr>
        <p:spPr>
          <a:xfrm>
            <a:off x="1295400" y="8394700"/>
            <a:ext cx="156972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2500" b="1" dirty="0">
                <a:solidFill>
                  <a:srgbClr val="15161A"/>
                </a:solidFill>
                <a:latin typeface="Microsoft JhengHei"/>
                <a:ea typeface="Microsoft JhengHei"/>
              </a:rPr>
              <a:t>久而久之，我們要學的可能不只是 </a:t>
            </a:r>
            <a:r>
              <a:rPr lang="en" altLang="zh-TW" sz="2500" b="1" dirty="0">
                <a:solidFill>
                  <a:srgbClr val="15161A"/>
                </a:solidFill>
                <a:latin typeface="Microsoft JhengHei"/>
                <a:ea typeface="Microsoft JhengHei"/>
              </a:rPr>
              <a:t>AI</a:t>
            </a:r>
            <a:r>
              <a:rPr lang="zh-TW" altLang="en" sz="2500" b="1" dirty="0">
                <a:solidFill>
                  <a:srgbClr val="15161A"/>
                </a:solidFill>
                <a:latin typeface="Microsoft JhengHei"/>
                <a:ea typeface="Microsoft JhengHei"/>
              </a:rPr>
              <a:t>，</a:t>
            </a:r>
            <a:r>
              <a:rPr lang="zh-TW" altLang="en-US" sz="2500" b="1" dirty="0">
                <a:solidFill>
                  <a:srgbClr val="15161A"/>
                </a:solidFill>
                <a:latin typeface="Microsoft JhengHei"/>
                <a:ea typeface="Microsoft JhengHei"/>
              </a:rPr>
              <a:t>而是學會做人。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3E43A74-BB88-A44C-B239-C4D338FA9CFE}"/>
              </a:ext>
            </a:extLst>
          </p:cNvPr>
          <p:cNvSpPr/>
          <p:nvPr/>
        </p:nvSpPr>
        <p:spPr>
          <a:xfrm>
            <a:off x="16052800" y="8216900"/>
            <a:ext cx="2247900" cy="787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r"/>
            <a:r>
              <a:rPr lang="en" altLang="zh-TW" sz="2000" b="1" dirty="0">
                <a:solidFill>
                  <a:srgbClr val="C9472B"/>
                </a:solidFill>
                <a:latin typeface="Microsoft JhengHei"/>
                <a:ea typeface="Microsoft JhengHei"/>
              </a:rPr>
              <a:t>buy me a coffee
</a:t>
            </a:r>
            <a:r>
              <a:rPr lang="zh-TW" altLang="en-US" sz="2000" b="1" dirty="0">
                <a:solidFill>
                  <a:srgbClr val="C947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需開街口支付掃描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CE8219E4-DB14-6747-9F0B-133034F64F3D}"/>
              </a:ext>
            </a:extLst>
          </p:cNvPr>
          <p:cNvSpPr txBox="1"/>
          <p:nvPr/>
        </p:nvSpPr>
        <p:spPr>
          <a:xfrm>
            <a:off x="16637000" y="94488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>
                <a:solidFill>
                  <a:srgbClr val="8A8175"/>
                </a:solidFill>
                <a:latin typeface="Courier New"/>
                <a:cs typeface="Courier New"/>
              </a:rPr>
              <a:t>40</a:t>
            </a:r>
            <a:endParaRPr lang="zh-TW" altLang="en-US" sz="1600" b="1">
              <a:solidFill>
                <a:srgbClr val="8A8175"/>
              </a:solidFill>
              <a:latin typeface="Courier New"/>
              <a:cs typeface="Courier New"/>
            </a:endParaRPr>
          </a:p>
        </p:txBody>
      </p:sp>
      <p:pic>
        <p:nvPicPr>
          <p:cNvPr id="45" name="圖片 44">
            <a:extLst>
              <a:ext uri="{FF2B5EF4-FFF2-40B4-BE49-F238E27FC236}">
                <a16:creationId xmlns:a16="http://schemas.microsoft.com/office/drawing/2014/main" id="{30415C78-1D41-A88B-602A-DBE36EAA1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21800"/>
            <a:ext cx="965200" cy="965200"/>
          </a:xfrm>
          <a:prstGeom prst="rect">
            <a:avLst/>
          </a:prstGeom>
        </p:spPr>
      </p:pic>
      <p:pic>
        <p:nvPicPr>
          <p:cNvPr id="46" name="圖片 45">
            <a:extLst>
              <a:ext uri="{FF2B5EF4-FFF2-40B4-BE49-F238E27FC236}">
                <a16:creationId xmlns:a16="http://schemas.microsoft.com/office/drawing/2014/main" id="{1A531B3E-61EE-C113-E870-449C8187B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67200" y="8966200"/>
            <a:ext cx="1320800" cy="13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3190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990600" y="723900"/>
            <a:ext cx="14118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WRAP-UP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097199" y="723900"/>
            <a:ext cx="2420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BACK TO FOUR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467100"/>
            <a:ext cx="1454277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回到那四個能力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5172075"/>
            <a:ext cx="132207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90600" y="4662488"/>
            <a:ext cx="37445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517452" y="4572000"/>
            <a:ext cx="825013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看到 47.36% 時，你會問「這代表什麼」——批判性思考。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90600" y="5991225"/>
            <a:ext cx="132207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990600" y="5481638"/>
            <a:ext cx="37445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517452" y="5391150"/>
            <a:ext cx="788456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知道自己是卡在 Token 還是卡在 Attention——元認知。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90600" y="6810375"/>
            <a:ext cx="132207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990600" y="6300788"/>
            <a:ext cx="37445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517452" y="6210300"/>
            <a:ext cx="9069259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回家自己動手調 Top-k 與 Temperature——成長心態與好奇心。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90600" y="7119938"/>
            <a:ext cx="37445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517452" y="7029450"/>
            <a:ext cx="597217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第一次看不懂，願意再看第二次——堅韌。</a:t>
            </a:r>
            <a:endParaRPr lang="en-US" sz="225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0900" y="4121125"/>
            <a:ext cx="2476500" cy="268285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6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8A5DC527-A3B6-B591-2CF5-9D24AF828267}"/>
              </a:ext>
            </a:extLst>
          </p:cNvPr>
          <p:cNvSpPr txBox="1"/>
          <p:nvPr/>
        </p:nvSpPr>
        <p:spPr>
          <a:xfrm>
            <a:off x="9767583" y="6092250"/>
            <a:ext cx="36182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32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Google  AI studio</a:t>
            </a:r>
            <a:endParaRPr kumimoji="1" lang="zh-TW" altLang="en-US" sz="3200" b="1" dirty="0">
              <a:solidFill>
                <a:schemeClr val="accent1">
                  <a:lumMod val="7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8456C41-B6A3-094D-9AC5-97FB50D69C98}"/>
              </a:ext>
            </a:extLst>
          </p:cNvPr>
          <p:cNvSpPr/>
          <p:nvPr/>
        </p:nvSpPr>
        <p:spPr>
          <a:xfrm>
            <a:off x="16052800" y="8216900"/>
            <a:ext cx="2247900" cy="787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r"/>
            <a:r>
              <a:rPr lang="en" altLang="zh-TW" sz="2000" b="1" dirty="0">
                <a:solidFill>
                  <a:srgbClr val="C9472B"/>
                </a:solidFill>
                <a:latin typeface="Microsoft JhengHei"/>
                <a:ea typeface="Microsoft JhengHei"/>
              </a:rPr>
              <a:t>buy me a coffee
</a:t>
            </a:r>
            <a:r>
              <a:rPr lang="zh-TW" altLang="en-US" sz="2000" b="1" dirty="0">
                <a:solidFill>
                  <a:srgbClr val="C947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需開街口支付掃描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C610450C-FBDF-F14D-B0F5-6CF137D7FF2E}"/>
              </a:ext>
            </a:extLst>
          </p:cNvPr>
          <p:cNvSpPr txBox="1"/>
          <p:nvPr/>
        </p:nvSpPr>
        <p:spPr>
          <a:xfrm>
            <a:off x="16637000" y="94488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>
                <a:solidFill>
                  <a:srgbClr val="8A8175"/>
                </a:solidFill>
                <a:latin typeface="Courier New"/>
                <a:cs typeface="Courier New"/>
              </a:rPr>
              <a:t>41</a:t>
            </a:r>
            <a:endParaRPr lang="zh-TW" altLang="en-US" sz="1600" b="1">
              <a:solidFill>
                <a:srgbClr val="8A8175"/>
              </a:solidFill>
              <a:latin typeface="Courier New"/>
              <a:cs typeface="Courier New"/>
            </a:endParaRPr>
          </a:p>
        </p:txBody>
      </p:sp>
      <p:pic>
        <p:nvPicPr>
          <p:cNvPr id="27" name="圖片 26">
            <a:extLst>
              <a:ext uri="{FF2B5EF4-FFF2-40B4-BE49-F238E27FC236}">
                <a16:creationId xmlns:a16="http://schemas.microsoft.com/office/drawing/2014/main" id="{724EB8E4-DA61-F4F5-BAB7-D8C010725C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09100"/>
            <a:ext cx="965200" cy="965200"/>
          </a:xfrm>
          <a:prstGeom prst="rect">
            <a:avLst/>
          </a:prstGeom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D7F2064C-E0FE-EB03-5C59-603ACD21E4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67200" y="8966200"/>
            <a:ext cx="13208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990600" y="723900"/>
            <a:ext cx="16135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APPENDIX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830550" y="723900"/>
            <a:ext cx="16135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HANDS-ON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628775"/>
            <a:ext cx="942975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回家動手試三件事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90600" y="2695575"/>
            <a:ext cx="51353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656531" y="2728913"/>
            <a:ext cx="8143766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把自己的一句話貼到 OpenAI Tokenizer，看它被切成幾個 Token。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90600" y="3843338"/>
            <a:ext cx="56755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710556" y="3876675"/>
            <a:ext cx="808812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在 Transformer Explainer 裡調 Top-k 與 Temperature，觀察分布怎麼變。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90600" y="4991100"/>
            <a:ext cx="56472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707728" y="5024438"/>
            <a:ext cx="8091033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跑一次 day2.ipynb：QKV 機制與 Qwen2.5-0.5B-Instruct 的取樣實驗。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0248900" y="1628775"/>
            <a:ext cx="7048500" cy="7715250"/>
          </a:xfrm>
          <a:prstGeom prst="rect">
            <a:avLst/>
          </a:prstGeom>
          <a:solidFill>
            <a:srgbClr val="E5DBC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10629900" y="1971675"/>
            <a:ext cx="69151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29900" y="2447925"/>
            <a:ext cx="6475095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973"/>
              </a:lnSpc>
              <a:buNone/>
            </a:pPr>
            <a:r>
              <a:rPr lang="en-US" sz="19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Vaswani, A., et al. (2017). </a:t>
            </a:r>
            <a:r>
              <a:rPr lang="en-US" sz="1950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Attention Is All You Need </a:t>
            </a:r>
            <a:r>
              <a:rPr lang="en-US" sz="19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. arXiv:1706.03762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629900" y="3449836"/>
            <a:ext cx="6475095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973"/>
              </a:lnSpc>
              <a:buNone/>
            </a:pPr>
            <a:r>
              <a:rPr lang="en-US" sz="19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Cho, A., et al. </a:t>
            </a:r>
            <a:r>
              <a:rPr lang="en-US" sz="1950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Transformer Explainer </a:t>
            </a:r>
            <a:r>
              <a:rPr lang="en-US" sz="19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. poloclub.github.io/transformer-explainer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629900" y="4451747"/>
            <a:ext cx="691515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973"/>
              </a:lnSpc>
              <a:buNone/>
            </a:pPr>
            <a:r>
              <a:rPr lang="en-US" sz="19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OpenAI. </a:t>
            </a:r>
            <a:r>
              <a:rPr lang="en-US" sz="1950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Tokenizer</a:t>
            </a:r>
            <a:r>
              <a:rPr lang="en-US" sz="19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. platform.openai.com/tokenizer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0629900" y="5057477"/>
            <a:ext cx="6475095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973"/>
              </a:lnSpc>
              <a:buNone/>
            </a:pPr>
            <a:r>
              <a:rPr lang="en-US" sz="19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Pathsmith™ Durable Skills Framework, America Succeeds. pathsmith.org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629900" y="6059388"/>
            <a:ext cx="6475095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973"/>
              </a:lnSpc>
              <a:buNone/>
            </a:pPr>
            <a:r>
              <a:rPr lang="en-US" sz="19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簡立峰．〈學不夠快，就等著被淘汰〉，《天下雜誌》，2026-02-24。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90600" y="9344025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505950"/>
            <a:ext cx="1277615" cy="247650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B6812773-62B0-FB45-8C13-1437C0B752C9}"/>
              </a:ext>
            </a:extLst>
          </p:cNvPr>
          <p:cNvSpPr/>
          <p:nvPr/>
        </p:nvSpPr>
        <p:spPr>
          <a:xfrm>
            <a:off x="16052800" y="8216900"/>
            <a:ext cx="2247900" cy="787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r"/>
            <a:r>
              <a:rPr lang="en" altLang="zh-TW" sz="2000" b="1" dirty="0">
                <a:solidFill>
                  <a:srgbClr val="C9472B"/>
                </a:solidFill>
                <a:latin typeface="Microsoft JhengHei"/>
                <a:ea typeface="Microsoft JhengHei"/>
              </a:rPr>
              <a:t>buy me a coffee
</a:t>
            </a:r>
            <a:r>
              <a:rPr lang="zh-TW" altLang="en-US" sz="2000" b="1" dirty="0">
                <a:solidFill>
                  <a:srgbClr val="C9472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需開街口支付掃描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F45281CA-4804-7C46-A842-16A111238DD8}"/>
              </a:ext>
            </a:extLst>
          </p:cNvPr>
          <p:cNvSpPr txBox="1"/>
          <p:nvPr/>
        </p:nvSpPr>
        <p:spPr>
          <a:xfrm>
            <a:off x="16637000" y="9448800"/>
            <a:ext cx="762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600" b="1">
                <a:solidFill>
                  <a:srgbClr val="8A8175"/>
                </a:solidFill>
                <a:latin typeface="Courier New"/>
                <a:cs typeface="Courier New"/>
              </a:rPr>
              <a:t>42</a:t>
            </a:r>
            <a:endParaRPr lang="zh-TW" altLang="en-US" sz="1600" b="1">
              <a:solidFill>
                <a:srgbClr val="8A8175"/>
              </a:solidFill>
              <a:latin typeface="Courier New"/>
              <a:cs typeface="Courier New"/>
            </a:endParaRPr>
          </a:p>
        </p:txBody>
      </p:sp>
      <p:pic>
        <p:nvPicPr>
          <p:cNvPr id="27" name="圖片 26">
            <a:extLst>
              <a:ext uri="{FF2B5EF4-FFF2-40B4-BE49-F238E27FC236}">
                <a16:creationId xmlns:a16="http://schemas.microsoft.com/office/drawing/2014/main" id="{0EBEECD7-8CC2-995B-C355-9DE72DC2F2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53550"/>
            <a:ext cx="965200" cy="965200"/>
          </a:xfrm>
          <a:prstGeom prst="rect">
            <a:avLst/>
          </a:prstGeom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034C57E5-8B96-4AF1-EA2D-07FCF90821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67200" y="8966200"/>
            <a:ext cx="1320800" cy="1320800"/>
          </a:xfrm>
          <a:prstGeom prst="rect">
            <a:avLst/>
          </a:prstGeom>
        </p:spPr>
      </p:pic>
      <p:sp>
        <p:nvSpPr>
          <p:cNvPr id="90" name="Shape 89"/>
          <p:cNvSpPr/>
          <p:nvPr/>
        </p:nvSpPr>
        <p:spPr>
          <a:xfrm>
            <a:off x="990600" y="6477000"/>
            <a:ext cx="8890000" cy="12700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90"/>
          <p:cNvSpPr txBox="1"/>
          <p:nvPr/>
        </p:nvSpPr>
        <p:spPr>
          <a:xfrm>
            <a:off x="990600" y="6680199"/>
            <a:ext cx="8890000" cy="19780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1600" kern="0" spc="288" dirty="0">
                <a:solidFill>
                  <a:srgbClr val="8A8378"/>
                </a:solidFill>
                <a:latin typeface="Menlo" pitchFamily="34" charset="0"/>
                <a:ea typeface="Menlo" pitchFamily="34" charset="-122"/>
              </a:rPr>
              <a:t>COLLABORATION</a:t>
            </a:r>
          </a:p>
          <a:p>
            <a:pPr marL="0" indent="0" algn="l">
              <a:spcBef>
                <a:spcPts val="700"/>
              </a:spcBef>
              <a:buNone/>
            </a:pPr>
            <a:r>
              <a:rPr lang="zh-TW" altLang="en-US" sz="24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</a:rPr>
              <a:t>合作邀約</a:t>
            </a:r>
          </a:p>
          <a:p>
            <a:pPr marL="0" indent="0" algn="l">
              <a:lnSpc>
                <a:spcPct val="125000"/>
              </a:lnSpc>
              <a:spcBef>
                <a:spcPts val="600"/>
              </a:spcBef>
              <a:buNone/>
            </a:pPr>
            <a:r>
              <a:rPr lang="zh-TW" altLang="en-US" sz="1900" dirty="0">
                <a:solidFill>
                  <a:srgbClr val="3A362F"/>
                </a:solidFill>
                <a:latin typeface="PingFang TC" pitchFamily="34" charset="0"/>
                <a:ea typeface="PingFang TC" pitchFamily="34" charset="-122"/>
              </a:rPr>
              <a:t>演講、工作坊、AI 家教，或個人、實驗室、公司的 AI 轉型需求，都歡迎找我聊聊。</a:t>
            </a:r>
            <a:endParaRPr lang="en-US" altLang="zh-TW" sz="1900" dirty="0">
              <a:solidFill>
                <a:srgbClr val="3A362F"/>
              </a:solidFill>
              <a:latin typeface="PingFang TC" pitchFamily="34" charset="0"/>
              <a:ea typeface="PingFang TC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8618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8D8B8356-3C1E-544F-A6AF-29E0F4746F49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cc84ce7b-96f3-48ee-8249-a1e993834ac2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BE5DDED-E8FD-6242-8635-B804629E4AE4}">
  <we:reference id="wa200010215" version="2.0.0.0" store="zh-TW" storeType="OMEX"/>
  <we:alternateReferences>
    <we:reference id="WA200010215" version="2.0.0.0" store="" storeType="OMEX"/>
  </we:alternateReferences>
  <we:properties>
    <we:property name="bps.codex_control.document_id" value="&quot;a9ad0bdb-fc0a-4c25-aedb-8b254f7c560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6871</TotalTime>
  <Words>3774</Words>
  <Application>Microsoft Macintosh PowerPoint</Application>
  <PresentationFormat>自訂</PresentationFormat>
  <Paragraphs>869</Paragraphs>
  <Slides>43</Slides>
  <Notes>37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43</vt:i4>
      </vt:variant>
    </vt:vector>
  </HeadingPairs>
  <TitlesOfParts>
    <vt:vector size="51" baseType="lpstr">
      <vt:lpstr>Microsoft JhengHei</vt:lpstr>
      <vt:lpstr>Noto Sans TC</vt:lpstr>
      <vt:lpstr>PingFang TC</vt:lpstr>
      <vt:lpstr>Arial</vt:lpstr>
      <vt:lpstr>Courier New</vt:lpstr>
      <vt:lpstr>Georgia</vt:lpstr>
      <vt:lpstr>Menlo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睿明 張</cp:lastModifiedBy>
  <cp:revision>31</cp:revision>
  <dcterms:created xsi:type="dcterms:W3CDTF">2026-08-10T11:38:00Z</dcterms:created>
  <dcterms:modified xsi:type="dcterms:W3CDTF">2026-09-15T00:40:12Z</dcterms:modified>
</cp:coreProperties>
</file>