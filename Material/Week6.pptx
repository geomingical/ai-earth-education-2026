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開場：我們一直在改 Prompt。但你在聊天框裡打的那段話，真的是 AI 這一輪看到的全部嗎？答案通常不是。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分鐘：堆疊 20 分（含 notebook 示範）、污染與隔離 20 分、壓縮 10 分（含第二個 notebook）。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章節頁。我們以為只是說「幫我修這個 Bug」，但模型開工前的桌上，可能早就被放了一疊資料。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這是全場的起點問題。可以先問聽眾：你覺得是不是全部？多數人第一次都會答「是」。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不是一份永遠不變的文件，而是一張會不斷新增、整理與替換內容的工作桌。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不同產品的組裝順序不完全相同，這是概念圖不是固定規格。某些資料可能沒出現，某些會在工作進行中才加入。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模型會根據這五樣東西決定下一步，而不是只讀最後一句「請安排旅行」。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切到 day12_context_stacking_demo.ipynb。不呼叫任何模型，逐格執行，每一格只看「剛加入了什麼」。最後一格印出完整 Context。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到最後一輪，模型不能只看到「換成地球科學案例」，還要知道前面是哪一份課程、哪些內容改過。多輪對話本身就是 Context 的持續堆疊。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Result 不是某個遠方服務自己默默知道答案。它必須重新回到模型看得到的 Context，模型才知道明天下午可能下雨。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「可以帶很多資料」和「知道現在該帶哪些資料」，是兩種完全不同的能力。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這不是所有模型都適用的硬性門檻。研究觀察到長 Context 表現可能下降，但退化點受模型、任務、資訊位置與雜訊影響。要觀察的不是百分比，而是行為。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回扣第四場的 Agent ≈ Model + Harness。同一個模型、不同的工作桌，成果自然不同。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章節頁。工作桌有一個殘酷的規則：不是桌子越大，就越適合把東西一直堆上去。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最生活化的 Context Pollution：資料不是垃圾，只是放錯桌。每一題都合理，AI 也都能回答。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 把 Context 視為有限資源。這不是說多放一個字就壞掉，而是每一段不相關內容都可能搶走一點注意力。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硬碟很大，不代表所有檔案都該放 Desktop。這不是 AI 失憶，而是你替不同專案開不同資料夾。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最後的行程可能只有 500 字，但過程讀進來的內容非常多，而且大部分只是「為了查到答案而暫時看過」。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關鍵不只是「多一個 AI 所以比較快」，而是 Context Isolation：研究助理在自己桌上忙，主 Agent 的桌面不會跟著被塞滿。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 subagent_1 這個名字多厲害，只是方便辨認兩份工作。不同產品的呼叫方式不同，但清楚的任務說明一樣重要。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像你去醫院前，知道要描述哪裡不舒服、何時開始。醫師仍是專家，但你的描述會決定檢查方向。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同學幫你查資料時，不會先從「我第一個關鍵字少打一個字」講起。你更需要的是結果、證據與還沒查清楚的地方。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查一個名詞派一位、改一個標點派一位、決定珍奶半糖還是微糖也成立一個委員會——那就過頭了。Context Isolation 有成本。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章節頁。即使沒岔題、沒亂讀網頁，長時間工作仍會慢慢塞滿。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把它想成寫一張「換人也接得下去」的交班便條。真正困難的是留下什麼，不是把字數砍半。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下一個 Agent（或明天的你）不需要讀八小時逐字稿，卻不會把已證明行不通的方法再做一次。專案不用因為換了一個 Context 就重新投胎。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切到 day13_practice.ipynb。285 字故事壓成 50 字，九個預設元素只命中四個。強調：命中數不是模型分數，模型可能用同義詞說對了卻被判成未命中。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OpenAI Agents SDK 的 Handoff：預設會把對話歷史交給下一個 Agent，但開發者可以指定規則。初學者只要記得「交接時要帶什麼資料」是可以設計的。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1–2 分鐘。Context Engineering 到最後不只是記憶工程，也是選擇、隔離、壓縮與遺忘的工程。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收束：下一場離開 Context Engineering，來看個人如何使用 OpenAI、Anthropic、Google、Ollama 與其他 AI 產品。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566863"/>
            <a:ext cx="163068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85800"/>
            <a:ext cx="30600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LECTURE · 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028700"/>
            <a:ext cx="30600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素養入門 · 公開講座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369811" y="766763"/>
            <a:ext cx="39275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 LECTURE 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69811" y="1109663"/>
            <a:ext cx="39275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 ENGINEERING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484736"/>
            <a:ext cx="1216533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模型看到的， 不只是你</a:t>
            </a:r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打的那句話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990600" y="6075536"/>
            <a:ext cx="6337745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是 AI 的工作桌。今天先把桌面攤開來看，再學怎麼替它減壓。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90600" y="7626176"/>
            <a:ext cx="6096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790700" y="7454726"/>
            <a:ext cx="30393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張睿明 ／ AIMing Data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3650" y="3719512"/>
            <a:ext cx="2857500" cy="30956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026902" y="7081838"/>
            <a:ext cx="2730996" cy="509587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3" name="Text 10"/>
          <p:cNvSpPr/>
          <p:nvPr/>
        </p:nvSpPr>
        <p:spPr>
          <a:xfrm>
            <a:off x="14274552" y="7215188"/>
            <a:ext cx="2317626" cy="280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CHANG JUI-MING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990600" y="93059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467850"/>
            <a:ext cx="1474143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065079" y="9520238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 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1658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本堂路線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906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怎麼被堆起來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906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五個來源、多輪對話，以及工具結果怎麼回到桌上。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532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65532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5532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桌面為什麼會亂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532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Pollution、Context Rot，以及 Subagent 的隔離。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21158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學會適度忘記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1158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Compaction：好摘要不是短摘要，而是能讓下一位接手。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7208490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208490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中間會跑兩份 notebook：一份看 Context 怎麼堆起來，一份看摘要會帶走什麼。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STACKING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284259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184377" y="3771007"/>
            <a:ext cx="667131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是 怎麼被堆起來的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184377" y="5774978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你只說了一句話，但模型開工前的桌上，可能早就被放了一疊資料。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STACKING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97199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QUESTION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545631"/>
            <a:ext cx="16796004" cy="1622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我在聊天框裡打的那段 Prompt，就是 AI 這一輪看到的全部內容嗎？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740101"/>
            <a:ext cx="7467600" cy="16811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5063951"/>
            <a:ext cx="74180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我們以為的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52550" y="5564014"/>
            <a:ext cx="74180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幫我修這個 Bug。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877300" y="5271120"/>
            <a:ext cx="6096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9829800" y="4549601"/>
            <a:ext cx="7467600" cy="206216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10191750" y="4873451"/>
            <a:ext cx="74180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模型開工前的桌上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191750" y="5373514"/>
            <a:ext cx="694601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系統規則 · 前面的對話 · 你這一輪的要求 · 外部資料 · 工具剛回傳的結果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90600" y="7030864"/>
            <a:ext cx="1255776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 把 Context Engineering 描述成：不只研究 Prompt 怎麼寫，還要安排模型在這一次推論時究竟應該看到哪些資訊。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STACKING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DESK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28938"/>
            <a:ext cx="909447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先把 Context 想成 AI 的工作桌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3862387"/>
            <a:ext cx="851573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在這一輪生成答案以前，模型目前能看到的那一整組資訊。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90600" y="5100638"/>
            <a:ext cx="851573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桌面一開始可能只有任務說明。工作做下去之後，桌上開始出現天氣、交通、景點時間，以及「剛才查過但不符合條件」的資訊。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90600" y="6738938"/>
            <a:ext cx="28575" cy="9144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9" name="Text 7"/>
          <p:cNvSpPr/>
          <p:nvPr/>
        </p:nvSpPr>
        <p:spPr>
          <a:xfrm>
            <a:off x="1228725" y="6738938"/>
            <a:ext cx="827760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它不是一份永遠不變的文件，而是一張會不斷新增、整理與替換內容的桌子。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867900" y="2738438"/>
            <a:ext cx="7429500" cy="13144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10134600" y="2967038"/>
            <a:ext cx="71189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幫我安排台北三天旅行，步調不要太趕，還要避開下雨天。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496425" y="4224338"/>
            <a:ext cx="8172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867900" y="4795838"/>
            <a:ext cx="7429500" cy="681038"/>
          </a:xfrm>
          <a:prstGeom prst="rect">
            <a:avLst/>
          </a:prstGeom>
          <a:solidFill>
            <a:srgbClr val="EFE7DA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86975" y="4957763"/>
            <a:ext cx="721423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系統已知：你偏好大眾運輸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867900" y="5591175"/>
            <a:ext cx="7429500" cy="681038"/>
          </a:xfrm>
          <a:prstGeom prst="rect">
            <a:avLst/>
          </a:prstGeom>
          <a:solidFill>
            <a:srgbClr val="EFE7DA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86975" y="5753100"/>
            <a:ext cx="721423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保留了前面的對話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867900" y="6386513"/>
            <a:ext cx="7429500" cy="681038"/>
          </a:xfrm>
          <a:prstGeom prst="rect">
            <a:avLst/>
          </a:prstGeom>
          <a:solidFill>
            <a:srgbClr val="EFE7DA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6975" y="6548438"/>
            <a:ext cx="721423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查詢天氣 → 結果進來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867900" y="7181850"/>
            <a:ext cx="7429500" cy="661988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77450" y="7334250"/>
            <a:ext cx="723328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查詢景點開放時間 → 資料也進來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STACKING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FIG. 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495550"/>
            <a:ext cx="7810500" cy="781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686050"/>
            <a:ext cx="2514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系統／開發者規則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695950" y="2738438"/>
            <a:ext cx="3143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角色、安全要求、工作範圍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3371850"/>
            <a:ext cx="7810500" cy="7810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562350"/>
            <a:ext cx="1219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對話歷史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038850" y="3614738"/>
            <a:ext cx="27660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前面的使用者與 AI 訊息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4248150"/>
            <a:ext cx="7810500" cy="78105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" y="4438650"/>
            <a:ext cx="2514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目前的使用者請求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000229" y="4491038"/>
            <a:ext cx="28085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D9C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你這一輪輸入的 Prompt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90600" y="5124450"/>
            <a:ext cx="7810500" cy="7810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5314950"/>
            <a:ext cx="1219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外部資料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695950" y="5367338"/>
            <a:ext cx="3143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檔案、網頁、搜尋到的資料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90600" y="6000750"/>
            <a:ext cx="7810500" cy="7810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6191250"/>
            <a:ext cx="1219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工具結果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4981575" y="6243638"/>
            <a:ext cx="39290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搜尋、天氣、地圖或其他工具回覆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00075" y="6877050"/>
            <a:ext cx="8591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90600" y="7372350"/>
            <a:ext cx="7810500" cy="714375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0143" y="7562850"/>
            <a:ext cx="751141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410700" y="3629025"/>
            <a:ext cx="867537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一輪 Context 大致會有哪些東西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9410700" y="4495800"/>
            <a:ext cx="8123301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這張圖要表達的是「模型可能同時看到這些來源」，不是每個系統都按相同順序排列。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9410700" y="5627340"/>
            <a:ext cx="28575" cy="132583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6" name="Text 24"/>
          <p:cNvSpPr/>
          <p:nvPr/>
        </p:nvSpPr>
        <p:spPr>
          <a:xfrm>
            <a:off x="9648825" y="5627340"/>
            <a:ext cx="7885176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我們在聊天框裡看到的，往往只是其中一小部分——這也解釋了為什麼同一個模型放進不同產品，使用感受可能完全不同。模型沒換，是外面替它準備 Context 的方式變了。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STACKING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366602" y="723900"/>
            <a:ext cx="322387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 · 台北三日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252663"/>
            <a:ext cx="16306800" cy="10191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6" name="Text 4"/>
          <p:cNvSpPr/>
          <p:nvPr/>
        </p:nvSpPr>
        <p:spPr>
          <a:xfrm>
            <a:off x="1314450" y="2519362"/>
            <a:ext cx="1614830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請安排台北三天旅行，步調不要太趕，避開下雨天，交通以大眾運輸為主。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4048125"/>
            <a:ext cx="3587204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3614738"/>
            <a:ext cx="36948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58804" y="4048125"/>
            <a:ext cx="4783038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0" name="Text 8"/>
          <p:cNvSpPr/>
          <p:nvPr/>
        </p:nvSpPr>
        <p:spPr>
          <a:xfrm>
            <a:off x="4958804" y="3614738"/>
            <a:ext cx="492652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來源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122843" y="4048125"/>
            <a:ext cx="7174557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10122843" y="3614738"/>
            <a:ext cx="738979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這一輪桌上出現什麼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600" y="4762500"/>
            <a:ext cx="358720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4219575"/>
            <a:ext cx="36948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4958804" y="4762500"/>
            <a:ext cx="4783038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6" name="Text 14"/>
          <p:cNvSpPr/>
          <p:nvPr/>
        </p:nvSpPr>
        <p:spPr>
          <a:xfrm>
            <a:off x="4958804" y="4219575"/>
            <a:ext cx="492652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系統規則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10122843" y="4762500"/>
            <a:ext cx="7174557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22843" y="4219575"/>
            <a:ext cx="738979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你是旅行助理；行程要標示交通方式與可能的風險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90600" y="5467350"/>
            <a:ext cx="358720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4924425"/>
            <a:ext cx="36948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4958804" y="5467350"/>
            <a:ext cx="4783038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2" name="Text 20"/>
          <p:cNvSpPr/>
          <p:nvPr/>
        </p:nvSpPr>
        <p:spPr>
          <a:xfrm>
            <a:off x="4958804" y="4924425"/>
            <a:ext cx="492652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對話歷史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10122843" y="5467350"/>
            <a:ext cx="7174557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4" name="Text 22"/>
          <p:cNvSpPr/>
          <p:nvPr/>
        </p:nvSpPr>
        <p:spPr>
          <a:xfrm>
            <a:off x="10122843" y="4924425"/>
            <a:ext cx="738979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你前一輪說過，不想每天換很多次交通工具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90600" y="6172200"/>
            <a:ext cx="358720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5629275"/>
            <a:ext cx="36948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4958804" y="6172200"/>
            <a:ext cx="4783038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8" name="Text 26"/>
          <p:cNvSpPr/>
          <p:nvPr/>
        </p:nvSpPr>
        <p:spPr>
          <a:xfrm>
            <a:off x="4958804" y="5629275"/>
            <a:ext cx="492652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目前請求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10122843" y="6172200"/>
            <a:ext cx="7174557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0" name="Text 28"/>
          <p:cNvSpPr/>
          <p:nvPr/>
        </p:nvSpPr>
        <p:spPr>
          <a:xfrm>
            <a:off x="10122843" y="5629275"/>
            <a:ext cx="738979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三天行程、避開下雨天、以大眾運輸為主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90600" y="6877050"/>
            <a:ext cx="358720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2" name="Text 30"/>
          <p:cNvSpPr/>
          <p:nvPr/>
        </p:nvSpPr>
        <p:spPr>
          <a:xfrm>
            <a:off x="990600" y="6334125"/>
            <a:ext cx="36948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4958804" y="6877050"/>
            <a:ext cx="4783038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4" name="Text 32"/>
          <p:cNvSpPr/>
          <p:nvPr/>
        </p:nvSpPr>
        <p:spPr>
          <a:xfrm>
            <a:off x="4958804" y="6334125"/>
            <a:ext cx="492652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外部資料</a:t>
            </a:r>
            <a:endParaRPr lang="en-US" sz="2175" dirty="0"/>
          </a:p>
        </p:txBody>
      </p:sp>
      <p:sp>
        <p:nvSpPr>
          <p:cNvPr id="35" name="Shape 33"/>
          <p:cNvSpPr/>
          <p:nvPr/>
        </p:nvSpPr>
        <p:spPr>
          <a:xfrm>
            <a:off x="10122843" y="6877050"/>
            <a:ext cx="7174557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6" name="Text 34"/>
          <p:cNvSpPr/>
          <p:nvPr/>
        </p:nvSpPr>
        <p:spPr>
          <a:xfrm>
            <a:off x="10122843" y="6334125"/>
            <a:ext cx="738979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景點介紹、開放時間、交通路線與天氣預報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90600" y="7038975"/>
            <a:ext cx="36948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4958804" y="7038975"/>
            <a:ext cx="492652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工具結果</a:t>
            </a:r>
            <a:endParaRPr lang="en-US" sz="2175" dirty="0"/>
          </a:p>
        </p:txBody>
      </p:sp>
      <p:sp>
        <p:nvSpPr>
          <p:cNvPr id="39" name="Text 37"/>
          <p:cNvSpPr/>
          <p:nvPr/>
        </p:nvSpPr>
        <p:spPr>
          <a:xfrm>
            <a:off x="10122843" y="7038975"/>
            <a:ext cx="738979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明天下午可能下雨、某景點週一休館、捷運轉乘約 20 分鐘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90600" y="7924800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41" name="Text 39"/>
          <p:cNvSpPr/>
          <p:nvPr/>
        </p:nvSpPr>
        <p:spPr>
          <a:xfrm>
            <a:off x="1247775" y="7924800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如果外部資料裡塞了一段「請忽略原本規則」，模型會同時看到任務與惡意內容——這正是上一場 Prompt Injection 的問題。</a:t>
            </a:r>
            <a:endParaRPr lang="en-US" sz="2250" dirty="0"/>
          </a:p>
        </p:txBody>
      </p:sp>
      <p:sp>
        <p:nvSpPr>
          <p:cNvPr id="42" name="Shape 4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3" name="Text 4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STACKING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63448" y="723900"/>
            <a:ext cx="80673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· day12_context_stacking_demo.ipynb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893814"/>
            <a:ext cx="9220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現場逐格執行：桌上又多了什麼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90600" y="3741539"/>
            <a:ext cx="8382000" cy="2864941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008239"/>
            <a:ext cx="8023860" cy="23696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14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add_to_desk(role, source, content, why):</a:t>
            </a:r>
            <a:endParaRPr lang="en-US" sz="1800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context.append({"role": role, "source": source,</a:t>
            </a:r>
            <a:endParaRPr lang="en-US" sz="1800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"content": content})</a:t>
            </a:r>
            <a:endParaRPr lang="en-US" sz="1800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print(f"剛加入：{source}")</a:t>
            </a:r>
            <a:endParaRPr lang="en-US" sz="1800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print(f"用途：{why}")</a:t>
            </a:r>
            <a:endParaRPr lang="en-US" sz="1800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print(f"目前工作桌共有 {len(context)} 份資料。")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6835080"/>
            <a:ext cx="863346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這份練習不比較模型答案，也不呼叫任何模型。要看的只有一件事： </a:t>
            </a:r>
            <a:pPr algn="l" indent="0" marL="0">
              <a:lnSpc>
                <a:spcPct val="114872"/>
              </a:lnSpc>
              <a:buNone/>
            </a:pPr>
            <a:r>
              <a:rPr lang="en-US" sz="2100" b="1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每一步，系統又放了什麼資料給模型看？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906000" y="2339876"/>
            <a:ext cx="81305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依序加入桌面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0" y="2811363"/>
            <a:ext cx="7391400" cy="652463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2963763"/>
            <a:ext cx="719404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系統規則：你是旅行助理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906000" y="3578126"/>
            <a:ext cx="7391400" cy="652463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3" name="Text 11"/>
          <p:cNvSpPr/>
          <p:nvPr/>
        </p:nvSpPr>
        <p:spPr>
          <a:xfrm>
            <a:off x="10115550" y="3730526"/>
            <a:ext cx="719404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虛擬記憶：偏好大眾運輸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906000" y="4344888"/>
            <a:ext cx="7391400" cy="652463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5" name="Text 13"/>
          <p:cNvSpPr/>
          <p:nvPr/>
        </p:nvSpPr>
        <p:spPr>
          <a:xfrm>
            <a:off x="10115550" y="4497288"/>
            <a:ext cx="719404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Skill 說明：weather_tool 能做什麼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906000" y="5111651"/>
            <a:ext cx="7391400" cy="652463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5264051"/>
            <a:ext cx="719404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使用者的第一句話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906000" y="5878413"/>
            <a:ext cx="7391400" cy="652463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9" name="Text 17"/>
          <p:cNvSpPr/>
          <p:nvPr/>
        </p:nvSpPr>
        <p:spPr>
          <a:xfrm>
            <a:off x="10115550" y="6030813"/>
            <a:ext cx="719404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呼叫 weather_tool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906000" y="6645176"/>
            <a:ext cx="7391400" cy="652463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115550" y="6797576"/>
            <a:ext cx="719404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Tool Result 回到桌上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906000" y="7450038"/>
            <a:ext cx="28575" cy="792361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125075" y="7450038"/>
            <a:ext cx="7394067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3"/>
              </a:lnSpc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最後一格會印出完整 Context。請聽眾數一數：使用者只打了一句話，桌上有幾份資料？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STACKING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MULTI-TURN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779044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09750" y="3529013"/>
            <a:ext cx="7181850" cy="7667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3719512"/>
            <a:ext cx="6902006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我要做一個給大學生看的 AI 入門課程。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90600" y="4698206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09750" y="4448175"/>
            <a:ext cx="7181850" cy="7667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4638675"/>
            <a:ext cx="6902006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語氣再生活化一點。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90600" y="5617369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809750" y="5367338"/>
            <a:ext cx="7181850" cy="7667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5557838"/>
            <a:ext cx="6902006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把第二章刪掉。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90600" y="6536531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809750" y="6286500"/>
            <a:ext cx="7181850" cy="766763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6477000"/>
            <a:ext cx="6902006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剛才那個例子換成地球科學。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601200" y="3819525"/>
            <a:ext cx="846582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你前面講過的話，也在佔 Context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9601200" y="4686300"/>
            <a:ext cx="792708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到了第四輪，模型不能只看到「換成地球科學」，還要知道前面是哪一份課程、哪些內容已經被修改過。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601200" y="5848350"/>
            <a:ext cx="28575" cy="9144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0" name="Text 18"/>
          <p:cNvSpPr/>
          <p:nvPr/>
        </p:nvSpPr>
        <p:spPr>
          <a:xfrm>
            <a:off x="9839325" y="5848350"/>
            <a:ext cx="768896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聊很久之後覺得 AI 開始忘東忘西，不一定是它突然下班——而是桌上內容越來越多，重要資訊被大量新內容包圍。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STACKING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0556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 RESULT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749451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工具用完，結果也會回到桌上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892451"/>
            <a:ext cx="3819525" cy="1715393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4159151"/>
            <a:ext cx="36566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8250" y="4540151"/>
            <a:ext cx="3656648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2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幫我查台北明天天氣。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4772025" y="3892451"/>
            <a:ext cx="419100" cy="1753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153025" y="3892451"/>
            <a:ext cx="3819525" cy="1715393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00675" y="4159151"/>
            <a:ext cx="36566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00675" y="4540151"/>
            <a:ext cx="3656648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2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決定呼叫 weather_tool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8934450" y="3892451"/>
            <a:ext cx="419100" cy="1753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315450" y="3892451"/>
            <a:ext cx="3819525" cy="1715393"/>
          </a:xfrm>
          <a:prstGeom prst="rect">
            <a:avLst/>
          </a:prstGeom>
          <a:solidFill>
            <a:srgbClr val="C4442B"/>
          </a:solidFill>
          <a:ln w="19050">
            <a:solidFill>
              <a:srgbClr val="C444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63100" y="4159151"/>
            <a:ext cx="36566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D9C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 RESULT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63100" y="4540151"/>
            <a:ext cx="3423952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27"/>
              </a:lnSpc>
              <a:buNone/>
            </a:pPr>
            <a:r>
              <a:rPr lang="en-US" sz="217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台北明天 24–28°C，午後可能下雨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3096875" y="3892451"/>
            <a:ext cx="419100" cy="1753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3477875" y="3892451"/>
            <a:ext cx="3819525" cy="1715393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25525" y="4159151"/>
            <a:ext cx="36566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25525" y="4540151"/>
            <a:ext cx="3423952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2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讀取結果，再決定行程怎麼安排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990600" y="5988844"/>
            <a:ext cx="1255776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工作越久，工具結果就越容易累積。一次查到幾百筆景點、交通與天氣資料，對人不是禮物，對模型通常也不是。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90600" y="7375624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3" name="Text 21"/>
          <p:cNvSpPr/>
          <p:nvPr/>
        </p:nvSpPr>
        <p:spPr>
          <a:xfrm>
            <a:off x="1247775" y="7375624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 Harness 可能需要只保留符合條件的結果，把真正有用的資訊留下來。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STACKING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80418" y="723900"/>
            <a:ext cx="3428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WINDOW ≠ STRATEGY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27647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放得下，不代表應該全部放進去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419475"/>
            <a:ext cx="16306800" cy="17335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724275"/>
            <a:ext cx="171831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老師說可以帶一個資料夾進考場。你很開心地把三年所有講義、作業、搜尋結果和群組聊天紀錄全部印進去。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33500" y="4362450"/>
            <a:ext cx="171831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資料非常完整，考試開始後卻花了四十分鐘找公式在哪一頁。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90600" y="5534025"/>
            <a:ext cx="14676882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40"/>
              </a:lnSpc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Engineering 處理的不是「最多塞得下多少」，而是「哪些資訊現在真的值得佔據模型的注意力」。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90600" y="7130355"/>
            <a:ext cx="7924800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7368480"/>
            <a:ext cx="87172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無關內容太多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0600" y="7892355"/>
            <a:ext cx="87172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重要資訊可能被埋在中間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72600" y="7130355"/>
            <a:ext cx="7924800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7368480"/>
            <a:ext cx="87172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過時指示互相矛盾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72600" y="7892355"/>
            <a:ext cx="87172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模型可能不知道該依循哪一個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STACKING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40–60%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63083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什麼時候該整理桌面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735735"/>
            <a:ext cx="51816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992910"/>
            <a:ext cx="569976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6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90600" y="4888260"/>
            <a:ext cx="56997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複雜、長時間或高風險任務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0600" y="5450235"/>
            <a:ext cx="569976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就值得主動整理了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53200" y="3735735"/>
            <a:ext cx="51816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1" name="Text 9"/>
          <p:cNvSpPr/>
          <p:nvPr/>
        </p:nvSpPr>
        <p:spPr>
          <a:xfrm>
            <a:off x="6553200" y="3992910"/>
            <a:ext cx="569976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6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40–60%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553200" y="4888260"/>
            <a:ext cx="56997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一般任務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53200" y="5450235"/>
            <a:ext cx="569976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當成觀察區間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373573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3992910"/>
            <a:ext cx="569976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6000" dirty="0">
                <a:solidFill>
                  <a:srgbClr val="14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12115800" y="4888260"/>
            <a:ext cx="56997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不要再把「塞更多」當成進步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115800" y="5450235"/>
            <a:ext cx="569976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考慮摘要、分段或開新的工作階段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0600" y="6206505"/>
            <a:ext cx="1295019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這不是硬性門檻。研究已觀察到模型在長 Context 中表現可能下降，但退化點會受模型、任務、資訊位置與雜訊影響——有些任務更早就變差，有些能撐更久。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90600" y="7463805"/>
            <a:ext cx="28575" cy="48763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47775" y="7463805"/>
            <a:ext cx="17680305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真正要觀察的不是百分比，而是模型是否開始漏看限制、重複做過的事，或被不重要的內容帶偏。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STACKING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HARNESS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29905"/>
            <a:ext cx="8908161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Harness 很大一部分工作，是幫模型整理桌面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90600" y="4415805"/>
            <a:ext cx="890816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Harness 可能把整個旅遊網站一口氣倒給模型；另一個先搜尋，只把符合日期與地點的三個景點送進去。一個保留所有搜尋結果；另一個只留符合條件的部分。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90600" y="6035055"/>
            <a:ext cx="951357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模型一樣，工作桌完全不同，成果自然可能不同。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6768480"/>
            <a:ext cx="28575" cy="88389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9" name="Text 7"/>
          <p:cNvSpPr/>
          <p:nvPr/>
        </p:nvSpPr>
        <p:spPr>
          <a:xfrm>
            <a:off x="1228725" y="6768480"/>
            <a:ext cx="8670036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問題也從「我這一句 Prompt 能不能寫得更漂亮」，變成「我能不能在每一次推論以前，都替模型準備一個剛剛好的工作環境」。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0248900" y="2593181"/>
            <a:ext cx="7048500" cy="6810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0" y="2755106"/>
            <a:ext cx="680275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讀取適用的系統規則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248900" y="3378994"/>
            <a:ext cx="7048500" cy="6810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0" y="3540919"/>
            <a:ext cx="680275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保留相關對話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0248900" y="4164806"/>
            <a:ext cx="7048500" cy="6810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0" y="4326731"/>
            <a:ext cx="680275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找出需要的檔案或外部資料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248900" y="4950619"/>
            <a:ext cx="7048500" cy="6810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0" y="5112544"/>
            <a:ext cx="680275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提供可用工具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0248900" y="5736431"/>
            <a:ext cx="7048500" cy="6810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0" y="5898356"/>
            <a:ext cx="680275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把工具結果帶回來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0248900" y="6522244"/>
            <a:ext cx="7048500" cy="681038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477500" y="6684169"/>
            <a:ext cx="680275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壓縮或清理過時內容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0248900" y="7308056"/>
            <a:ext cx="7048500" cy="681038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0" y="7469981"/>
            <a:ext cx="680275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組成下一次模型請求的 Context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POLLUTION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9375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503613" y="4030042"/>
            <a:ext cx="667131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桌面為什麼 會越來越亂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503613" y="6034013"/>
            <a:ext cx="7124700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不是桌子越大，就越適合把東西一直堆上去。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POLLUTION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80418" y="723900"/>
            <a:ext cx="3428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 POLLUTION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502694"/>
            <a:ext cx="7810500" cy="80486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712244"/>
            <a:ext cx="75114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我要做一份「台灣夜市文化」的簡報。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066800" y="3440906"/>
            <a:ext cx="85153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一路討論大綱、資料來源、投影片順序 …… 然後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990600" y="3883819"/>
            <a:ext cx="7810500" cy="7143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4055269"/>
            <a:ext cx="7549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對了，幫我想今天晚餐吃什麼。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90600" y="4731544"/>
            <a:ext cx="7810500" cy="7143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4902994"/>
            <a:ext cx="7549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最近股市綠油油，我可以抄底哪一隻？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5579269"/>
            <a:ext cx="7810500" cy="7143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750719"/>
            <a:ext cx="7549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下個月去東京住上野還是新宿？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6426994"/>
            <a:ext cx="7810500" cy="7143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6598444"/>
            <a:ext cx="7549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剛剛那份履歷的自傳再潤一次。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" y="7274719"/>
            <a:ext cx="7810500" cy="804863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57300" y="7484269"/>
            <a:ext cx="75114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好，回到夜市簡報。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410700" y="3036615"/>
            <a:ext cx="867537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資料不是垃圾，只是放錯桌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9410700" y="3903390"/>
            <a:ext cx="812330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每一題都合理，AI 也都能回答。問題是這張「夜市簡報工作桌」現在同時放了菜單、股票、東京地圖與履歷。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410700" y="5065440"/>
            <a:ext cx="812330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它們未必是錯誤資訊，卻會讓目前任務的主軸變模糊。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10700" y="5770290"/>
            <a:ext cx="7886700" cy="1775371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2" name="Text 20"/>
          <p:cNvSpPr/>
          <p:nvPr/>
        </p:nvSpPr>
        <p:spPr>
          <a:xfrm>
            <a:off x="9578150" y="6017940"/>
            <a:ext cx="7551801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14151A"/>
                </a:solidFill>
                <a:highlight>
                  <a:srgbClr val="E5DBC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一個主要 Context ≈ 一條主要工作線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POLLUTION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0556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 ROT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32124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是有限資源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775124"/>
            <a:ext cx="7886700" cy="259839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3098974"/>
            <a:ext cx="78790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 ROT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52550" y="3537124"/>
            <a:ext cx="787908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內容變長，找對資訊的能力可能變差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352550" y="4165774"/>
            <a:ext cx="7377684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模型仍然「看得到」，只是比較難正確挑出並使用重要的那幾句。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410700" y="2775124"/>
            <a:ext cx="7886700" cy="259839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772650" y="3098974"/>
            <a:ext cx="78790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 POLLUTION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72650" y="3537124"/>
            <a:ext cx="787908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即使視窗更大，干擾仍然存在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72650" y="4165774"/>
            <a:ext cx="7377684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問題不只是長度，而是相關性。無關內容再多空間也還是無關。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90600" y="5754514"/>
            <a:ext cx="1267548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這不是說「多放一個字就壞掉」，而是提醒我們：每一段不相關內容，都可能搶走一點注意力。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90600" y="7107064"/>
            <a:ext cx="1938337" cy="114300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6" name="Shape 14"/>
          <p:cNvSpPr/>
          <p:nvPr/>
        </p:nvSpPr>
        <p:spPr>
          <a:xfrm>
            <a:off x="3043238" y="7152829"/>
            <a:ext cx="1938337" cy="109723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95875" y="7221364"/>
            <a:ext cx="1938337" cy="102870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48513" y="7312819"/>
            <a:ext cx="1938337" cy="93724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Shape 17"/>
          <p:cNvSpPr/>
          <p:nvPr/>
        </p:nvSpPr>
        <p:spPr>
          <a:xfrm>
            <a:off x="9201150" y="7449964"/>
            <a:ext cx="1938337" cy="8001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53788" y="7610029"/>
            <a:ext cx="1938337" cy="64003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3306425" y="7747174"/>
            <a:ext cx="1938337" cy="50289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5359063" y="7838629"/>
            <a:ext cx="1938337" cy="41143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8631064"/>
            <a:ext cx="179374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 長度 → 可靠地用對資訊的能力 ↓（示意，非實測數據）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POLLUTION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97199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HOUSEKEEPING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748087"/>
            <a:ext cx="909447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小岔題沒關係，新專案就開新的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681538"/>
            <a:ext cx="851573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小岔題不用每次都另開對話；但如果要開始一個會持續討論的新專案，開新 Chat 通常更乾淨。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90600" y="5862638"/>
            <a:ext cx="851573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硬碟很大，不代表所有檔案都該放 Desktop；Context Window 很長，也不代表所有對話都該塞進同一串。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867900" y="3862387"/>
            <a:ext cx="7429500" cy="285750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10248900" y="4205288"/>
            <a:ext cx="7334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夜市簡報/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248900" y="4786313"/>
            <a:ext cx="7334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日本旅遊/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8900" y="5367338"/>
            <a:ext cx="7334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履歷/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8900" y="5948363"/>
            <a:ext cx="7334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電腦疑難排解/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POLLUTION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 SEARCH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407965"/>
            <a:ext cx="627888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36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為什麼「叫 AI 上網查」特別容易弄亂主 Context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3760515"/>
            <a:ext cx="6096000" cy="29241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4008165"/>
            <a:ext cx="5707380" cy="2466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主 Agent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↓ 搜尋景點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↓ 打開很多網頁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↓ 讀飯店、交通、評論與地圖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↓ 把所有 Tool Results 留在 Context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↓ 整理行程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90600" y="6894240"/>
            <a:ext cx="6278880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最後的行程可能只有 500 字，但過程讀進來的內容非常多，而且大部分只是「為了查到答案而暫時看過」。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20000" y="2556346"/>
            <a:ext cx="106451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真正該留在桌上的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0" y="3084984"/>
            <a:ext cx="9677400" cy="430470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7924800" y="3351684"/>
            <a:ext cx="9358122" cy="38094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台南三日行程：已確認事項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住宿：A 區交通方便；入住規則已確認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交通：第一天搭火車，市區公車與步行較順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雨天備案：博物館與室內市集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仍要確認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某間店今天是否營業，出發前再查一次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來源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官方交通資訊 / 旅館官方頁面 / 景點公告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0" y="7599238"/>
            <a:ext cx="28575" cy="42669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3" name="Text 11"/>
          <p:cNvSpPr/>
          <p:nvPr/>
        </p:nvSpPr>
        <p:spPr>
          <a:xfrm>
            <a:off x="7858125" y="7599238"/>
            <a:ext cx="1040701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這不是把細節偷偷刪掉，而是把細節變成「可追查的來源」。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POLLUTION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80418" y="723900"/>
            <a:ext cx="3428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 ISOLATION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423666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派一位研究助理出去，但別把整間圖書館搬回來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804791"/>
            <a:ext cx="3200400" cy="1833563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7300" y="4090541"/>
            <a:ext cx="2933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主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4523929"/>
            <a:ext cx="274701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71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守著整份行程的目標與限制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029075" y="3433316"/>
            <a:ext cx="10267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任務 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95800" y="3866704"/>
            <a:ext cx="9334500" cy="17097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4781550" y="4114354"/>
            <a:ext cx="96393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RESEARCH SUBAGENT · 自己的工作桌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81550" y="4528691"/>
            <a:ext cx="902589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搜尋與閱讀資料 · 比較多個來源 · 記錄矛盾與不確定處 · 走錯路的紀錄 · 404 頁面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029075" y="5690741"/>
            <a:ext cx="10267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← 精簡摘要 + 證據 —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135100" y="3823841"/>
            <a:ext cx="3162300" cy="1795463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4382750" y="4090541"/>
            <a:ext cx="2933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D9C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回到主 AGENT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382750" y="4523929"/>
            <a:ext cx="274701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71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只帶回對決策有用的摘要、來源與風險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90600" y="6352729"/>
            <a:ext cx="13185648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 Agent 說：「請查台南雨天景點，只回報開放時間、位置、適合原因與官方來源。」研究助理自己去翻資料，主 Agent 的桌面不會跟著被塞滿。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90600" y="7701409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701409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 公開介紹過它的多 Agent 研究系統：主 Agent 規畫方向，再派多個 Subagent 分頭搜尋，各自整理後交回綜合。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POLLUTION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92312" y="723900"/>
            <a:ext cx="352559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 · 台南一日遊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2863007"/>
            <a:ext cx="9220200" cy="4908649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6" name="Text 4"/>
          <p:cNvSpPr/>
          <p:nvPr/>
        </p:nvSpPr>
        <p:spPr>
          <a:xfrm>
            <a:off x="1314450" y="3148757"/>
            <a:ext cx="8849106" cy="437524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請把台南一日遊的資料蒐集拆成兩個子任務：</a:t>
            </a: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-  </a:t>
            </a: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subagent_1 </a:t>
            </a:r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：搜尋明天台南市區天氣與降雨機率，</a:t>
            </a: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  只使用官方氣象來源；回傳上午、下午、晚上摘要，</a:t>
            </a: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  再給一項穿著或雨具建議，附來源網址。</a:t>
            </a: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-  </a:t>
            </a: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subagent_2 </a:t>
            </a:r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：搜尋台南市區適合午餐的在地小吃，</a:t>
            </a: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  優先找店家或官方觀光資訊；回傳 3 個選項、營業時間、</a:t>
            </a: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  大概位置與來源網址；無法確認營業時間標示「待確認」。</a:t>
            </a: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等兩份結果回來後，請整合成一份一日行程； </a:t>
            </a:r>
            <a:endParaRPr lang="en-US" sz="1725" dirty="0"/>
          </a:p>
          <a:p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不要把搜尋過程全文貼回來</a:t>
            </a:r>
            <a:pPr algn="l" indent="0" marL="0">
              <a:lnSpc>
                <a:spcPct val="140556"/>
              </a:lnSpc>
              <a:buNone/>
            </a:pPr>
            <a:r>
              <a:rPr lang="en-US" sz="172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，只保留結論、來源和不確定處。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0744200" y="3193331"/>
            <a:ext cx="720852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36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那我到底怎麼「叫」Subagent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744200" y="3993431"/>
            <a:ext cx="674979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不是每個聊天工具看到 </a:t>
            </a:r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subagent_1 </a:t>
            </a:r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就會真的派出子 Agent。你得用本身支援多 Agent 的工具。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744200" y="5075411"/>
            <a:ext cx="6749796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這兩個名字不厲害，只是方便我們辨認兩份工作。有些系統能依自然語言自行委派，有些需要在程式或設定檔中明確建立。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744200" y="6584082"/>
            <a:ext cx="28575" cy="85725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1" name="Text 9"/>
          <p:cNvSpPr/>
          <p:nvPr/>
        </p:nvSpPr>
        <p:spPr>
          <a:xfrm>
            <a:off x="10982325" y="6584082"/>
            <a:ext cx="651167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不管工具介面怎麼變，清楚的任務說明都一樣重要。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POLLUTION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DECOMPOSITION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515567"/>
            <a:ext cx="9300591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 Agent 之後，是不是只要說「幫我弄好」？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90600" y="4001467"/>
            <a:ext cx="930059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可以協助你拆解問題，但你仍需要知道最後要做哪個決定，以及決定需要哪些資訊。想安排台南一日遊，至少要想到天氣影響室內或戶外、美食要看地點與營業時間——因此才會知道要分成兩個子任務。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600" y="5620717"/>
            <a:ext cx="28575" cy="9144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8" name="Text 6"/>
          <p:cNvSpPr/>
          <p:nvPr/>
        </p:nvSpPr>
        <p:spPr>
          <a:xfrm>
            <a:off x="1228725" y="5620717"/>
            <a:ext cx="90624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像你去醫院前，知道要描述哪裡不舒服、何時開始、什麼情況會更嚴重。醫師仍是專家，但你的描述會決定檢查方向。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90600" y="6782767"/>
            <a:ext cx="9029700" cy="128394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7011367"/>
            <a:ext cx="8767191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還不知道怎麼拆時：「我要規畫台南一日遊。請先不要搜尋，先告訴我需要確認哪些問題，以及哪些可以各自交給 Subagent。」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629900" y="2717006"/>
            <a:ext cx="6667500" cy="8191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10896600" y="2926556"/>
            <a:ext cx="6334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我想完成什麼？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296525" y="3669506"/>
            <a:ext cx="73342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629900" y="4160044"/>
            <a:ext cx="6667500" cy="8191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0896600" y="4369594"/>
            <a:ext cx="6334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要靠哪些資訊做決定？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296525" y="5112544"/>
            <a:ext cx="73342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629900" y="5603081"/>
            <a:ext cx="6667500" cy="8191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8" name="Text 16"/>
          <p:cNvSpPr/>
          <p:nvPr/>
        </p:nvSpPr>
        <p:spPr>
          <a:xfrm>
            <a:off x="10896600" y="5812631"/>
            <a:ext cx="6334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哪些部分可以各自獨立查？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296525" y="6555581"/>
            <a:ext cx="73342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629900" y="7046119"/>
            <a:ext cx="6667500" cy="81915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896600" y="7255669"/>
            <a:ext cx="6334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每位 Subagent 應交回什麼？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POLLUTION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730487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TO REPORT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167063"/>
            <a:ext cx="69151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研究 Subagent 走過的路線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0600" y="3695700"/>
            <a:ext cx="6286500" cy="6524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3848100"/>
            <a:ext cx="605599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7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搜尋 1 → 找到舊公告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0600" y="4462463"/>
            <a:ext cx="6286500" cy="6524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614863"/>
            <a:ext cx="605599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7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搜尋 2 → 網頁 404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90600" y="5229225"/>
            <a:ext cx="6286500" cy="6524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1200150" y="5381625"/>
            <a:ext cx="605599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7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搜尋 3 → 發現店家已歇業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90600" y="5995988"/>
            <a:ext cx="6286500" cy="6524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6148388"/>
            <a:ext cx="605599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7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搜尋 4 → 找到官方 FAQ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90600" y="6762750"/>
            <a:ext cx="6286500" cy="652463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00150" y="6915150"/>
            <a:ext cx="605599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搜尋 5 → 找到最新公告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810500" y="3458542"/>
            <a:ext cx="1043559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 Agent 不需要知道研究員撞過幾次牆</a:t>
            </a:r>
            <a:endParaRPr lang="en-US" sz="3900" dirty="0"/>
          </a:p>
        </p:txBody>
      </p:sp>
      <p:sp>
        <p:nvSpPr>
          <p:cNvPr id="17" name="Shape 15"/>
          <p:cNvSpPr/>
          <p:nvPr/>
        </p:nvSpPr>
        <p:spPr>
          <a:xfrm>
            <a:off x="7810500" y="4325317"/>
            <a:ext cx="9486900" cy="96202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8" name="Text 16"/>
          <p:cNvSpPr/>
          <p:nvPr/>
        </p:nvSpPr>
        <p:spPr>
          <a:xfrm>
            <a:off x="8115300" y="4592017"/>
            <a:ext cx="916190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官方公告是目前採用的來源；舊公告已過期，歇業店家不納入行程。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810500" y="5534992"/>
            <a:ext cx="9771507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這些過程對研究者很重要——它要判斷最後該信哪個來源；但主 Agent 通常不需要逐筆重播。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810500" y="6666533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1" name="Text 19"/>
          <p:cNvSpPr/>
          <p:nvPr/>
        </p:nvSpPr>
        <p:spPr>
          <a:xfrm>
            <a:off x="8048625" y="6666533"/>
            <a:ext cx="101974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過程中有用的資訊，不等於後續每一步都還有用。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POLLUTION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TABLE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819721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不是所有事都值得派 Subagent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281809"/>
            <a:ext cx="9753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829371"/>
            <a:ext cx="1004620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工作特性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201400" y="3281809"/>
            <a:ext cx="60960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0" y="2829371"/>
            <a:ext cx="6278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較適合的做法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" y="4134296"/>
            <a:ext cx="97536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510409"/>
            <a:ext cx="100462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要查很多資料，最後只需要結論與來源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11201400" y="4134296"/>
            <a:ext cx="6096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11201400" y="3510409"/>
            <a:ext cx="6278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交給 Subagent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990600" y="4977259"/>
            <a:ext cx="97536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4353371"/>
            <a:ext cx="100462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會產生大量 Log、網頁或檔案內容</a:t>
            </a:r>
            <a:endParaRPr lang="en-US" sz="2325" dirty="0"/>
          </a:p>
        </p:txBody>
      </p:sp>
      <p:sp>
        <p:nvSpPr>
          <p:cNvPr id="16" name="Shape 14"/>
          <p:cNvSpPr/>
          <p:nvPr/>
        </p:nvSpPr>
        <p:spPr>
          <a:xfrm>
            <a:off x="11201400" y="4977259"/>
            <a:ext cx="6096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11201400" y="4353371"/>
            <a:ext cx="6278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交給 Subagent</a:t>
            </a:r>
            <a:endParaRPr lang="en-US" sz="2325" dirty="0"/>
          </a:p>
        </p:txBody>
      </p:sp>
      <p:sp>
        <p:nvSpPr>
          <p:cNvPr id="18" name="Shape 16"/>
          <p:cNvSpPr/>
          <p:nvPr/>
        </p:nvSpPr>
        <p:spPr>
          <a:xfrm>
            <a:off x="990600" y="5820221"/>
            <a:ext cx="97536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5196334"/>
            <a:ext cx="100462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必須一直參考剛才的決策、反覆討論</a:t>
            </a:r>
            <a:endParaRPr lang="en-US" sz="2325" dirty="0"/>
          </a:p>
        </p:txBody>
      </p:sp>
      <p:sp>
        <p:nvSpPr>
          <p:cNvPr id="20" name="Shape 18"/>
          <p:cNvSpPr/>
          <p:nvPr/>
        </p:nvSpPr>
        <p:spPr>
          <a:xfrm>
            <a:off x="11201400" y="5820221"/>
            <a:ext cx="6096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11201400" y="5196334"/>
            <a:ext cx="6278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留在主 Agent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990600" y="6039296"/>
            <a:ext cx="100462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改一個小地方，交代成本比工作還大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11201400" y="6039296"/>
            <a:ext cx="6278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留在主 Agent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990600" y="7006084"/>
            <a:ext cx="1267548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所以問題不是「要不要用 Subagent」，而是：這段工作產生的中間資訊，之後還需要一直被主線使用嗎？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90600" y="8320534"/>
            <a:ext cx="28575" cy="44194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6" name="Text 24"/>
          <p:cNvSpPr/>
          <p:nvPr/>
        </p:nvSpPr>
        <p:spPr>
          <a:xfrm>
            <a:off x="1247775" y="8320534"/>
            <a:ext cx="1768030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把同一份 Context 複製給十個 Agent，不會自動得到十倍智慧；有時只會得到十個一起找不到便當訂單的人。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COMPACTION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75092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486647" y="4205288"/>
            <a:ext cx="712470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學會適度忘記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486647" y="5340623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上一章問「AI 還需要知道什麼」；這一章多問一題：哪些東西不必一直留在它眼前？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30252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COMPACTION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200090" y="723900"/>
            <a:ext cx="11735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壓縮整理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65941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長任務沒離題，還是可能塞滿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669060"/>
            <a:ext cx="1657350" cy="6143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3802410"/>
            <a:ext cx="13144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使用者要求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762250" y="3802410"/>
            <a:ext cx="3238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3124200" y="3669060"/>
            <a:ext cx="1409700" cy="6143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3333750" y="3802410"/>
            <a:ext cx="10668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模型分析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648200" y="3802410"/>
            <a:ext cx="3238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010150" y="3700016"/>
            <a:ext cx="1761009" cy="5524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5219700" y="3833366"/>
            <a:ext cx="14181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File Read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885459" y="3802410"/>
            <a:ext cx="3238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247409" y="3700016"/>
            <a:ext cx="1761009" cy="5524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6" name="Text 14"/>
          <p:cNvSpPr/>
          <p:nvPr/>
        </p:nvSpPr>
        <p:spPr>
          <a:xfrm>
            <a:off x="7456959" y="3833366"/>
            <a:ext cx="14181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 Call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22718" y="3802410"/>
            <a:ext cx="3238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484668" y="3700016"/>
            <a:ext cx="2059186" cy="5524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9" name="Text 17"/>
          <p:cNvSpPr/>
          <p:nvPr/>
        </p:nvSpPr>
        <p:spPr>
          <a:xfrm>
            <a:off x="9694218" y="3833366"/>
            <a:ext cx="17162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 Result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658154" y="3802410"/>
            <a:ext cx="3238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020104" y="3669060"/>
            <a:ext cx="1657350" cy="6143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2" name="Text 20"/>
          <p:cNvSpPr/>
          <p:nvPr/>
        </p:nvSpPr>
        <p:spPr>
          <a:xfrm>
            <a:off x="12229654" y="3802410"/>
            <a:ext cx="13144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修改與測試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791754" y="3802410"/>
            <a:ext cx="3238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4153704" y="3669060"/>
            <a:ext cx="1162050" cy="614363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5" name="Text 23"/>
          <p:cNvSpPr/>
          <p:nvPr/>
        </p:nvSpPr>
        <p:spPr>
          <a:xfrm>
            <a:off x="14363254" y="3802410"/>
            <a:ext cx="8191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下一輪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90600" y="4626322"/>
            <a:ext cx="7886700" cy="2518321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27" name="Text 25"/>
          <p:cNvSpPr/>
          <p:nvPr/>
        </p:nvSpPr>
        <p:spPr>
          <a:xfrm>
            <a:off x="1333500" y="4931122"/>
            <a:ext cx="792099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保留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33500" y="5431185"/>
            <a:ext cx="7416927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28"/>
              </a:lnSpc>
              <a:buNone/>
            </a:pPr>
            <a:r>
              <a:rPr lang="en-US" sz="217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目標 · 已完成工作 · 重要決策 失敗嘗試 · 未解問題 · 下一步 關鍵檔案與證據位置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9410700" y="4626322"/>
            <a:ext cx="7886700" cy="2518321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30" name="Text 28"/>
          <p:cNvSpPr/>
          <p:nvPr/>
        </p:nvSpPr>
        <p:spPr>
          <a:xfrm>
            <a:off x="9753600" y="4931122"/>
            <a:ext cx="792099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移除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753600" y="5431185"/>
            <a:ext cx="7416927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28"/>
              </a:lnSpc>
              <a:buNone/>
            </a:pPr>
            <a:r>
              <a:rPr lang="en-US" sz="21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重複對話 已不需要的原始 Tool Output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990600" y="7487543"/>
            <a:ext cx="28575" cy="48763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33" name="Text 31"/>
          <p:cNvSpPr/>
          <p:nvPr/>
        </p:nvSpPr>
        <p:spPr>
          <a:xfrm>
            <a:off x="1247775" y="7487543"/>
            <a:ext cx="17680305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它不是「把以前全部忘記」，而是寫一張換人也接得下去的交班便條。真正困難的是留下什麼，不是把字數砍半。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5" name="Text 3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30252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COMPACTION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366602" y="723900"/>
            <a:ext cx="322387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 · 交班便條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95204"/>
            <a:ext cx="54940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好摘要不是短摘要，而是能讓下一位接手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90600" y="4762054"/>
            <a:ext cx="58674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十次嘗試，前九次失敗。糟糕的摘要：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5309741"/>
            <a:ext cx="5334000" cy="947737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5557391"/>
            <a:ext cx="4922520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最後方案成功。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90600" y="6486079"/>
            <a:ext cx="28575" cy="85338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228725" y="6486079"/>
            <a:ext cx="525589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下一位接手的人（或明天的你）會把已經證明行不通的方法再做一次。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58000" y="3554016"/>
            <a:ext cx="10439400" cy="3526631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7200900" y="3858816"/>
            <a:ext cx="10066782" cy="29551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目標：讓會員能重設密碼。</a:t>
            </a:r>
            <a:endParaRPr lang="en-US" sz="1875" dirty="0"/>
          </a:p>
          <a:p>
            <a:pPr algn="l" indent="0" marL="0">
              <a:lnSpc>
                <a:spcPct val="150862"/>
              </a:lnSpc>
              <a:buNone/>
            </a:pPr>
            <a:endParaRPr lang="en-US" sz="1875" dirty="0"/>
          </a:p>
          <a:p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已完成：寄信流程可正常發送。</a:t>
            </a:r>
            <a:endParaRPr lang="en-US" sz="1875" dirty="0"/>
          </a:p>
          <a:p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已決定：重設連結有效期為 30 分鐘。 </a:t>
            </a:r>
            <a:endParaRPr lang="en-US" sz="1875" dirty="0"/>
          </a:p>
          <a:p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已排除：舊 API 不支援目前的驗證方式，勿再使用。 </a:t>
            </a:r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目前問題：手機版按鈕太窄。</a:t>
            </a:r>
            <a:endParaRPr lang="en-US" sz="1875" dirty="0"/>
          </a:p>
          <a:p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下一步：修正版面後測試小螢幕。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0252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COMPACTION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6930" y="723900"/>
            <a:ext cx="54455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· day13_practice.ipynb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06576"/>
            <a:ext cx="85915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36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現場執行：50 字摘要會帶走什麼？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90600" y="3987626"/>
            <a:ext cx="3486150" cy="1300163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4197176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原始故事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38250" y="4582939"/>
            <a:ext cx="32899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3900" dirty="0">
                <a:solidFill>
                  <a:srgbClr val="EF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285 字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4705350" y="4418633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314950" y="3987626"/>
            <a:ext cx="3486150" cy="1300163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1" name="Text 9"/>
          <p:cNvSpPr/>
          <p:nvPr/>
        </p:nvSpPr>
        <p:spPr>
          <a:xfrm>
            <a:off x="5562600" y="4197176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D9C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Qwen 摘要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5562600" y="4582939"/>
            <a:ext cx="32899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3900" dirty="0">
                <a:solidFill>
                  <a:srgbClr val="EF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字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990600" y="5497339"/>
            <a:ext cx="7810500" cy="1257300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5725939"/>
            <a:ext cx="75114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阿明冒雨還失物雖錯過志工面談，卻獲改期，並助陳伯伯趕上父親生日。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90600" y="6964189"/>
            <a:ext cx="859155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2025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讀起來很順。但九個預設的重要元素裡，有五個找不到預設詞。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334500" y="3043238"/>
            <a:ext cx="87591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現場一起回答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0" y="4062412"/>
            <a:ext cx="79629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500" y="3552825"/>
            <a:ext cx="820178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摘要保留了事件主線嗎？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334500" y="4724400"/>
            <a:ext cx="79629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0" name="Text 18"/>
          <p:cNvSpPr/>
          <p:nvPr/>
        </p:nvSpPr>
        <p:spPr>
          <a:xfrm>
            <a:off x="9334500" y="4214813"/>
            <a:ext cx="820178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哪個遺失元素會改變你對主角行為的理解？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334500" y="5386388"/>
            <a:ext cx="79629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0" y="4876800"/>
            <a:ext cx="820178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下一位 Agent 要判斷「面談是否重約」，只看 50 字夠嗎？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9334500" y="6048375"/>
            <a:ext cx="79629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4" name="Text 22"/>
          <p:cNvSpPr/>
          <p:nvPr/>
        </p:nvSpPr>
        <p:spPr>
          <a:xfrm>
            <a:off x="9334500" y="5538788"/>
            <a:ext cx="820178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把提示改成「優先保留時間、地點與待辦」，這次又遺失什麼？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9334500" y="6200775"/>
            <a:ext cx="875919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如果是一場會議錄音的摘要，你會要求留下哪幾項？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9334500" y="6777038"/>
            <a:ext cx="28575" cy="762000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27" name="Text 25"/>
          <p:cNvSpPr/>
          <p:nvPr/>
        </p:nvSpPr>
        <p:spPr>
          <a:xfrm>
            <a:off x="9553575" y="6777038"/>
            <a:ext cx="798271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75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命中數不是模型分數。模型可能用同義詞說對了，卻被判成未命中——要用人的眼睛看。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0252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COMPACTION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47131" y="723900"/>
            <a:ext cx="30252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EDITOR-IN-CHIEF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67038"/>
            <a:ext cx="9104376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Harness 不是一直餵資料，而是當資訊總編輯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90600" y="4452938"/>
            <a:ext cx="91043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 Model 是負責思考的人，Harness 很像坐在門口整理公文的人。什麼都直接往辦公室裡丟，再聰明的人也可能找不到桌面。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600" y="5614988"/>
            <a:ext cx="28575" cy="400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8" name="Text 6"/>
          <p:cNvSpPr/>
          <p:nvPr/>
        </p:nvSpPr>
        <p:spPr>
          <a:xfrm>
            <a:off x="1209675" y="5614988"/>
            <a:ext cx="95040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這篇全文先不要搬進來，留網址即可。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90600" y="6148388"/>
            <a:ext cx="28575" cy="400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0" name="Text 8"/>
          <p:cNvSpPr/>
          <p:nvPr/>
        </p:nvSpPr>
        <p:spPr>
          <a:xfrm>
            <a:off x="1209675" y="6148388"/>
            <a:ext cx="95040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這個錯誤會影響下一步，要留下。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90600" y="6681788"/>
            <a:ext cx="28575" cy="400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2" name="Text 10"/>
          <p:cNvSpPr/>
          <p:nvPr/>
        </p:nvSpPr>
        <p:spPr>
          <a:xfrm>
            <a:off x="1209675" y="6681788"/>
            <a:ext cx="95040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這些搜尋交給研究助理。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90600" y="7215188"/>
            <a:ext cx="28575" cy="40005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09675" y="7215188"/>
            <a:ext cx="95040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目前工作快太長了，先做一份交接摘要。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39400" y="2333625"/>
            <a:ext cx="6858000" cy="8048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6" name="Text 14"/>
          <p:cNvSpPr/>
          <p:nvPr/>
        </p:nvSpPr>
        <p:spPr>
          <a:xfrm>
            <a:off x="10706100" y="2543175"/>
            <a:ext cx="65303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 Agent 定義子任務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0096500" y="3271838"/>
            <a:ext cx="7543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439400" y="3738563"/>
            <a:ext cx="6858000" cy="8048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9" name="Text 17"/>
          <p:cNvSpPr/>
          <p:nvPr/>
        </p:nvSpPr>
        <p:spPr>
          <a:xfrm>
            <a:off x="10706100" y="3948113"/>
            <a:ext cx="65303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Subagent 在獨立 Context 探索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0096500" y="4676775"/>
            <a:ext cx="7543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439400" y="5143500"/>
            <a:ext cx="6858000" cy="804863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2" name="Text 20"/>
          <p:cNvSpPr/>
          <p:nvPr/>
        </p:nvSpPr>
        <p:spPr>
          <a:xfrm>
            <a:off x="10706100" y="5353050"/>
            <a:ext cx="65303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回傳 Summary / Evidence / Uncertainty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0096500" y="6081713"/>
            <a:ext cx="7543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439400" y="6548438"/>
            <a:ext cx="6858000" cy="80486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25" name="Text 23"/>
          <p:cNvSpPr/>
          <p:nvPr/>
        </p:nvSpPr>
        <p:spPr>
          <a:xfrm>
            <a:off x="10706100" y="6757988"/>
            <a:ext cx="65303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 Agent 只用必要內容繼續推理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0439400" y="7486650"/>
            <a:ext cx="70637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75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OpenAI Agents SDK 把交接（Handoff）做成可設計的選項：預設帶對話歷史，但開發者可以改變它實際看到的內容。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PAUSE &amp; THINK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86125"/>
            <a:ext cx="9104376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57"/>
              </a:lnSpc>
              <a:buNone/>
            </a:pPr>
            <a:r>
              <a:rPr lang="en-US" sz="45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Engineering 不只是記憶工程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90600" y="5076825"/>
            <a:ext cx="972312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42"/>
              </a:lnSpc>
              <a:buNone/>
            </a:pPr>
            <a:r>
              <a:rPr lang="en-US" sz="2850" b="1" dirty="0">
                <a:solidFill>
                  <a:srgbClr val="F25F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它也是選擇、隔離、壓縮與遺忘的工程。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90600" y="5924550"/>
            <a:ext cx="9104376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知道什麼時候該搜尋，是能力；知道搜尋結果哪些該留下，也是能力。知道何時找研究助理、何時另開一個對話、何時寫好交接摘要，都是其中一部分。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39400" y="3321844"/>
            <a:ext cx="75438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可用的 Agent，通常還要減去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39400" y="3793331"/>
            <a:ext cx="6858000" cy="781050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0" name="Text 8"/>
          <p:cNvSpPr/>
          <p:nvPr/>
        </p:nvSpPr>
        <p:spPr>
          <a:xfrm>
            <a:off x="10687050" y="3983831"/>
            <a:ext cx="65684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－ 不相關資訊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39400" y="4688681"/>
            <a:ext cx="6858000" cy="781050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2" name="Text 10"/>
          <p:cNvSpPr/>
          <p:nvPr/>
        </p:nvSpPr>
        <p:spPr>
          <a:xfrm>
            <a:off x="10687050" y="4879181"/>
            <a:ext cx="65684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－ 過時資訊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39400" y="5584031"/>
            <a:ext cx="6858000" cy="781050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4" name="Text 12"/>
          <p:cNvSpPr/>
          <p:nvPr/>
        </p:nvSpPr>
        <p:spPr>
          <a:xfrm>
            <a:off x="10687050" y="5774531"/>
            <a:ext cx="65684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－ 重複資訊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439400" y="6479381"/>
            <a:ext cx="6858000" cy="78105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10687050" y="6669881"/>
            <a:ext cx="65684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－ 不需要回傳的中間過程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804541"/>
            <a:ext cx="9220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帶走五句話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90600" y="3204716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671316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你打的 Prompt 很重要，但它已經不是全部。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90600" y="3890516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357116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好的 Context 不是最長的，而是現在剛好需要的。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90600" y="4576316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4042916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一個主要 Context ≈ 一條主要工作線。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5262116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728716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過程中有用的資訊，不等於後續每一步都還有用。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0600" y="5414516"/>
            <a:ext cx="9220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好摘要不是短摘要，而是能讓下一位接手。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90600" y="6062216"/>
            <a:ext cx="28575" cy="85338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" y="6062216"/>
            <a:ext cx="839533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下一場離開 Context Engineering，來看個人怎麼實際使用 OpenAI、Anthropic、Google、Ollama 與其他產品。</a:t>
            </a:r>
            <a:endParaRPr lang="en-US" sz="2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7163246"/>
            <a:ext cx="1428750" cy="154781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982200" y="2157413"/>
            <a:ext cx="7315200" cy="62007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9" name="Text 16"/>
          <p:cNvSpPr/>
          <p:nvPr/>
        </p:nvSpPr>
        <p:spPr>
          <a:xfrm>
            <a:off x="10306050" y="2443163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306050" y="2843213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Effective context engineering for AI agents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306050" y="3324225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Claude Code: session management and 1M context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306050" y="4152900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custom subagents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（Claude Code Docs）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306050" y="4633913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built our multi-agent research system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306050" y="5114925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OpenAI.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Handoffs — OpenAI Agents SDK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306050" y="5595938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Liu, N. F., et al. (2024).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in the Middle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arXiv:2307.03172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306050" y="6076950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Wang, W., Min, J., &amp; Zou, W. (2026).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Degradation in Long-Context LLMs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arXiv:2601.15300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306050" y="6905625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HumanLayer.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Context Engineering for Coding Agents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306050" y="7386638"/>
            <a:ext cx="68675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練習：day12_context_stacking_demo.ipynb · day13_practice.ipynb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90600" y="93440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505950"/>
            <a:ext cx="1277615" cy="24765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7065079" y="9539288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2026-08-12T07:47:07Z</dcterms:created>
  <dcterms:modified xsi:type="dcterms:W3CDTF">2026-08-12T07:47:07Z</dcterms:modified>
</cp:coreProperties>
</file>