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開場：上一場談格式，這場回到自然語言。核心問題只有一個——怎麼把一件工作交代清楚。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分鐘：交代 20 分、迭代 20 分（含 Live Demo）、Harness 10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章節頁。AI 不會因為我們心裡想得很清楚，就自動通靈你的腦袋。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這三句都是中文，卻沒有真的把工作交代清楚。可以請聽眾當場回答：這裡的「整理」是什麼意思？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看久了會懷疑：使用 AI 是在交代工作，還是在召喚儀式？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不同框架欄位不同，先不用背縮寫。一個能讓 AI 開始工作的 Prompt，至少要回答這四個。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這段沒有魔法，只是把模糊的工作說明拆開。AI 仍可能犯錯，但不必同時猜三件事。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年 Sheila Teo 在新加坡政府科技局的 Prompt 大賽以 CO-STAR 奪冠。先把它當檢查表。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最容易被忽略：同樣解釋 Transformer，寫給研究生、地科系學生與國中生完全不同。沒有受眾，AI 只能自己挑讀者。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DEMO：同一份會議紀錄，現場依序貼三種問法，讓聽眾看輸出怎麼變。第三版可以再追加「改成給老闆看的一頁摘要」。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若連簡單需求都寫成六欄，原本三秒能交代完的事，就突然像在填政府標案文件。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 Prompt 的問題不是任務說錯，而是沒交代工作做完後要送去哪裡。這一頁回扣上一場的格式選擇。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重點不是把思考外包，而是把 AI 當成需求訪談者。有時候我們不是不會寫 Prompt，而是還沒想清楚要什麼。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一句「你是醫師」不會替模型增加最新醫學知識；一句「你是通靈王」，也不會讓 AI 接上你的腦袋。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工作單寫得好，師傅比較不容易跑錯地方；但完工後，屋主還是要驗收。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課堂練習，抓 5 分鐘：先給 2 分鐘各自改寫，再請兩三位念出來，當場貼進 AI 跑一次比較。重點是問他們補了哪一格。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章節頁。理論上 Prompt 寫得越完整越好，然後現實會很有禮貌地走過來說：不一定。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DEMO：播放自己做的影片（2026 NVIDIA 活動聽林思翰導演分享後的實驗）。一版一版播，讓聽眾先講哪裡不對。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流程說起來不難，真正困難的是：你看不看得出來哪裡需要改？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這頁是全場最實用的一張。可以停久一點，請聽眾對照自己最近一次不滿意的輸出，是落在哪一列。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模型能力越強，人的能力並沒有變得不重要，只是人的工作開始往上移。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如果連自己都不知道要什麼，AI 就會用一堆腦補來產生東西；使用者一路開綠燈，最後只是被吊起來的操線木偶。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果醬吐司那支影片：人以為說清楚了，其實省略了一堆步驟。導入 AI 的起點，就從那個最想遞辭職單的時刻找。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章節頁。到這裡我們其實還只是在談最簡單的互動。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在 Agent 評估中把 Agent Harness（Scaffold）定義成讓模型能以 Agent 方式運作的系統；OpenAI 新版 Agents SDK 用 model-native harness 這個概念。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有點像車子方向盤鬆掉，處理方式卻是換一顆更大的引擎。馬力增加了，方向盤還是鬆的。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數位時代整理 Claude Code 負責人 Boris Cherny 的實務經驗：曾大幅縮減系統提示，用刪除、使用、再視重複失敗補回的方式檢查規則是否還有價值。這是特定產品的經驗，不代表每個系統都該照做。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不是每天坐在電腦前研究：「請」改成「務必」會不會讓準確率多 3%。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1–2 分鐘。表面上是 Prompt 越寫越完整，另一個角度看，是我們透過 AI 的輸出逐漸看清楚自己真正想要什麼。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收束：下一場先處理安全議題，再往 Context Engineering、MCP、Skill 與 Agent 架構走。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30600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28700"/>
            <a:ext cx="30600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素養入門 · 公開講座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576496" y="766763"/>
            <a:ext cx="37209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76496" y="1109663"/>
            <a:ext cx="37209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× ITERATION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225626"/>
            <a:ext cx="1216533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交代工作， 然後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學會驗收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990600" y="5816426"/>
            <a:ext cx="6337745" cy="159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Engineering 不是研究神奇咒語，而是把腦中的需求，轉成能執行、也能驗收的工作說明。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7885212"/>
            <a:ext cx="609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7713762"/>
            <a:ext cx="3039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張睿明 ／ AIMing Data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0" y="3719512"/>
            <a:ext cx="2857500" cy="30956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26902" y="7081838"/>
            <a:ext cx="2730996" cy="509587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0"/>
          <p:cNvSpPr/>
          <p:nvPr/>
        </p:nvSpPr>
        <p:spPr>
          <a:xfrm>
            <a:off x="14274552" y="7215188"/>
            <a:ext cx="2317626" cy="280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 JUI-MING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065079" y="952023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658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把工作交代清楚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四個必答問題、CO-STAR，以及什麼時候不必填完整張表。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好的 Prompt 是改出來的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觀察落差、修改、再試一次。現場一起改四輪。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只是其中一層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≈ Model + Harness，問題不一定出在模型。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20849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0849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中段有兩段現場示範：同一個任務的三種問法，以及一支影片的四版 Prompt。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BRIEFING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怎麼用自然語言 把工作交代清楚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7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不會因為我們心裡想得很清楚，就自動通靈你的腦袋。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6328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都是中文，但都沒說清楚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06280"/>
            <a:ext cx="5181600" cy="10191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672980"/>
            <a:ext cx="47655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幫我整理這篇文章。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5596905"/>
            <a:ext cx="28575" cy="41337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5596905"/>
            <a:ext cx="549973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是摘要、分類、改寫，還是做成表格？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406280"/>
            <a:ext cx="5181600" cy="10191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6838950" y="4672980"/>
            <a:ext cx="47655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幫我做一份簡報。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53200" y="5596905"/>
            <a:ext cx="28575" cy="41337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6753225" y="5596905"/>
            <a:ext cx="549973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給教授、同學，還是不熟悉主題的人？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406280"/>
            <a:ext cx="5181600" cy="10191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2401550" y="4672980"/>
            <a:ext cx="47655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幫我分析這份資料。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115800" y="5596905"/>
            <a:ext cx="28575" cy="82674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15825" y="5596905"/>
            <a:ext cx="513702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找趨勢、算統計量，還是找出哪裡怪怪的？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6804645"/>
            <a:ext cx="12070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不會因為我們心裡想得很清楚，就自動通靈你的腦袋。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 A SPELL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79961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常見的「咒語」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4499149"/>
            <a:ext cx="7239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908599"/>
            <a:ext cx="74561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你是一位世界頂尖專家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0600" y="5232574"/>
            <a:ext cx="7239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642024"/>
            <a:ext cx="74561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請深呼吸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0600" y="5965999"/>
            <a:ext cx="7239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375449"/>
            <a:ext cx="74561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一步一步思考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" y="6108874"/>
            <a:ext cx="796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如果答得好，我會給你小費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600" y="6775624"/>
            <a:ext cx="79629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看久了會懷疑：使用 AI 是在交代工作，還是在召喚儀式？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839200" y="3140422"/>
            <a:ext cx="8711946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39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把腦中的需求，轉成 AI 可以理解、執行與驗收的工作說明。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39200" y="4793903"/>
            <a:ext cx="871194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 把 Claude 類比成新承包商：它不知道你的背景與任務，需要具體資訊。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839200" y="5975003"/>
            <a:ext cx="8458200" cy="14668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7" name="Text 15"/>
          <p:cNvSpPr/>
          <p:nvPr/>
        </p:nvSpPr>
        <p:spPr>
          <a:xfrm>
            <a:off x="9124950" y="6222653"/>
            <a:ext cx="86753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「幫我弄一下那個東西。」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24950" y="6794153"/>
            <a:ext cx="86753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F25F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等等，「那個東西」從頭到尾都沒有正式出場。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30487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FOUR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24696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Prompt，至少要回答四個問題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143896"/>
            <a:ext cx="3819525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420121"/>
            <a:ext cx="420147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90600" y="5182121"/>
            <a:ext cx="4201478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情境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90600" y="5844108"/>
            <a:ext cx="393411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現在是什麼背景？這件事為什麼要做？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53025" y="4143896"/>
            <a:ext cx="3819525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5153025" y="4420121"/>
            <a:ext cx="420147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153025" y="5182121"/>
            <a:ext cx="4201478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5153025" y="5844108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要完成什麼？動詞要具體。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15450" y="4143896"/>
            <a:ext cx="3819525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9315450" y="4420121"/>
            <a:ext cx="420147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315450" y="5182121"/>
            <a:ext cx="4201478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9315450" y="5844108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不能做什麼？怎麼判斷好壞？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477875" y="4143896"/>
            <a:ext cx="3819525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477875" y="4420121"/>
            <a:ext cx="420147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477875" y="5182121"/>
            <a:ext cx="4201478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3477875" y="5844108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結果要長成什麼樣子？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90600" y="7154689"/>
            <a:ext cx="1192987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的價值，往往不是讓模型突然變聰明，而是</a:t>
            </a:r>
            <a:pPr algn="l" indent="0" marL="0">
              <a:lnSpc>
                <a:spcPct val="117333"/>
              </a:lnSpc>
              <a:buNone/>
            </a:pPr>
            <a:r>
              <a:rPr lang="en-US" sz="2400" b="1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減少它需要自由發揮的空間</a:t>
            </a:r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16533" y="723900"/>
            <a:ext cx="382895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01 · 論文導讀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409057"/>
            <a:ext cx="67056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原本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3975795"/>
            <a:ext cx="6096000" cy="10477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42495"/>
            <a:ext cx="56692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幫我整理這篇論文。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90600" y="5271195"/>
            <a:ext cx="627888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得自己猜：讀者懂多少、哪些內容不能亂加、最後要長成什麼樣子。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6372225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372225"/>
            <a:ext cx="604075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右邊那一版沒有更華麗的詞，只是把任務邊界說清楚。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620000" y="1995487"/>
            <a:ext cx="9677400" cy="664368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7962900" y="2300288"/>
            <a:ext cx="9281922" cy="6072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背景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我是地球科學系學生，正在準備一場給同學聽的論文導讀。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同學具備基礎地質知識，但不熟悉機器學習。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任務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閱讀我提供的論文，整理研究問題、使用資料、研究方法、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主要結果與作者提出的限制。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限制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不要補充論文中沒有提到的結論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專有名詞第一次出現時，附上一句生活化解釋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無法從原文確認的內容，請標記為「原文未說明」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輸出格式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使用 Markdown，依照五個標題輸出：</a:t>
            </a:r>
            <a:endParaRPr lang="en-US" sz="1800" dirty="0"/>
          </a:p>
          <a:p>
            <a:pPr algn="l" indent="0" marL="0">
              <a:lnSpc>
                <a:spcPct val="141429"/>
              </a:lnSpc>
              <a:buNone/>
            </a:pPr>
            <a:r>
              <a:rPr lang="en-US" sz="18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研究問題 / 使用資料 / 研究方法 / 主要結果 / 研究限制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CO-STAR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8087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CO-STAR：一張交代工作的檢查表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161979"/>
            <a:ext cx="2527250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4409629"/>
            <a:ext cx="2318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00150" y="5057329"/>
            <a:ext cx="23189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00150" y="5571679"/>
            <a:ext cx="231896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什麼背景下發生？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3746450" y="4161979"/>
            <a:ext cx="2527325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3956000" y="4409629"/>
            <a:ext cx="23190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956000" y="5057329"/>
            <a:ext cx="23190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Objective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56000" y="5571679"/>
            <a:ext cx="23190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要完成什麼任務？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502375" y="4161979"/>
            <a:ext cx="2527325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6711925" y="4409629"/>
            <a:ext cx="23190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711925" y="5057329"/>
            <a:ext cx="23190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Style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711925" y="5571679"/>
            <a:ext cx="23190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用什麼寫作方式？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58300" y="4161979"/>
            <a:ext cx="2527250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9467850" y="4409629"/>
            <a:ext cx="23189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467850" y="5057329"/>
            <a:ext cx="23189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Tone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467850" y="5571679"/>
            <a:ext cx="231896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呈現什麼態度？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014150" y="4161979"/>
            <a:ext cx="2527325" cy="20145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3" name="Text 21"/>
          <p:cNvSpPr/>
          <p:nvPr/>
        </p:nvSpPr>
        <p:spPr>
          <a:xfrm>
            <a:off x="12223700" y="4409629"/>
            <a:ext cx="23190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223700" y="5057329"/>
            <a:ext cx="23190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Audience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223700" y="5571679"/>
            <a:ext cx="23190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寫給誰看？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4770075" y="4161979"/>
            <a:ext cx="2527325" cy="20145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7" name="Text 25"/>
          <p:cNvSpPr/>
          <p:nvPr/>
        </p:nvSpPr>
        <p:spPr>
          <a:xfrm>
            <a:off x="14979625" y="4409629"/>
            <a:ext cx="23190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14979625" y="5057329"/>
            <a:ext cx="23190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Response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979625" y="5571679"/>
            <a:ext cx="23190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75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最後怎麼輸出？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90600" y="6595616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它不能保證滿分答案，卻能提醒我們是否漏講條件。像旅行前的清單：去便利商店不用檢查護照；出國一個月時，最好也別只記得帶充電線。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2" name="Text 3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16533" y="723900"/>
            <a:ext cx="382895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02 · 通識文章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014737"/>
            <a:ext cx="58674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原本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3562424"/>
            <a:ext cx="5334000" cy="14668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810074"/>
            <a:ext cx="492252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幫我寫一篇介紹生成式 AI 的文章。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90600" y="5257874"/>
            <a:ext cx="549402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很可能拿到一篇「生成式 AI 正在改變世界」開頭、「未來值得期待」結尾的標準作文。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6339855"/>
            <a:ext cx="28575" cy="1280071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339855"/>
            <a:ext cx="525589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最容易漏掉的是 Audience。沒有受眾，AI 只能自己挑讀者；運氣不好時，它可能直接寫給另一個 AI 看。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19900" y="1526679"/>
            <a:ext cx="10477500" cy="758130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7143750" y="1812429"/>
            <a:ext cx="10144125" cy="70479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Context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替大學通識課程撰寫生成式 AI 入門文章。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讀者用過 ChatGPT，但沒有程式或機器學習背景。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Objective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用生活化方式解釋它如何根據輸入產生文字，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並說明適合與不適合處理的任務。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Style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科普寫法：先用生活類比，再補正式名詞。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Tone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親切、清楚，少量幽默，不要浮誇宣傳語氣。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Audience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18–22 歲大學生，有興趣但尚未系統性學習。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Response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Markdown，1,200 字以內，包含：</a:t>
            </a:r>
            <a:endParaRPr lang="en-US" sz="1725" dirty="0"/>
          </a:p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開場 / 基本原理 / 三個適用情境 / 三個限制 / 反思問題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089449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同一份會議紀錄，三種問法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099099"/>
            <a:ext cx="5206975" cy="28575"/>
          </a:xfrm>
          <a:prstGeom prst="rect">
            <a:avLst/>
          </a:prstGeom>
          <a:solidFill>
            <a:srgbClr val="8A8378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56274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· 只有任務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4827761"/>
            <a:ext cx="57276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「幫我整理這份會議紀錄。」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" y="5423074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觀察：長度、詳略、格式都由它決定。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0475" y="4099099"/>
            <a:ext cx="520697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1" name="Text 9"/>
          <p:cNvSpPr/>
          <p:nvPr/>
        </p:nvSpPr>
        <p:spPr>
          <a:xfrm>
            <a:off x="6540475" y="4356274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 · 加上交付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0475" y="4827761"/>
            <a:ext cx="536318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「整理成五點摘要，每點一句，繁體中文。」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40475" y="5865986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觀察：形狀固定了，但內容取捨仍是它決定的。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90350" y="4099099"/>
            <a:ext cx="520705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090350" y="4356274"/>
            <a:ext cx="5727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 · 加上受眾與限制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90350" y="4827761"/>
            <a:ext cx="5363261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「整理成五點摘要給沒出席的主管，只寫決議與待辦，標出負責人，沒講到的寫『未指定』。」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90350" y="6308899"/>
            <a:ext cx="572775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觀察：它開始知道什麼該丟掉。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" y="7035626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035626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現場請聽眾先猜：加哪一句，輸出的差異最大？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MUCH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52412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不是每件事都要填完整張表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667125"/>
            <a:ext cx="5206975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924300"/>
            <a:ext cx="572767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簡單、低風險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4548188"/>
            <a:ext cx="5206975" cy="124584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757738"/>
            <a:ext cx="4867884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請把下面的會議紀錄整理成五點摘要，使用繁體中文。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0600" y="5965478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交代任務與輸出就夠了。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40475" y="3667125"/>
            <a:ext cx="5206975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475" y="3924300"/>
            <a:ext cx="572767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有特定讀者或風格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540475" y="4548188"/>
            <a:ext cx="5206975" cy="165921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4" name="Text 12"/>
          <p:cNvSpPr/>
          <p:nvPr/>
        </p:nvSpPr>
        <p:spPr>
          <a:xfrm>
            <a:off x="6788125" y="4757738"/>
            <a:ext cx="4867884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改寫成 LinkedIn 貼文。讀者是對 AI 有興趣、沒有技術背景的職場工作者。語氣專業但不像新聞稿，500 字內。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40475" y="6378848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補上受眾、用途與語氣。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90350" y="3667125"/>
            <a:ext cx="520705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0350" y="3924300"/>
            <a:ext cx="572775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複雜、會重複、要交接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2090350" y="4548188"/>
            <a:ext cx="5207050" cy="124584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12338000" y="4757738"/>
            <a:ext cx="4867961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CO-STAR 或其他結構化框架，把條件整個攤開。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090350" y="5965478"/>
            <a:ext cx="5363261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要學的不是每次都寫 CO-STAR，而是知道何時該補哪些資訊。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90600" y="7143676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2" name="Text 20"/>
          <p:cNvSpPr/>
          <p:nvPr/>
        </p:nvSpPr>
        <p:spPr>
          <a:xfrm>
            <a:off x="1247775" y="7143676"/>
            <a:ext cx="1653882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Style 是文章怎麼寫（科普、新聞稿、操作手冊）；Tone 是給人的感覺（正式、親切、謹慎）。一篇文章可以是科普風格，同時保持親切語氣。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964531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最容易漏掉的是 Response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107531"/>
            <a:ext cx="1341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同一批論文，接下來要做什麼，決定了它該長什麼樣子。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0600" y="4493419"/>
            <a:ext cx="8958411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4040981"/>
            <a:ext cx="92271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06211" y="4493419"/>
            <a:ext cx="6891189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10406211" y="4040981"/>
            <a:ext cx="709792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要什麼交付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0600" y="5322094"/>
            <a:ext cx="8958411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4702969"/>
            <a:ext cx="92271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自己閱讀、之後還要改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06211" y="5322094"/>
            <a:ext cx="689118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06211" y="4702969"/>
            <a:ext cx="709792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Markdown 摘要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" y="6141244"/>
            <a:ext cx="8958411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5522119"/>
            <a:ext cx="92271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比較不同方法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06211" y="6141244"/>
            <a:ext cx="689118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06211" y="5522119"/>
            <a:ext cx="709792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表格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6960394"/>
            <a:ext cx="8958411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6341269"/>
            <a:ext cx="92271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交給程式處理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06211" y="6960394"/>
            <a:ext cx="689118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06211" y="6341269"/>
            <a:ext cx="709792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JSON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0600" y="7160419"/>
            <a:ext cx="922716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上台報告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406211" y="7160419"/>
            <a:ext cx="709792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簡報大綱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" y="816054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47775" y="816054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交代工作前，多問一句：這份結果下一步要拿來做什麼？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83183" y="723900"/>
            <a:ext cx="463563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 03 · 讓 AI 先提問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38016"/>
            <a:ext cx="7495413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不知道怎麼寫，就先把需求說給 AI 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519166"/>
            <a:ext cx="74954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先用自然語言講清楚想法，再請 AI 收斂成一個好的 Prompt，帶到新對話貼上執行——通常比一開始硬湊模板有效。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6138416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6138416"/>
            <a:ext cx="725728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AI 先提問，可能會發現：聽眾知道什麼？要不要批判論文限制？要大綱還是完整講稿？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0600" y="7239446"/>
            <a:ext cx="80048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不只可以回答問題，也可以協助把問題問完整。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801100" y="2381250"/>
            <a:ext cx="8496300" cy="58721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686050"/>
            <a:ext cx="8065389" cy="53006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我想請 AI 完成下面的工作，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但還不知道如何寫成清楚的 Prompt。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請先不要執行任務，先完成以下工作：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找出我缺少哪些必要資訊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最多詢問我五個問題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根據我的回答，用 CO-STAR 整理成 Prompt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 將最終 Prompt 放在程式碼區塊中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我的初步需求是：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我要把一篇研究論文整理成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給大學生聽的十分鐘簡報。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309366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換上制服，不會自動增加專業知識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452366"/>
            <a:ext cx="75619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只有帽子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3961954"/>
            <a:ext cx="6874520" cy="9525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209604"/>
            <a:ext cx="65092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你是一位專業資料科學家。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600" y="5104954"/>
            <a:ext cx="708075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角色能幫模型選擇比較適合的詞彙與觀點，但不會替它增加最新知識。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60420" y="3452366"/>
            <a:ext cx="983067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帽子 + 可檢查的規則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60420" y="3961954"/>
            <a:ext cx="8936980" cy="29241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8646170" y="4209604"/>
            <a:ext cx="8633589" cy="2466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你是一位協助大學生閱讀研究論文的教學助理。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請辨認研究問題、資料、方法、主要結果與限制。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如果原文沒有提供資訊，不要自行補充。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專有名詞第一次出現時，附上一句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一般學生能理解的解釋。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90600" y="7267129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真正有用的不是「教學助理」這頂帽子，而是後面可執行、可檢查的規則。制服可以幫助進入角色，但不能代替職前訓練。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LIMITS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4320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一個好的 Prompt，不等於一定有正確答案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88620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388620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誤解資料或忽略部分限制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91650" y="388620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9629775" y="388620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補出不存在的內容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600" y="4524375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4524375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使用過時資訊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91650" y="4524375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29775" y="4524375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產生看似合理的錯誤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516255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28725" y="516255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格式正確，但內容不正確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90600" y="5972175"/>
            <a:ext cx="1200835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Prompt 想成工作單：寫得好，師傅比較不容易跑錯地方；但完工後，屋主還是要驗收。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90600" y="738187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47775" y="738187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不能因為地址與油漆色號都寫得漂亮，就假設牆面沒有漏刷。高風險領域中，清楚的 Prompt 只是起點，不是最後簽核。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3309" y="723900"/>
            <a:ext cx="22155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練習 · 5 分鐘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70436"/>
            <a:ext cx="930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換你把這句話交代清楚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303886"/>
            <a:ext cx="8458200" cy="10858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589636"/>
            <a:ext cx="806424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「幫我看一下這份報告。」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90600" y="5656436"/>
            <a:ext cx="871194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兩分鐘，把它改寫成一段你自己會用的 Prompt。不必寫滿六格，只補你覺得缺的那幾格。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6837536"/>
            <a:ext cx="28575" cy="4266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837536"/>
            <a:ext cx="906589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改完後互相看一眼：你補了哪一格？對方補的和你一樣嗎？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0" y="3224213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先問自己這四題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0" y="3752850"/>
            <a:ext cx="3524250" cy="1733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0325100" y="400050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「看一下」是什麼？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325100" y="4495800"/>
            <a:ext cx="30805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9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校對錯字、挑邏輯漏洞、還是給修改建議？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773150" y="3752850"/>
            <a:ext cx="3524250" cy="1733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4039850" y="400050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誰要用這個結果？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4039850" y="4495800"/>
            <a:ext cx="30805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9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你自己、指導教授，還是要交出去的客戶？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058400" y="5676900"/>
            <a:ext cx="3524250" cy="1733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10325100" y="592455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哪些不能動？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325100" y="6419850"/>
            <a:ext cx="30805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9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數據不能改？結論不能自行補充？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773150" y="5676900"/>
            <a:ext cx="3524250" cy="17335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2" name="Text 20"/>
          <p:cNvSpPr/>
          <p:nvPr/>
        </p:nvSpPr>
        <p:spPr>
          <a:xfrm>
            <a:off x="14039850" y="592455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要交回什麼？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039850" y="6419850"/>
            <a:ext cx="30805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849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條列問題清單、改好的全文，還是一張對照表？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好的 Prompt 是改出來的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我說的「合理」，和模型認為的「合理」，不一定是同一個合理。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99890" y="723900"/>
            <a:ext cx="36272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 · 影片生成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3123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同一個畫面，四版 Prompt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202781"/>
            <a:ext cx="16306800" cy="1114425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617119"/>
            <a:ext cx="685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114550" y="3545681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一個人漫步在校園裡，後來出現一隻怪物。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92200" y="3412331"/>
            <a:ext cx="333565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模型對這句話有自己非常獨特的見解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90600" y="4488656"/>
            <a:ext cx="16306800" cy="847725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4769644"/>
            <a:ext cx="685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114550" y="4698206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F25F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用第一人稱視角，</a:t>
            </a:r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一個人漫步在校園裡，後來出現一隻怪物。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792200" y="4738688"/>
            <a:ext cx="35623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視角對了，但結尾還是歪樓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600" y="5507831"/>
            <a:ext cx="16306800" cy="1114425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5922169"/>
            <a:ext cx="685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114550" y="5850731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用第一人稱視角，一個人漫步在校園裡，突然出現一隻怪物，</a:t>
            </a:r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F25F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要有驚悚的感覺！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792200" y="5717381"/>
            <a:ext cx="333565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音樂有氛圍了，畫面停在奇妙的拐點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" y="6793706"/>
            <a:ext cx="16306800" cy="8477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7074694"/>
            <a:ext cx="685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114550" y="7003256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用第一人稱視角，一個人漫步在校園裡，突然出現一隻怪物，</a:t>
            </a:r>
            <a:pPr algn="l" indent="0" marL="0">
              <a:lnSpc>
                <a:spcPct val="107143"/>
              </a:lnSpc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音樂和畫面</a:t>
            </a:r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要有驚悚的感覺！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792200" y="7043738"/>
            <a:ext cx="35623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4D9C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逐漸趨近一開始心中的畫面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90600" y="7946231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23" name="Text 21"/>
          <p:cNvSpPr/>
          <p:nvPr/>
        </p:nvSpPr>
        <p:spPr>
          <a:xfrm>
            <a:off x="1247775" y="7946231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現場播放四個版本。每播一版，先問聽眾：你覺得哪裡不對？下一句要補什麼？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FIG.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04420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 Prompt 迭代的流程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263405"/>
            <a:ext cx="2463775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0150" y="4530105"/>
            <a:ext cx="2249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0150" y="4892055"/>
            <a:ext cx="2249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第一版 Prompt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416275" y="4263405"/>
            <a:ext cx="3810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759175" y="4263405"/>
            <a:ext cx="2463850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8725" y="4530105"/>
            <a:ext cx="2249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68725" y="4892055"/>
            <a:ext cx="2249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輸出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184925" y="4263405"/>
            <a:ext cx="3810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27825" y="4263405"/>
            <a:ext cx="2463775" cy="1295400"/>
          </a:xfrm>
          <a:prstGeom prst="rect">
            <a:avLst/>
          </a:prstGeom>
          <a:solidFill>
            <a:srgbClr val="C4442B"/>
          </a:solidFill>
          <a:ln w="19050">
            <a:solidFill>
              <a:srgbClr val="C44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7375" y="4530105"/>
            <a:ext cx="2249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7375" y="4892055"/>
            <a:ext cx="2249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觀察結果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953500" y="4263405"/>
            <a:ext cx="3810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296400" y="4263405"/>
            <a:ext cx="2463850" cy="1295400"/>
          </a:xfrm>
          <a:prstGeom prst="rect">
            <a:avLst/>
          </a:prstGeom>
          <a:solidFill>
            <a:srgbClr val="C4442B"/>
          </a:solidFill>
          <a:ln w="19050">
            <a:solidFill>
              <a:srgbClr val="C444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5950" y="4530105"/>
            <a:ext cx="2249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5950" y="4892055"/>
            <a:ext cx="2249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找出落差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722150" y="4263405"/>
            <a:ext cx="3810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2065050" y="4263405"/>
            <a:ext cx="2463775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74600" y="4530105"/>
            <a:ext cx="2249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74600" y="4892055"/>
            <a:ext cx="2249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修改 Prompt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490725" y="4263405"/>
            <a:ext cx="381000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14833625" y="4263405"/>
            <a:ext cx="2463775" cy="1295400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43175" y="4530105"/>
            <a:ext cx="2249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43175" y="4892055"/>
            <a:ext cx="2249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再次比較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90600" y="6016005"/>
            <a:ext cx="138303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真正困難的不是這個流程，而是：你看不看得出來哪裡需要改？</a:t>
            </a:r>
            <a:endParaRPr lang="en-US" sz="3300" dirty="0"/>
          </a:p>
        </p:txBody>
      </p:sp>
      <p:sp>
        <p:nvSpPr>
          <p:cNvPr id="30" name="Shape 28"/>
          <p:cNvSpPr/>
          <p:nvPr/>
        </p:nvSpPr>
        <p:spPr>
          <a:xfrm>
            <a:off x="990600" y="708087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1" name="Text 29"/>
          <p:cNvSpPr/>
          <p:nvPr/>
        </p:nvSpPr>
        <p:spPr>
          <a:xfrm>
            <a:off x="1247775" y="708087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 Prompt Engineering 的核心能力，不只是會寫 Prompt，更是</a:t>
            </a:r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會驗收</a:t>
            </a:r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474380" y="723900"/>
            <a:ext cx="8992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診斷表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030909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看到這個結果，該補哪一格？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473946"/>
            <a:ext cx="50292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040559"/>
            <a:ext cx="518007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你觀察到的落差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3473946"/>
            <a:ext cx="6400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3040559"/>
            <a:ext cx="659282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下一句補什麼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182600" y="3473946"/>
            <a:ext cx="4114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3182600" y="3040559"/>
            <a:ext cx="423824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補的是哪一格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4203502"/>
            <a:ext cx="50292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3654921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寫得很漂亮，但太淺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6400800" y="4203502"/>
            <a:ext cx="6400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654921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說明讀者是誰、已經知道什麼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182600" y="4203502"/>
            <a:ext cx="4114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3182600" y="3654921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Audience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4923532"/>
            <a:ext cx="50292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374952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內容對，但形狀不對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6400800" y="4923532"/>
            <a:ext cx="6400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74952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指定字數、段落數、表格或欄位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182600" y="4923532"/>
            <a:ext cx="4114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3182600" y="4374952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Response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5643563"/>
            <a:ext cx="50292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094982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多了原文沒有的東西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6400800" y="5643563"/>
            <a:ext cx="6400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094982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不得補充；無法確認就標「原文未說明」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182600" y="5643563"/>
            <a:ext cx="4114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3182600" y="5094982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90600" y="6363593"/>
            <a:ext cx="50292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5815013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語氣太硬或太浮誇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6400800" y="6363593"/>
            <a:ext cx="6400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5815013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描述可執行特徵：短句、生活化比喻、少形容詞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3182600" y="6363593"/>
            <a:ext cx="4114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13182600" y="5815013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Style / Tone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90600" y="7083623"/>
            <a:ext cx="50292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6535043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重點抓錯、方向偏了</a:t>
            </a:r>
            <a:endParaRPr lang="en-US" sz="2175" dirty="0"/>
          </a:p>
        </p:txBody>
      </p:sp>
      <p:sp>
        <p:nvSpPr>
          <p:cNvPr id="38" name="Shape 36"/>
          <p:cNvSpPr/>
          <p:nvPr/>
        </p:nvSpPr>
        <p:spPr>
          <a:xfrm>
            <a:off x="6400800" y="7083623"/>
            <a:ext cx="6400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6535043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說明這份東西下一步要拿去做什麼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3182600" y="7083623"/>
            <a:ext cx="4114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1" name="Text 39"/>
          <p:cNvSpPr/>
          <p:nvPr/>
        </p:nvSpPr>
        <p:spPr>
          <a:xfrm>
            <a:off x="13182600" y="6535043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90600" y="7255073"/>
            <a:ext cx="518007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每次結果都不一樣</a:t>
            </a:r>
            <a:endParaRPr lang="en-US" sz="2175" dirty="0"/>
          </a:p>
        </p:txBody>
      </p:sp>
      <p:sp>
        <p:nvSpPr>
          <p:cNvPr id="43" name="Text 41"/>
          <p:cNvSpPr/>
          <p:nvPr/>
        </p:nvSpPr>
        <p:spPr>
          <a:xfrm>
            <a:off x="6400800" y="7255073"/>
            <a:ext cx="659282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03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給一個範例，讓它照著同一個形狀做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3182600" y="7255073"/>
            <a:ext cx="423824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範例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90600" y="814655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46" name="Text 44"/>
          <p:cNvSpPr/>
          <p:nvPr/>
        </p:nvSpPr>
        <p:spPr>
          <a:xfrm>
            <a:off x="1247775" y="814655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一次只改一格，才知道是哪一句真的有用——同時改五個地方，等於做了一個沒有對照組的實驗。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8" name="Text 4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MOVING 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727177"/>
            <a:ext cx="930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人的工作開始往上移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679677"/>
            <a:ext cx="8711946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以前要自己畫圖、自己寫程式、自己做簡報。現在 AI 可以協助完成很多執行工作，但人開始需要負責另一層。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" y="5940698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5940698"/>
            <a:ext cx="847382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有些工作確實降低了技術門檻，但</a:t>
            </a:r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驗收門檻不一定跟著消失 </a:t>
            </a:r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——有時因為 AI 做得太像真的，驗收反而更重要。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058400" y="3771900"/>
            <a:ext cx="3524250" cy="8858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0306050" y="4000500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定義問題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3773150" y="3771900"/>
            <a:ext cx="3524250" cy="8858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14020800" y="4000500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描述需求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058400" y="4848225"/>
            <a:ext cx="3524250" cy="8858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4" name="Text 12"/>
          <p:cNvSpPr/>
          <p:nvPr/>
        </p:nvSpPr>
        <p:spPr>
          <a:xfrm>
            <a:off x="10306050" y="5076825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判斷成果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3773150" y="4848225"/>
            <a:ext cx="3524250" cy="8858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4020800" y="5076825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發現偏差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058400" y="5924550"/>
            <a:ext cx="3524250" cy="8858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8" name="Text 16"/>
          <p:cNvSpPr/>
          <p:nvPr/>
        </p:nvSpPr>
        <p:spPr>
          <a:xfrm>
            <a:off x="10306050" y="6153150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提供回饋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73150" y="5924550"/>
            <a:ext cx="3524250" cy="88582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0" name="Text 18"/>
          <p:cNvSpPr/>
          <p:nvPr/>
        </p:nvSpPr>
        <p:spPr>
          <a:xfrm>
            <a:off x="14020800" y="6153150"/>
            <a:ext cx="31346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決定下一輪怎麼改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DEFINE “GOOD”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39844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你要先知道「好」長什麼樣子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727177"/>
            <a:ext cx="7600950" cy="1057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012927"/>
            <a:ext cx="71812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「幫我把這張簡報做得更好。」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934450" y="4012927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696450" y="3541440"/>
            <a:ext cx="7600950" cy="14287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0020300" y="3827190"/>
            <a:ext cx="718127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字比較大、顏色比較漂亮、圖片換掉了。到底有沒有變好？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90600" y="5351190"/>
            <a:ext cx="1290828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不知道。因為「好」沒有被定義。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90600" y="633985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 AI 產生的東西超過你的能力範圍，或許就是延伸學習其他領域的時候：什麼叫好的投影片？什麼是好的程式？唯有跟著 AI 一起成長，才有機會慢慢駕馭它的產出。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772663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775" y="772663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「人機互動」的過程，其實更像「人機一起成長」的過程。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ITERATION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730972"/>
            <a:ext cx="930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如何把腦袋裡的流程搬出來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664422"/>
            <a:ext cx="8711946" cy="150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人累積了大量經驗，有時不必說清楚，別人就知道怎麼操作——就像那支「做一片果醬吐司」的影片。但跟 AI 對話，需要把流程拆得更細一點。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" y="6394028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6394028"/>
            <a:ext cx="8473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用寫程式的思維與 AI 對話，往往容易得到比較好的結果。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58400" y="3032820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從哪裡開始導入？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0" y="3580507"/>
            <a:ext cx="2298650" cy="857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0248900" y="3809107"/>
            <a:ext cx="2109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高頻率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528500" y="3580507"/>
            <a:ext cx="2298725" cy="857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19000" y="3809107"/>
            <a:ext cx="210949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高重複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998675" y="3580507"/>
            <a:ext cx="2298650" cy="8572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5189175" y="3809107"/>
            <a:ext cx="2109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低決策風險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058400" y="4666357"/>
            <a:ext cx="7239000" cy="18621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363200" y="4933057"/>
            <a:ext cx="684657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highlight>
                  <a:srgbClr val="14151A"/>
                </a:highlight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「我哪知道這個要從哪邊找？」 想一下最近那個最想遞辭職單的時刻——可能是一個專案，也可能是一項任務。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058400" y="6757095"/>
            <a:ext cx="745617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迭代比較適合對話、圖像與影片生成；複雜任務牽扯一堆工具時，就很難量化出 Prompt 的作用。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HARNESS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只是 其中一層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模型像一顆引擎，外面還要接上方向盤、煞車、儀表板與安全帶。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7131" y="723900"/>
            <a:ext cx="3025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+ HARNESS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78881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可以先想成 Model + Harness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621881"/>
            <a:ext cx="7886700" cy="2686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945731"/>
            <a:ext cx="7879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4383881"/>
            <a:ext cx="78790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52550" y="5069681"/>
            <a:ext cx="73776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核心語言模型：理解、生成、判斷下一步。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3621881"/>
            <a:ext cx="7886700" cy="2686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72650" y="3945731"/>
            <a:ext cx="7879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HARNESS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72650" y="4383881"/>
            <a:ext cx="78790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方向盤、煞車、儀表板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72650" y="5069681"/>
            <a:ext cx="73776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處理輸入、協調工具呼叫、維持狀態、執行規則，再把結果接回流程。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6688931"/>
            <a:ext cx="3026271" cy="576263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9200" y="6822281"/>
            <a:ext cx="26598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Function Calling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150221" y="6688931"/>
            <a:ext cx="938957" cy="576263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8821" y="6822281"/>
            <a:ext cx="5579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MCP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222528" y="6688931"/>
            <a:ext cx="1420639" cy="576263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1128" y="6822281"/>
            <a:ext cx="10396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776517" y="6688931"/>
            <a:ext cx="3347442" cy="576263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5117" y="6822281"/>
            <a:ext cx="29906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 management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257309" y="6688931"/>
            <a:ext cx="1420639" cy="576263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5909" y="6822281"/>
            <a:ext cx="10396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Skills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764619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47775" y="764619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這是理解用的類比，不是所有研究與框架都採用的數學公式。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DEBUGGING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90875"/>
            <a:ext cx="8908161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表現不好，問題不一定出在模型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5353050"/>
            <a:ext cx="86487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91075"/>
            <a:ext cx="89081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寫得不清楚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90600" y="6076950"/>
            <a:ext cx="86487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5514975"/>
            <a:ext cx="89081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塞錯資料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600" y="6800850"/>
            <a:ext cx="86487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238875"/>
            <a:ext cx="89081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的流程設計有問題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6962775"/>
            <a:ext cx="95135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最後才是模型真的不夠強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248900" y="3770040"/>
            <a:ext cx="7048500" cy="10572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2750" y="4055790"/>
            <a:ext cx="661225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「換一顆更大的模型看看。」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48900" y="5074965"/>
            <a:ext cx="7259955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有點像車子方向盤鬆掉，處理方式卻是換一顆更大的引擎。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248900" y="6297885"/>
            <a:ext cx="77533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馬力增加了。方向盤還是鬆的。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LESS IS MORE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351782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把每條規則當成一個假設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494782"/>
            <a:ext cx="12675489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模型與工具能力會進步，某些原本必須逐條寫死的規則，之後可能變成多餘限制。與其把規範檔越疊越厚，不如：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4912072"/>
            <a:ext cx="5206975" cy="14287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97822"/>
            <a:ext cx="5057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578822"/>
            <a:ext cx="505711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先拿掉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159475" y="4912072"/>
            <a:ext cx="4191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540475" y="4912072"/>
            <a:ext cx="5207050" cy="14287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6845275" y="5197822"/>
            <a:ext cx="5057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45275" y="5578822"/>
            <a:ext cx="505719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照常使用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709425" y="4912072"/>
            <a:ext cx="4191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2090425" y="4912072"/>
            <a:ext cx="5206975" cy="14287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395225" y="5197822"/>
            <a:ext cx="5057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D9C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95225" y="5578822"/>
            <a:ext cx="505711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反覆踩到同一個坑，再補回來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90600" y="6721822"/>
            <a:ext cx="1192987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迭代的目標不是讓指令越長越好，而是找出什麼會真正改善成果。創作任務驗收鏡頭、節奏與氛圍；程式任務驗收測試與實際行為；會改變外部世界的工具，則要確認動作是否真的完成。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52750"/>
            <a:ext cx="107708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真正的系統，不是在找一個完美 Prompt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3886200"/>
            <a:ext cx="1008545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 談 Context Engineering 時也指出：Agent 的行為不只受 Prompt 影響，還包含工具、MCP、外部資料、訊息歷史，以及整個 Context 的管理方式。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5524500"/>
            <a:ext cx="9791700" cy="92392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5772150"/>
            <a:ext cx="951395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而不是每天研究：「請」改成「務必」會不會讓準確率多 3%？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6715125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715125"/>
            <a:ext cx="984732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Engineering 是很好的入口，因為它讓我們第一次思考：人要如何把意圖交給模型？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391900" y="1752600"/>
            <a:ext cx="64960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可能需要調整的幾層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391900" y="2185988"/>
            <a:ext cx="5905500" cy="6762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39550" y="2357438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391900" y="2976563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39550" y="3148013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391900" y="3767138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7" name="Text 15"/>
          <p:cNvSpPr/>
          <p:nvPr/>
        </p:nvSpPr>
        <p:spPr>
          <a:xfrm>
            <a:off x="11639550" y="3938588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391900" y="4557713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11639550" y="4729163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Memory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391900" y="5348288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1" name="Text 19"/>
          <p:cNvSpPr/>
          <p:nvPr/>
        </p:nvSpPr>
        <p:spPr>
          <a:xfrm>
            <a:off x="11639550" y="5519738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Workflow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391900" y="6138863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39550" y="6310313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Guardrails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391900" y="6929438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5" name="Text 23"/>
          <p:cNvSpPr/>
          <p:nvPr/>
        </p:nvSpPr>
        <p:spPr>
          <a:xfrm>
            <a:off x="11639550" y="7100888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Evaluation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1391900" y="7720013"/>
            <a:ext cx="5905500" cy="6762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7" name="Text 25"/>
          <p:cNvSpPr/>
          <p:nvPr/>
        </p:nvSpPr>
        <p:spPr>
          <a:xfrm>
            <a:off x="11639550" y="7891463"/>
            <a:ext cx="55873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1391900" y="8510588"/>
            <a:ext cx="64960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不是每個 Agent 都必須全部具備。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827958"/>
            <a:ext cx="1793748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迭代不是「AI 沒做好，所以我再叫它一次」。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039493"/>
            <a:ext cx="11929872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42"/>
              </a:lnSpc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而是：我觀察它做了什麼，找出和目標的差距，再把自己的需求說得更清楚。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0600" y="5544443"/>
            <a:ext cx="3581400" cy="133350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5792093"/>
            <a:ext cx="33108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6350" y="6154043"/>
            <a:ext cx="33108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33900" y="5544443"/>
            <a:ext cx="4191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914900" y="5544443"/>
            <a:ext cx="3581400" cy="133350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2" name="Text 10"/>
          <p:cNvSpPr/>
          <p:nvPr/>
        </p:nvSpPr>
        <p:spPr>
          <a:xfrm>
            <a:off x="5200650" y="5792093"/>
            <a:ext cx="33108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REFLECT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00650" y="6154043"/>
            <a:ext cx="33108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反思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458200" y="5544443"/>
            <a:ext cx="4191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839200" y="5544443"/>
            <a:ext cx="3581400" cy="133350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6" name="Text 14"/>
          <p:cNvSpPr/>
          <p:nvPr/>
        </p:nvSpPr>
        <p:spPr>
          <a:xfrm>
            <a:off x="9124950" y="5792093"/>
            <a:ext cx="33108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24950" y="6154043"/>
            <a:ext cx="33108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迭代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90600" y="7297043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9704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真正讓成果變好的，往往不是某一句傳說中的神 Prompt，而是使用者有沒有能力看見差距。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20342"/>
            <a:ext cx="9220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交代工作前，先問自己六件事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4010992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487117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我究竟想完成什麼？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4677742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153867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為什麼要做這件事？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5344492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820617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結果要給誰看？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6011242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5487367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哪些內容不能出錯？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6677992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6154117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我準備如何判斷成果好不好？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90600" y="6820867"/>
            <a:ext cx="9220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這份結果下一步要拿去做什麼？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7468567"/>
            <a:ext cx="28575" cy="4266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28725" y="7468567"/>
            <a:ext cx="89820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當需求沒有說清楚時，對方只能猜。AI 只是誠實地把這件事放大。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82200" y="2376488"/>
            <a:ext cx="7315200" cy="57626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0" name="Text 18"/>
          <p:cNvSpPr/>
          <p:nvPr/>
        </p:nvSpPr>
        <p:spPr>
          <a:xfrm>
            <a:off x="10306050" y="2662238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06050" y="3052763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Teo, S. (2023).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Won Singapore's GPT-4 Prompt Engineering Competition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06050" y="387191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Prompt Design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06050" y="434340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generator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improver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(2024)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06050" y="4814888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Demystifying evals for AI agents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306050" y="5286375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context engineering for AI agents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06050" y="575786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evolution of the Agents SDK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06050" y="622935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guide to building agents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306050" y="6700838"/>
            <a:ext cx="68675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數位時代（2026）。Claude Code、Prompt 縮減與 Agent 驗證（Boris Cherny 經驗轉述）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06050" y="7510462"/>
            <a:ext cx="7334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練習：day08_practice.ipynb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065079" y="953928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2026-08-11T07:22:06Z</dcterms:created>
  <dcterms:modified xsi:type="dcterms:W3CDTF">2026-08-11T07:22:06Z</dcterms:modified>
</cp:coreProperties>
</file>